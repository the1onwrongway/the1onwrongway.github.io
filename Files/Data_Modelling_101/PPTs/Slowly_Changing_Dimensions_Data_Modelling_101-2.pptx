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diving into a crucial aspect of data warehousing: Slowly Changing Dimensions, or SCDs. This isn't just about theory; it's about building robust systems that accurately reflect business reality over time. We'll explore how to manage historical data effectively, ensuring your analytics remain trustworthy. This session builds on the foundational star schema concepts we discussed previously. Now, let's explore why dimensions aren't as static as they seem.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we built star schemas, treating dimensions as fixed. But in the real world, dimensions aren't static. Customers move, products change categories, and employees get promoted. If we don't account for these changes, our historical reporting can become silently corrupted. This silent corruption means past sales might suddenly appear in a new region, without any error message. So, how do we prevent this analytical nightmare? Let's look at a concrete example of what happens when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Rahul. He lives in Mumbai in January and makes a purchase. If he moves to Bangalore in June and we simply update his city in our dimension table, his January purchase now retroactively appears to have come from Bangalore. This is a huge problem for historical analysis. Your regional sales reports for January are now wrong, and you might not even realize it. This is why a naive update breaks historical reporting. We need a deliberate strategy for handling these changes. And that's where our three main approaches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dimension attribute changes, we have three primary ways to handle it, and the choice is a business decision, not a technical one. We can retain the original value, overwrite it, or add a new row to preserve history. Each method has implications for how you answer questions about 'what is true now' versus 'what was true then.' The type you choose directly impacts the integrity of your historical data. Let's start with the simplest, and often overlooked, approach: Type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SCD Type 0 is for values that should never change once recorded. Think of it as locking in an attribute at the moment of creation. Even if the source system sends an update, your data warehouse ignores it. This is crucial for attributes like a customer's original signup date or their first-touch acquisition channel. These values define the start of a relationship and should remain constant for consistent historical analysis. Next, we'll explore Type 1, which takes a very different approach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talked about Type 0, where values never change. Now, let's look at Type 1, where we update data in place. This approach is simple: when a change occurs, we overwrite the old value with the new one. This is perfect for minor corrections, like fixing a typo in a customer's name, or for attributes that hold no analytical value, such as an email address. The big advantage here is simplicity and smaller table sizes. But remember, the trade-off is that you lose all historical context. If you overwrite a customer's region, all past sales for that customer will now appear to have happened in the new region. This can silently re-map your historical facts, so never use Type 1 for attributes critical to trend analysis. Next, we'll explore how to preserve that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2 is the gold standard for preserving history in your data warehouse. When an attribute changes, we don't update the existing row. Instead, we insert a brand new row with the updated information. We then mark the old row as no longer current and the new row as the active one. This ensures that your fact tables always join to the exact version of the dimension that was true at the time of the transaction. This approach uses a surrogate key to uniquely identify each version of a record, while the natural key links all versions of the same entity together. This way, you can accurately analyze 'what was true then' versus 'what is true now.' Let's compare this to the other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our discussion on Type 2, which captures full history, Type 3 offers a lighter touch. This method tracks only the previous value of an attribute, not a full historical timeline. When a change occurs, the current value moves to a 'previous value' column, and the new value takes its place. This is useful for specific scenarios, like tracking a customer's immediate prior sales region for a one-time comparison. However, it only remembers one step back; any further changes overwrite that 'previous' value. So, if you need more than a single historical comparison, Type 3 won't suffice. Next, we'll compare all these SCD types to help you choose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covered Type 0, Type 1, Type 2, and now Type 3. The key is choosing the right type based on your business needs. Type 0 is for truly immutable data, like a product's creation date. Type 1 is for corrections or non-analytical attributes where losing history is acceptable. Type 2, our gold standard, is for attributes where you need to track every historical change. And Type 3 is for those rare cases where you only need to know the immediate prior value. Notice how Type 2 is the only one that grows your row count over time, because it's preserving every version. There's no single 'best' type; it's about understanding the business requirement for each attribute. Before we can apply any of these changes, though, we first need to detect that a change has actually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apply any SCD logic, you first need to know if something has actually changed. The most efficient way to do this, especially with many attributes, is using a hash-based change detection strategy. Instead of comparing 15 or 20 individual columns, we create a single hash value from all the relevant attributes. If the new hash value doesn't match the old one, we know a change has occurred. This is much faster and less error-prone than manual column-by-column comparisons. Remember to only hash the business attributes you care about for change detection, not audit columns or keys. This simple technique sets the stage for applying our SCD logic. Now, let's look at how to apply a Type 2 change,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detect a change, applying a Type 2 SCD is always a two-step process. You must close the old row and insert the new one. These two operations are critical and must happen within a single, atomic transaction. If you close the old row but fail to insert the new one, you create a data gap. This means a customer effectively disappears from your current view, breaking all future joins and analyses. This atomicity is non-negotiable for data integrity. Next, we'll see how PySpark simplifies this two-step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PySpark's MERGE statement simplifies Type 2 SCDs. It combines the two separate operations we just discussed into a single, atomic transaction. This means you avoid partial failures. You're either closing the old row and inserting the new one completely, or neither happens. This is crucial for data integrity and performance in big data environments. It's a declarative way to manage complex changes. But remember, while MERGE handles the close, you still need to manage the new row insertion. Next, let's look at common mistakes people make with SCDs.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 powerful tools, SCDs can go wrong. A big mistake is using the natural key as the primary key. This immediately breaks Type 2, because you need multiple rows for the same customer. Always use surrogate keys. Another common error is forgetting to close old rows. This leaves you with multiple 'current' versions, leading to incorrect reports. Also, don't hash audit columns like load timestamps. This triggers false positives. Finally, don't apply Type 2 to every column. Over-tracking history bloats your dimensions. These mistakes often stem from shortcuts. So, how do we avoid them? Let's look at five rules to master SCDs.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truly master SCDs, follow these five rules. First, always detect changes before applying them. Don't update a row if nothing has actually changed. Second, ensure your close and insert operations are atomic. They must happen together or not at all. Third, surrogate keys are essential. They distinguish between the entity and its different versions. Fourth, match the SCD type to your business needs. Don't over-engineer. Finally, MERGE is a powerful tool, but it's not a shortcut for good design. You still need to understand the underlying logic. Adhering to these rules prevents costly data quality issues. Now, let's talk about how you can continue to advance your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the beginning of your journey with Kimball's methodology. I highly recommend reading Chapter 5 of 'The Data Warehouse Toolkit' for a deeper dive into Slowly Changing Dimensions. A great practice exercise is to take a dimension you've already designed and apply Type 2 changes to it. This will solidify your understanding. We've only scratched the surface today. There's much more to explore, like conformed dimensions and bus architecture. Thank you for your time. Go forth and build robust data warehouses.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914400"/>
            <a:ext cx="8572500" cy="175022"/>
          </a:xfrm>
          <a:prstGeom prst="rect">
            <a:avLst/>
          </a:prstGeom>
          <a:noFill/>
          <a:ln/>
        </p:spPr>
        <p:txBody>
          <a:bodyPr wrap="square" lIns="0" tIns="0" rIns="0" bIns="0" rtlCol="0" anchor="t">
            <a:spAutoFit/>
          </a:bodyPr>
          <a:lstStyle/>
          <a:p>
            <a:pPr algn="l" indent="0" marL="0">
              <a:buNone/>
            </a:pPr>
            <a:r>
              <a:rPr lang="en-US" sz="1000" b="1" spc="3" kern="0" dirty="0">
                <a:solidFill>
                  <a:srgbClr val="059669"/>
                </a:solidFill>
                <a:latin typeface="Inter SemiBold" pitchFamily="34" charset="0"/>
                <a:ea typeface="Inter SemiBold" pitchFamily="34" charset="-122"/>
                <a:cs typeface="Inter SemiBold" pitchFamily="34" charset="-120"/>
              </a:rPr>
              <a:t>DATA MODELLING 101 (2)</a:t>
            </a:r>
            <a:endParaRPr lang="en-US" sz="1000" dirty="0"/>
          </a:p>
        </p:txBody>
      </p:sp>
      <p:sp>
        <p:nvSpPr>
          <p:cNvPr id="5" name="Text 1"/>
          <p:cNvSpPr/>
          <p:nvPr/>
        </p:nvSpPr>
        <p:spPr>
          <a:xfrm>
            <a:off x="571500" y="1491425"/>
            <a:ext cx="8572500" cy="1320143"/>
          </a:xfrm>
          <a:prstGeom prst="rect">
            <a:avLst/>
          </a:prstGeom>
          <a:noFill/>
          <a:ln/>
        </p:spPr>
        <p:txBody>
          <a:bodyPr wrap="square" lIns="0" tIns="0" rIns="0" bIns="0" rtlCol="0" anchor="t">
            <a:spAutoFit/>
          </a:bodyPr>
          <a:lstStyle/>
          <a:p>
            <a:pPr algn="l" indent="0" marL="0">
              <a:lnSpc>
                <a:spcPct val="88000"/>
              </a:lnSpc>
              <a:buNone/>
            </a:pPr>
            <a:r>
              <a:rPr lang="en-US" sz="4350" b="1" dirty="0">
                <a:solidFill>
                  <a:srgbClr val="F8FAFC"/>
                </a:solidFill>
                <a:latin typeface="Playfair Display ExtraBold" pitchFamily="34" charset="0"/>
                <a:ea typeface="Playfair Display ExtraBold" pitchFamily="34" charset="-122"/>
                <a:cs typeface="Playfair Display ExtraBold" pitchFamily="34" charset="-120"/>
              </a:rPr>
              <a:t>Slowly Changing Dimensions (SCDs)</a:t>
            </a:r>
            <a:endParaRPr lang="en-US" sz="4350" dirty="0"/>
          </a:p>
        </p:txBody>
      </p:sp>
      <p:sp>
        <p:nvSpPr>
          <p:cNvPr id="6" name="Text 2"/>
          <p:cNvSpPr/>
          <p:nvPr/>
        </p:nvSpPr>
        <p:spPr>
          <a:xfrm>
            <a:off x="571500" y="3061599"/>
            <a:ext cx="4597003" cy="210741"/>
          </a:xfrm>
          <a:prstGeom prst="rect">
            <a:avLst/>
          </a:prstGeom>
          <a:noFill/>
          <a:ln/>
        </p:spPr>
        <p:txBody>
          <a:bodyPr wrap="none" lIns="0" tIns="0" rIns="0" bIns="0" rtlCol="0" anchor="t">
            <a:spAutoFit/>
          </a:bodyPr>
          <a:lstStyle/>
          <a:p>
            <a:pPr algn="l" indent="0" marL="0">
              <a:lnSpc>
                <a:spcPct val="120000"/>
              </a:lnSpc>
              <a:buNone/>
            </a:pPr>
            <a:r>
              <a:rPr lang="en-US" sz="1200" b="1" dirty="0">
                <a:solidFill>
                  <a:srgbClr val="94A3B8"/>
                </a:solidFill>
                <a:latin typeface="Inter SemiBold" pitchFamily="34" charset="0"/>
                <a:ea typeface="Inter SemiBold" pitchFamily="34" charset="-122"/>
                <a:cs typeface="Inter SemiBold" pitchFamily="34" charset="-120"/>
              </a:rPr>
              <a:t>Making Change a First-Class Citizen in Your Data Model</a:t>
            </a:r>
            <a:endParaRPr lang="en-US" sz="1200" dirty="0"/>
          </a:p>
        </p:txBody>
      </p:sp>
      <p:sp>
        <p:nvSpPr>
          <p:cNvPr id="7" name="Shape 3"/>
          <p:cNvSpPr/>
          <p:nvPr/>
        </p:nvSpPr>
        <p:spPr>
          <a:xfrm>
            <a:off x="0" y="4136231"/>
            <a:ext cx="9144000" cy="1007269"/>
          </a:xfrm>
          <a:prstGeom prst="rect">
            <a:avLst/>
          </a:prstGeom>
          <a:solidFill>
            <a:srgbClr val="000000">
              <a:alpha val="0"/>
            </a:srgbClr>
          </a:solidFill>
          <a:ln/>
        </p:spPr>
      </p:sp>
      <p:sp>
        <p:nvSpPr>
          <p:cNvPr id="8" name="Shape 4"/>
          <p:cNvSpPr/>
          <p:nvPr/>
        </p:nvSpPr>
        <p:spPr>
          <a:xfrm>
            <a:off x="0" y="4136231"/>
            <a:ext cx="9144000" cy="7144"/>
          </a:xfrm>
          <a:prstGeom prst="rect">
            <a:avLst/>
          </a:prstGeom>
          <a:solidFill>
            <a:srgbClr val="334155"/>
          </a:solidFill>
          <a:ln/>
        </p:spPr>
      </p:sp>
      <p:sp>
        <p:nvSpPr>
          <p:cNvPr id="9" name="Text 5"/>
          <p:cNvSpPr/>
          <p:nvPr/>
        </p:nvSpPr>
        <p:spPr>
          <a:xfrm>
            <a:off x="571500" y="4716661"/>
            <a:ext cx="2693194" cy="139303"/>
          </a:xfrm>
          <a:prstGeom prst="rect">
            <a:avLst/>
          </a:prstGeom>
          <a:noFill/>
          <a:ln/>
        </p:spPr>
        <p:txBody>
          <a:bodyPr wrap="square" lIns="0" tIns="0" rIns="0" bIns="0" rtlCol="0" anchor="t">
            <a:spAutoFit/>
          </a:bodyPr>
          <a:lstStyle/>
          <a:p>
            <a:pPr algn="l" indent="0" marL="0">
              <a:buNone/>
            </a:pPr>
            <a:r>
              <a:rPr lang="en-US" sz="850" dirty="0">
                <a:solidFill>
                  <a:srgbClr val="64748B"/>
                </a:solidFill>
                <a:latin typeface="Inter" pitchFamily="34" charset="0"/>
                <a:ea typeface="Inter" pitchFamily="34" charset="-122"/>
                <a:cs typeface="Inter" pitchFamily="34" charset="-120"/>
              </a:rPr>
              <a:t>Based on Ralph Kimball's Data Warehouse Toolkit</a:t>
            </a:r>
            <a:endParaRPr lang="en-US" sz="850" dirty="0"/>
          </a:p>
        </p:txBody>
      </p:sp>
      <p:sp>
        <p:nvSpPr>
          <p:cNvPr id="10" name="Text 6"/>
          <p:cNvSpPr/>
          <p:nvPr/>
        </p:nvSpPr>
        <p:spPr>
          <a:xfrm>
            <a:off x="7429500" y="4647009"/>
            <a:ext cx="1143000" cy="139303"/>
          </a:xfrm>
          <a:prstGeom prst="rect">
            <a:avLst/>
          </a:prstGeom>
          <a:noFill/>
          <a:ln/>
        </p:spPr>
        <p:txBody>
          <a:bodyPr wrap="none" lIns="0" tIns="0" rIns="0" bIns="0" rtlCol="0" anchor="t">
            <a:spAutoFit/>
          </a:bodyPr>
          <a:lstStyle/>
          <a:p>
            <a:pPr algn="r" indent="0" marL="0">
              <a:buNone/>
            </a:pPr>
            <a:r>
              <a:rPr lang="en-US" sz="800" b="1" dirty="0">
                <a:solidFill>
                  <a:srgbClr val="F8FAFC"/>
                </a:solidFill>
                <a:latin typeface="Inter SemiBold" pitchFamily="34" charset="0"/>
                <a:ea typeface="Inter SemiBold" pitchFamily="34" charset="-122"/>
                <a:cs typeface="Inter SemiBold" pitchFamily="34" charset="-120"/>
              </a:rPr>
              <a:t>Milan Gabriel</a:t>
            </a:r>
            <a:endParaRPr lang="en-US" sz="800" dirty="0"/>
          </a:p>
        </p:txBody>
      </p:sp>
      <p:sp>
        <p:nvSpPr>
          <p:cNvPr id="11" name="Text 7"/>
          <p:cNvSpPr/>
          <p:nvPr/>
        </p:nvSpPr>
        <p:spPr>
          <a:xfrm>
            <a:off x="7429500" y="4786313"/>
            <a:ext cx="1143000" cy="139303"/>
          </a:xfrm>
          <a:prstGeom prst="rect">
            <a:avLst/>
          </a:prstGeom>
          <a:noFill/>
          <a:ln/>
        </p:spPr>
        <p:txBody>
          <a:bodyPr wrap="none" lIns="0" tIns="0" rIns="0" bIns="0" rtlCol="0" anchor="t">
            <a:spAutoFit/>
          </a:bodyPr>
          <a:lstStyle/>
          <a:p>
            <a:pPr algn="r" indent="0" marL="0">
              <a:buNone/>
            </a:pPr>
            <a:r>
              <a:rPr lang="en-US" sz="850" dirty="0">
                <a:solidFill>
                  <a:srgbClr val="64748B"/>
                </a:solidFill>
                <a:latin typeface="Inter" pitchFamily="34" charset="0"/>
                <a:ea typeface="Inter" pitchFamily="34" charset="-122"/>
                <a:cs typeface="Inter" pitchFamily="34" charset="-120"/>
              </a:rPr>
              <a:t>Senior Data Engineer</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4121944" cy="5086350"/>
          </a:xfrm>
          <a:prstGeom prst="rect">
            <a:avLst/>
          </a:prstGeom>
          <a:solidFill>
            <a:srgbClr val="F1F5F9"/>
          </a:solidFill>
          <a:ln/>
        </p:spPr>
      </p:sp>
      <p:sp>
        <p:nvSpPr>
          <p:cNvPr id="5" name="Text 1"/>
          <p:cNvSpPr/>
          <p:nvPr/>
        </p:nvSpPr>
        <p:spPr>
          <a:xfrm>
            <a:off x="428625" y="913228"/>
            <a:ext cx="3407569" cy="822871"/>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Dimension Tables Aren't Actually Static</a:t>
            </a:r>
            <a:endParaRPr lang="en-US" sz="2450" dirty="0"/>
          </a:p>
        </p:txBody>
      </p:sp>
      <p:sp>
        <p:nvSpPr>
          <p:cNvPr id="6" name="Text 2"/>
          <p:cNvSpPr/>
          <p:nvPr/>
        </p:nvSpPr>
        <p:spPr>
          <a:xfrm>
            <a:off x="428625" y="3297734"/>
            <a:ext cx="3407569" cy="1188541"/>
          </a:xfrm>
          <a:prstGeom prst="rect">
            <a:avLst/>
          </a:prstGeom>
          <a:noFill/>
          <a:ln/>
        </p:spPr>
        <p:txBody>
          <a:bodyPr wrap="square" lIns="0" tIns="0" rIns="0" bIns="0" rtlCol="0" anchor="t">
            <a:spAutoFit/>
          </a:bodyPr>
          <a:lstStyle/>
          <a:p>
            <a:pPr algn="l" indent="0" marL="0">
              <a:lnSpc>
                <a:spcPct val="104000"/>
              </a:lnSpc>
              <a:buNone/>
            </a:pPr>
            <a:r>
              <a:rPr lang="en-US" sz="1600" b="1" i="1" dirty="0">
                <a:solidFill>
                  <a:srgbClr val="1E293B"/>
                </a:solidFill>
                <a:latin typeface="Playfair Display ExtraBold" pitchFamily="34" charset="0"/>
                <a:ea typeface="Playfair Display ExtraBold" pitchFamily="34" charset="-122"/>
                <a:cs typeface="Playfair Display ExtraBold" pitchFamily="34" charset="-120"/>
              </a:rPr>
              <a:t>"What happens to your fact table's history when the dimension it points to changes?"</a:t>
            </a:r>
            <a:endParaRPr lang="en-US" sz="1600" dirty="0"/>
          </a:p>
        </p:txBody>
      </p:sp>
      <p:sp>
        <p:nvSpPr>
          <p:cNvPr id="7" name="Text 3"/>
          <p:cNvSpPr/>
          <p:nvPr/>
        </p:nvSpPr>
        <p:spPr>
          <a:xfrm>
            <a:off x="4550569" y="800100"/>
            <a:ext cx="4164806" cy="719956"/>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59669"/>
                </a:solidFill>
                <a:latin typeface="Inter SemiBold" pitchFamily="34" charset="0"/>
                <a:ea typeface="Inter SemiBold" pitchFamily="34" charset="-122"/>
                <a:cs typeface="Inter SemiBold" pitchFamily="34" charset="-120"/>
              </a:rPr>
              <a:t>Real-world entities change over time, and your model must account for it to prevent data corruption.</a:t>
            </a:r>
            <a:endParaRPr lang="en-US" sz="1200" dirty="0"/>
          </a:p>
        </p:txBody>
      </p:sp>
      <p:pic>
        <p:nvPicPr>
          <p:cNvPr id="8" name="Image 1" descr="preencoded.png">    </p:cNvPr>
          <p:cNvPicPr>
            <a:picLocks noChangeAspect="1"/>
          </p:cNvPicPr>
          <p:nvPr/>
        </p:nvPicPr>
        <p:blipFill>
          <a:blip r:embed="rId2"/>
          <a:stretch>
            <a:fillRect/>
          </a:stretch>
        </p:blipFill>
        <p:spPr>
          <a:xfrm>
            <a:off x="4550569" y="1805806"/>
            <a:ext cx="142875" cy="142875"/>
          </a:xfrm>
          <a:prstGeom prst="rect">
            <a:avLst/>
          </a:prstGeom>
        </p:spPr>
      </p:pic>
      <p:sp>
        <p:nvSpPr>
          <p:cNvPr id="9" name="Text 4"/>
          <p:cNvSpPr/>
          <p:nvPr/>
        </p:nvSpPr>
        <p:spPr>
          <a:xfrm>
            <a:off x="4807744" y="1805806"/>
            <a:ext cx="3907631"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Session 1 built the star schema - facts measure, dimensions describe.</a:t>
            </a:r>
            <a:endParaRPr lang="en-US" sz="950" dirty="0"/>
          </a:p>
        </p:txBody>
      </p:sp>
      <p:pic>
        <p:nvPicPr>
          <p:cNvPr id="10" name="Image 2" descr="preencoded.png">    </p:cNvPr>
          <p:cNvPicPr>
            <a:picLocks noChangeAspect="1"/>
          </p:cNvPicPr>
          <p:nvPr/>
        </p:nvPicPr>
        <p:blipFill>
          <a:blip r:embed="rId3"/>
          <a:stretch>
            <a:fillRect/>
          </a:stretch>
        </p:blipFill>
        <p:spPr>
          <a:xfrm>
            <a:off x="4550569" y="2388691"/>
            <a:ext cx="114300" cy="142875"/>
          </a:xfrm>
          <a:prstGeom prst="rect">
            <a:avLst/>
          </a:prstGeom>
        </p:spPr>
      </p:pic>
      <p:sp>
        <p:nvSpPr>
          <p:cNvPr id="11" name="Text 5"/>
          <p:cNvSpPr/>
          <p:nvPr/>
        </p:nvSpPr>
        <p:spPr>
          <a:xfrm>
            <a:off x="4779169" y="2388691"/>
            <a:ext cx="3936206"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The gap: We treated dimensions as fixed. In reality, customers move, products change categories, and employees change departments.</a:t>
            </a:r>
            <a:endParaRPr lang="en-US" sz="950" dirty="0"/>
          </a:p>
        </p:txBody>
      </p:sp>
      <p:sp>
        <p:nvSpPr>
          <p:cNvPr id="12" name="Shape 6"/>
          <p:cNvSpPr/>
          <p:nvPr/>
        </p:nvSpPr>
        <p:spPr>
          <a:xfrm>
            <a:off x="4550569" y="3291594"/>
            <a:ext cx="4164806" cy="1045778"/>
          </a:xfrm>
          <a:prstGeom prst="rect">
            <a:avLst/>
          </a:prstGeom>
          <a:solidFill>
            <a:srgbClr val="FEF2F2"/>
          </a:solidFill>
          <a:ln/>
        </p:spPr>
      </p:sp>
      <p:sp>
        <p:nvSpPr>
          <p:cNvPr id="13" name="Shape 7"/>
          <p:cNvSpPr/>
          <p:nvPr/>
        </p:nvSpPr>
        <p:spPr>
          <a:xfrm>
            <a:off x="4550569" y="3291594"/>
            <a:ext cx="28575" cy="1045778"/>
          </a:xfrm>
          <a:prstGeom prst="rect">
            <a:avLst/>
          </a:prstGeom>
          <a:solidFill>
            <a:srgbClr val="EF4444"/>
          </a:solidFill>
          <a:ln/>
        </p:spPr>
      </p:sp>
      <p:sp>
        <p:nvSpPr>
          <p:cNvPr id="14" name="Text 8"/>
          <p:cNvSpPr/>
          <p:nvPr/>
        </p:nvSpPr>
        <p:spPr>
          <a:xfrm>
            <a:off x="4722019" y="3434469"/>
            <a:ext cx="3821906" cy="157163"/>
          </a:xfrm>
          <a:prstGeom prst="rect">
            <a:avLst/>
          </a:prstGeom>
          <a:noFill/>
          <a:ln/>
        </p:spPr>
        <p:txBody>
          <a:bodyPr wrap="square" lIns="0" tIns="0" rIns="0" bIns="0" rtlCol="0" anchor="t">
            <a:spAutoFit/>
          </a:bodyPr>
          <a:lstStyle/>
          <a:p>
            <a:pPr algn="l" indent="0" marL="0">
              <a:buNone/>
            </a:pPr>
            <a:r>
              <a:rPr lang="en-US" sz="900" b="1" spc="1" kern="0" dirty="0">
                <a:solidFill>
                  <a:srgbClr val="B91C1C"/>
                </a:solidFill>
                <a:latin typeface="Inter Bold" pitchFamily="34" charset="0"/>
                <a:ea typeface="Inter Bold" pitchFamily="34" charset="-122"/>
                <a:cs typeface="Inter Bold" pitchFamily="34" charset="-120"/>
              </a:rPr>
              <a:t>THE ANALYTICAL RISK</a:t>
            </a:r>
            <a:endParaRPr lang="en-US" sz="900" dirty="0"/>
          </a:p>
        </p:txBody>
      </p:sp>
      <p:sp>
        <p:nvSpPr>
          <p:cNvPr id="15" name="Text 9"/>
          <p:cNvSpPr/>
          <p:nvPr/>
        </p:nvSpPr>
        <p:spPr>
          <a:xfrm>
            <a:off x="4722019" y="3720219"/>
            <a:ext cx="3821906"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7F1D1D"/>
                </a:solidFill>
                <a:latin typeface="Inter" pitchFamily="34" charset="0"/>
                <a:ea typeface="Inter" pitchFamily="34" charset="-122"/>
                <a:cs typeface="Inter" pitchFamily="34" charset="-120"/>
              </a:rPr>
              <a:t>Overwriting dimension rows causes </a:t>
            </a:r>
            <a:r>
              <a:rPr lang="en-US" sz="900" b="1" dirty="0">
                <a:solidFill>
                  <a:srgbClr val="7F1D1D"/>
                </a:solidFill>
                <a:latin typeface="Inter Bold" pitchFamily="34" charset="0"/>
                <a:ea typeface="Inter Bold" pitchFamily="34" charset="-122"/>
                <a:cs typeface="Inter Bold" pitchFamily="34" charset="-120"/>
              </a:rPr>
              <a:t>"silent data corruption"</a:t>
            </a:r>
            <a:r>
              <a:rPr lang="en-US" sz="950" dirty="0">
                <a:solidFill>
                  <a:srgbClr val="7F1D1D"/>
                </a:solidFill>
                <a:latin typeface="Inter" pitchFamily="34" charset="0"/>
                <a:ea typeface="Inter" pitchFamily="34" charset="-122"/>
                <a:cs typeface="Inter" pitchFamily="34" charset="-120"/>
              </a:rPr>
              <a:t>-</a:t>
            </a:r>
            <a:r>
              <a:rPr lang="en-US" sz="950" dirty="0">
                <a:solidFill>
                  <a:srgbClr val="7F1D1D"/>
                </a:solidFill>
                <a:latin typeface="Inter" pitchFamily="34" charset="0"/>
                <a:ea typeface="Inter" pitchFamily="34" charset="-122"/>
                <a:cs typeface="Inter" pitchFamily="34" charset="-120"/>
              </a:rPr>
              <a:t>past sales get re-attributed to new attributes without any error </a:t>
            </a:r>
            <a:r>
              <a:rPr lang="en-US" sz="950" dirty="0">
                <a:solidFill>
                  <a:srgbClr val="7F1D1D"/>
                </a:solidFill>
                <a:latin typeface="Inter" pitchFamily="34" charset="0"/>
                <a:ea typeface="Inter" pitchFamily="34" charset="-122"/>
                <a:cs typeface="Inter" pitchFamily="34" charset="-120"/>
              </a:rPr>
              <a:t>or crash.</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70353"/>
            <a:ext cx="8286750" cy="411435"/>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The Naive UPDATE Breaks Historical Reporting</a:t>
            </a:r>
            <a:endParaRPr lang="en-US" sz="2450" dirty="0"/>
          </a:p>
        </p:txBody>
      </p:sp>
      <p:sp>
        <p:nvSpPr>
          <p:cNvPr id="5" name="Text 1"/>
          <p:cNvSpPr/>
          <p:nvPr/>
        </p:nvSpPr>
        <p:spPr>
          <a:xfrm>
            <a:off x="428625" y="1353238"/>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Updating in place destroys the integrity of historical performance reports.</a:t>
            </a:r>
            <a:endParaRPr lang="en-US" sz="1200" dirty="0"/>
          </a:p>
        </p:txBody>
      </p:sp>
      <p:sp>
        <p:nvSpPr>
          <p:cNvPr id="6" name="Shape 2"/>
          <p:cNvSpPr/>
          <p:nvPr/>
        </p:nvSpPr>
        <p:spPr>
          <a:xfrm>
            <a:off x="428625" y="1992604"/>
            <a:ext cx="2762231" cy="1596628"/>
          </a:xfrm>
          <a:prstGeom prst="rect">
            <a:avLst/>
          </a:prstGeom>
          <a:solidFill>
            <a:srgbClr val="FFFFFF"/>
          </a:solidFill>
          <a:ln/>
        </p:spPr>
      </p:sp>
      <p:sp>
        <p:nvSpPr>
          <p:cNvPr id="7" name="Shape 3"/>
          <p:cNvSpPr/>
          <p:nvPr/>
        </p:nvSpPr>
        <p:spPr>
          <a:xfrm>
            <a:off x="428625" y="1992604"/>
            <a:ext cx="2762231" cy="28575"/>
          </a:xfrm>
          <a:prstGeom prst="rect">
            <a:avLst/>
          </a:prstGeom>
          <a:solidFill>
            <a:srgbClr val="059669"/>
          </a:solidFill>
          <a:ln/>
        </p:spPr>
      </p:sp>
      <p:sp>
        <p:nvSpPr>
          <p:cNvPr id="8" name="Text 4"/>
          <p:cNvSpPr/>
          <p:nvPr/>
        </p:nvSpPr>
        <p:spPr>
          <a:xfrm>
            <a:off x="600075" y="2164054"/>
            <a:ext cx="2419331" cy="139303"/>
          </a:xfrm>
          <a:prstGeom prst="rect">
            <a:avLst/>
          </a:prstGeom>
          <a:noFill/>
          <a:ln/>
        </p:spPr>
        <p:txBody>
          <a:bodyPr wrap="square" lIns="0" tIns="0" rIns="0" bIns="0" rtlCol="0" anchor="t">
            <a:spAutoFit/>
          </a:bodyPr>
          <a:lstStyle/>
          <a:p>
            <a:pPr algn="l" indent="0" marL="0">
              <a:buNone/>
            </a:pPr>
            <a:r>
              <a:rPr lang="en-US" sz="800" b="1" dirty="0">
                <a:solidFill>
                  <a:srgbClr val="64748B"/>
                </a:solidFill>
                <a:latin typeface="Inter Bold" pitchFamily="34" charset="0"/>
                <a:ea typeface="Inter Bold" pitchFamily="34" charset="-122"/>
                <a:cs typeface="Inter Bold" pitchFamily="34" charset="-120"/>
              </a:rPr>
              <a:t>JANUARY</a:t>
            </a:r>
            <a:endParaRPr lang="en-US" sz="800" dirty="0"/>
          </a:p>
        </p:txBody>
      </p:sp>
      <p:sp>
        <p:nvSpPr>
          <p:cNvPr id="9" name="Text 5"/>
          <p:cNvSpPr/>
          <p:nvPr/>
        </p:nvSpPr>
        <p:spPr>
          <a:xfrm>
            <a:off x="600075" y="2389082"/>
            <a:ext cx="2419331" cy="228600"/>
          </a:xfrm>
          <a:prstGeom prst="rect">
            <a:avLst/>
          </a:prstGeom>
          <a:noFill/>
          <a:ln/>
        </p:spPr>
        <p:txBody>
          <a:bodyPr wrap="square" lIns="0" tIns="0" rIns="0" bIns="0" rtlCol="0" anchor="t">
            <a:spAutoFit/>
          </a:bodyPr>
          <a:lstStyle/>
          <a:p>
            <a:pPr algn="l"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Initial State</a:t>
            </a:r>
            <a:endParaRPr lang="en-US" sz="1200" dirty="0"/>
          </a:p>
        </p:txBody>
      </p:sp>
      <p:sp>
        <p:nvSpPr>
          <p:cNvPr id="10" name="Text 6"/>
          <p:cNvSpPr/>
          <p:nvPr/>
        </p:nvSpPr>
        <p:spPr>
          <a:xfrm>
            <a:off x="600075" y="2731982"/>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Rahul lives in </a:t>
            </a:r>
            <a:r>
              <a:rPr lang="en-US" sz="800" b="1" dirty="0">
                <a:solidFill>
                  <a:srgbClr val="475569"/>
                </a:solidFill>
                <a:latin typeface="Inter Bold" pitchFamily="34" charset="0"/>
                <a:ea typeface="Inter Bold" pitchFamily="34" charset="-122"/>
                <a:cs typeface="Inter Bold" pitchFamily="34" charset="-120"/>
              </a:rPr>
              <a:t>Mumbai</a:t>
            </a:r>
            <a:r>
              <a:rPr lang="en-US" sz="850" dirty="0">
                <a:solidFill>
                  <a:srgbClr val="475569"/>
                </a:solidFill>
                <a:latin typeface="Inter" pitchFamily="34" charset="0"/>
                <a:ea typeface="Inter" pitchFamily="34" charset="-122"/>
                <a:cs typeface="Inter" pitchFamily="34" charset="-120"/>
              </a:rPr>
              <a:t>.</a:t>
            </a:r>
            <a:endParaRPr lang="en-US" sz="850" dirty="0"/>
          </a:p>
        </p:txBody>
      </p:sp>
      <p:sp>
        <p:nvSpPr>
          <p:cNvPr id="11" name="Text 7"/>
          <p:cNvSpPr/>
          <p:nvPr/>
        </p:nvSpPr>
        <p:spPr>
          <a:xfrm>
            <a:off x="600075" y="2989157"/>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Purchases ₹50,000 worth of goods.</a:t>
            </a:r>
            <a:endParaRPr lang="en-US" sz="850" dirty="0"/>
          </a:p>
        </p:txBody>
      </p:sp>
      <p:pic>
        <p:nvPicPr>
          <p:cNvPr id="12" name="Image 1" descr="preencoded.png">    </p:cNvPr>
          <p:cNvPicPr>
            <a:picLocks noChangeAspect="1"/>
          </p:cNvPicPr>
          <p:nvPr/>
        </p:nvPicPr>
        <p:blipFill>
          <a:blip r:embed="rId2"/>
          <a:stretch>
            <a:fillRect/>
          </a:stretch>
        </p:blipFill>
        <p:spPr>
          <a:xfrm>
            <a:off x="600075" y="3462431"/>
            <a:ext cx="114300" cy="114300"/>
          </a:xfrm>
          <a:prstGeom prst="rect">
            <a:avLst/>
          </a:prstGeom>
        </p:spPr>
      </p:pic>
      <p:sp>
        <p:nvSpPr>
          <p:cNvPr id="13" name="Text 8"/>
          <p:cNvSpPr/>
          <p:nvPr/>
        </p:nvSpPr>
        <p:spPr>
          <a:xfrm>
            <a:off x="771525" y="3449929"/>
            <a:ext cx="1060847" cy="139303"/>
          </a:xfrm>
          <a:prstGeom prst="rect">
            <a:avLst/>
          </a:prstGeom>
          <a:noFill/>
          <a:ln/>
        </p:spPr>
        <p:txBody>
          <a:bodyPr wrap="none" lIns="0" tIns="0" rIns="0" bIns="0" rtlCol="0" anchor="t">
            <a:spAutoFit/>
          </a:bodyPr>
          <a:lstStyle/>
          <a:p>
            <a:pPr algn="l" indent="0" marL="0">
              <a:buNone/>
            </a:pPr>
            <a:r>
              <a:rPr lang="en-US" sz="800" b="1" dirty="0">
                <a:solidFill>
                  <a:srgbClr val="059669"/>
                </a:solidFill>
                <a:latin typeface="Inter Bold" pitchFamily="34" charset="0"/>
                <a:ea typeface="Inter Bold" pitchFamily="34" charset="-122"/>
                <a:cs typeface="Inter Bold" pitchFamily="34" charset="-120"/>
              </a:rPr>
              <a:t>Correct Attribution</a:t>
            </a:r>
            <a:endParaRPr lang="en-US" sz="800" dirty="0"/>
          </a:p>
        </p:txBody>
      </p:sp>
      <p:sp>
        <p:nvSpPr>
          <p:cNvPr id="14" name="Shape 9"/>
          <p:cNvSpPr/>
          <p:nvPr/>
        </p:nvSpPr>
        <p:spPr>
          <a:xfrm>
            <a:off x="3190856" y="1992604"/>
            <a:ext cx="2762231" cy="1596628"/>
          </a:xfrm>
          <a:prstGeom prst="rect">
            <a:avLst/>
          </a:prstGeom>
          <a:solidFill>
            <a:srgbClr val="FFFFFF"/>
          </a:solidFill>
          <a:ln/>
        </p:spPr>
      </p:sp>
      <p:sp>
        <p:nvSpPr>
          <p:cNvPr id="15" name="Shape 10"/>
          <p:cNvSpPr/>
          <p:nvPr/>
        </p:nvSpPr>
        <p:spPr>
          <a:xfrm>
            <a:off x="3190856" y="1992604"/>
            <a:ext cx="2762231" cy="28575"/>
          </a:xfrm>
          <a:prstGeom prst="rect">
            <a:avLst/>
          </a:prstGeom>
          <a:solidFill>
            <a:srgbClr val="CBD5E1"/>
          </a:solidFill>
          <a:ln/>
        </p:spPr>
      </p:sp>
      <p:sp>
        <p:nvSpPr>
          <p:cNvPr id="16" name="Text 11"/>
          <p:cNvSpPr/>
          <p:nvPr/>
        </p:nvSpPr>
        <p:spPr>
          <a:xfrm>
            <a:off x="3362306" y="2164054"/>
            <a:ext cx="2419331" cy="139303"/>
          </a:xfrm>
          <a:prstGeom prst="rect">
            <a:avLst/>
          </a:prstGeom>
          <a:noFill/>
          <a:ln/>
        </p:spPr>
        <p:txBody>
          <a:bodyPr wrap="square" lIns="0" tIns="0" rIns="0" bIns="0" rtlCol="0" anchor="t">
            <a:spAutoFit/>
          </a:bodyPr>
          <a:lstStyle/>
          <a:p>
            <a:pPr algn="l" indent="0" marL="0">
              <a:buNone/>
            </a:pPr>
            <a:r>
              <a:rPr lang="en-US" sz="800" b="1" dirty="0">
                <a:solidFill>
                  <a:srgbClr val="64748B"/>
                </a:solidFill>
                <a:latin typeface="Inter Bold" pitchFamily="34" charset="0"/>
                <a:ea typeface="Inter Bold" pitchFamily="34" charset="-122"/>
                <a:cs typeface="Inter Bold" pitchFamily="34" charset="-120"/>
              </a:rPr>
              <a:t>JUNE</a:t>
            </a:r>
            <a:endParaRPr lang="en-US" sz="800" dirty="0"/>
          </a:p>
        </p:txBody>
      </p:sp>
      <p:sp>
        <p:nvSpPr>
          <p:cNvPr id="17" name="Text 12"/>
          <p:cNvSpPr/>
          <p:nvPr/>
        </p:nvSpPr>
        <p:spPr>
          <a:xfrm>
            <a:off x="3362306" y="2389082"/>
            <a:ext cx="2419331" cy="228600"/>
          </a:xfrm>
          <a:prstGeom prst="rect">
            <a:avLst/>
          </a:prstGeom>
          <a:noFill/>
          <a:ln/>
        </p:spPr>
        <p:txBody>
          <a:bodyPr wrap="square" lIns="0" tIns="0" rIns="0" bIns="0" rtlCol="0" anchor="t">
            <a:spAutoFit/>
          </a:bodyPr>
          <a:lstStyle/>
          <a:p>
            <a:pPr algn="l"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The Change</a:t>
            </a:r>
            <a:endParaRPr lang="en-US" sz="1200" dirty="0"/>
          </a:p>
        </p:txBody>
      </p:sp>
      <p:sp>
        <p:nvSpPr>
          <p:cNvPr id="18" name="Text 13"/>
          <p:cNvSpPr/>
          <p:nvPr/>
        </p:nvSpPr>
        <p:spPr>
          <a:xfrm>
            <a:off x="3362306" y="2731982"/>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Rahul relocates to </a:t>
            </a:r>
            <a:r>
              <a:rPr lang="en-US" sz="800" b="1" dirty="0">
                <a:solidFill>
                  <a:srgbClr val="475569"/>
                </a:solidFill>
                <a:latin typeface="Inter Bold" pitchFamily="34" charset="0"/>
                <a:ea typeface="Inter Bold" pitchFamily="34" charset="-122"/>
                <a:cs typeface="Inter Bold" pitchFamily="34" charset="-120"/>
              </a:rPr>
              <a:t>Bangalore</a:t>
            </a:r>
            <a:r>
              <a:rPr lang="en-US" sz="850" dirty="0">
                <a:solidFill>
                  <a:srgbClr val="475569"/>
                </a:solidFill>
                <a:latin typeface="Inter" pitchFamily="34" charset="0"/>
                <a:ea typeface="Inter" pitchFamily="34" charset="-122"/>
                <a:cs typeface="Inter" pitchFamily="34" charset="-120"/>
              </a:rPr>
              <a:t>.</a:t>
            </a:r>
            <a:endParaRPr lang="en-US" sz="850" dirty="0"/>
          </a:p>
        </p:txBody>
      </p:sp>
      <p:sp>
        <p:nvSpPr>
          <p:cNvPr id="19" name="Text 14"/>
          <p:cNvSpPr/>
          <p:nvPr/>
        </p:nvSpPr>
        <p:spPr>
          <a:xfrm>
            <a:off x="3362306" y="2989157"/>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Database is UPDATEd in place:</a:t>
            </a:r>
            <a:endParaRPr lang="en-US" sz="850" dirty="0"/>
          </a:p>
        </p:txBody>
      </p:sp>
      <p:sp>
        <p:nvSpPr>
          <p:cNvPr id="20" name="Shape 15"/>
          <p:cNvSpPr/>
          <p:nvPr/>
        </p:nvSpPr>
        <p:spPr>
          <a:xfrm>
            <a:off x="3362306" y="3246332"/>
            <a:ext cx="2419331" cy="228600"/>
          </a:xfrm>
          <a:prstGeom prst="rect">
            <a:avLst/>
          </a:prstGeom>
          <a:solidFill>
            <a:srgbClr val="F1F5F9"/>
          </a:solidFill>
          <a:ln/>
        </p:spPr>
      </p:sp>
      <p:sp>
        <p:nvSpPr>
          <p:cNvPr id="21" name="Text 16"/>
          <p:cNvSpPr/>
          <p:nvPr/>
        </p:nvSpPr>
        <p:spPr>
          <a:xfrm>
            <a:off x="3362306" y="3246332"/>
            <a:ext cx="2419331" cy="228600"/>
          </a:xfrm>
          <a:prstGeom prst="rect">
            <a:avLst/>
          </a:prstGeom>
          <a:noFill/>
          <a:ln/>
        </p:spPr>
        <p:txBody>
          <a:bodyPr wrap="none" lIns="34036" tIns="34036" rIns="34036" bIns="34036" rtlCol="0" anchor="t">
            <a:spAutoFit/>
          </a:bodyPr>
          <a:lstStyle/>
          <a:p>
            <a:pPr algn="l" indent="0" marL="0">
              <a:lnSpc>
                <a:spcPct val="120000"/>
              </a:lnSpc>
              <a:buNone/>
            </a:pPr>
            <a:r>
              <a:rPr lang="en-US" sz="850" dirty="0">
                <a:solidFill>
                  <a:srgbClr val="475569"/>
                </a:solidFill>
                <a:latin typeface="monospace" pitchFamily="34" charset="0"/>
                <a:ea typeface="monospace" pitchFamily="34" charset="-122"/>
                <a:cs typeface="monospace" pitchFamily="34" charset="-120"/>
              </a:rPr>
              <a:t>SET city = 'Bangalore'</a:t>
            </a:r>
            <a:endParaRPr lang="en-US" sz="850" dirty="0"/>
          </a:p>
        </p:txBody>
      </p:sp>
      <p:sp>
        <p:nvSpPr>
          <p:cNvPr id="22" name="Shape 17"/>
          <p:cNvSpPr/>
          <p:nvPr/>
        </p:nvSpPr>
        <p:spPr>
          <a:xfrm>
            <a:off x="5953088" y="1992604"/>
            <a:ext cx="2762231" cy="1568053"/>
          </a:xfrm>
          <a:prstGeom prst="rect">
            <a:avLst/>
          </a:prstGeom>
          <a:solidFill>
            <a:srgbClr val="FEF2F2"/>
          </a:solidFill>
          <a:ln/>
        </p:spPr>
      </p:sp>
      <p:sp>
        <p:nvSpPr>
          <p:cNvPr id="23" name="Shape 18"/>
          <p:cNvSpPr/>
          <p:nvPr/>
        </p:nvSpPr>
        <p:spPr>
          <a:xfrm>
            <a:off x="5953088" y="1992604"/>
            <a:ext cx="2762231" cy="28575"/>
          </a:xfrm>
          <a:prstGeom prst="rect">
            <a:avLst/>
          </a:prstGeom>
          <a:solidFill>
            <a:srgbClr val="EF4444"/>
          </a:solidFill>
          <a:ln/>
        </p:spPr>
      </p:sp>
      <p:sp>
        <p:nvSpPr>
          <p:cNvPr id="24" name="Text 19"/>
          <p:cNvSpPr/>
          <p:nvPr/>
        </p:nvSpPr>
        <p:spPr>
          <a:xfrm>
            <a:off x="6124538" y="2164054"/>
            <a:ext cx="2419331" cy="139303"/>
          </a:xfrm>
          <a:prstGeom prst="rect">
            <a:avLst/>
          </a:prstGeom>
          <a:noFill/>
          <a:ln/>
        </p:spPr>
        <p:txBody>
          <a:bodyPr wrap="square" lIns="0" tIns="0" rIns="0" bIns="0" rtlCol="0" anchor="t">
            <a:spAutoFit/>
          </a:bodyPr>
          <a:lstStyle/>
          <a:p>
            <a:pPr algn="l" indent="0" marL="0">
              <a:buNone/>
            </a:pPr>
            <a:r>
              <a:rPr lang="en-US" sz="800" b="1" dirty="0">
                <a:solidFill>
                  <a:srgbClr val="64748B"/>
                </a:solidFill>
                <a:latin typeface="Inter Bold" pitchFamily="34" charset="0"/>
                <a:ea typeface="Inter Bold" pitchFamily="34" charset="-122"/>
                <a:cs typeface="Inter Bold" pitchFamily="34" charset="-120"/>
              </a:rPr>
              <a:t>RESULT</a:t>
            </a:r>
            <a:endParaRPr lang="en-US" sz="800" dirty="0"/>
          </a:p>
        </p:txBody>
      </p:sp>
      <p:sp>
        <p:nvSpPr>
          <p:cNvPr id="25" name="Text 20"/>
          <p:cNvSpPr/>
          <p:nvPr/>
        </p:nvSpPr>
        <p:spPr>
          <a:xfrm>
            <a:off x="6124538" y="2389082"/>
            <a:ext cx="2419331" cy="228600"/>
          </a:xfrm>
          <a:prstGeom prst="rect">
            <a:avLst/>
          </a:prstGeom>
          <a:noFill/>
          <a:ln/>
        </p:spPr>
        <p:txBody>
          <a:bodyPr wrap="square" lIns="0" tIns="0" rIns="0" bIns="0" rtlCol="0" anchor="t">
            <a:spAutoFit/>
          </a:bodyPr>
          <a:lstStyle/>
          <a:p>
            <a:pPr algn="l"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The Corruption</a:t>
            </a:r>
            <a:endParaRPr lang="en-US" sz="1200" dirty="0"/>
          </a:p>
        </p:txBody>
      </p:sp>
      <p:sp>
        <p:nvSpPr>
          <p:cNvPr id="26" name="Text 21"/>
          <p:cNvSpPr/>
          <p:nvPr/>
        </p:nvSpPr>
        <p:spPr>
          <a:xfrm>
            <a:off x="6124538" y="2731982"/>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Run "Sales by Region - Jan" today.</a:t>
            </a:r>
            <a:endParaRPr lang="en-US" sz="850" dirty="0"/>
          </a:p>
        </p:txBody>
      </p:sp>
      <p:sp>
        <p:nvSpPr>
          <p:cNvPr id="27" name="Text 22"/>
          <p:cNvSpPr/>
          <p:nvPr/>
        </p:nvSpPr>
        <p:spPr>
          <a:xfrm>
            <a:off x="6124538" y="2989157"/>
            <a:ext cx="2419331"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Rahul's Jan sale now shows as </a:t>
            </a:r>
            <a:r>
              <a:rPr lang="en-US" sz="800" b="1" dirty="0">
                <a:solidFill>
                  <a:srgbClr val="475569"/>
                </a:solidFill>
                <a:latin typeface="Inter Bold" pitchFamily="34" charset="0"/>
                <a:ea typeface="Inter Bold" pitchFamily="34" charset="-122"/>
                <a:cs typeface="Inter Bold" pitchFamily="34" charset="-120"/>
              </a:rPr>
              <a:t>Bangalore</a:t>
            </a:r>
            <a:r>
              <a:rPr lang="en-US" sz="850" dirty="0">
                <a:solidFill>
                  <a:srgbClr val="475569"/>
                </a:solidFill>
                <a:latin typeface="Inter" pitchFamily="34" charset="0"/>
                <a:ea typeface="Inter" pitchFamily="34" charset="-122"/>
                <a:cs typeface="Inter" pitchFamily="34" charset="-120"/>
              </a:rPr>
              <a:t>.</a:t>
            </a:r>
            <a:endParaRPr lang="en-US" sz="850" dirty="0"/>
          </a:p>
        </p:txBody>
      </p:sp>
      <p:pic>
        <p:nvPicPr>
          <p:cNvPr id="28" name="Image 2" descr="preencoded.png">    </p:cNvPr>
          <p:cNvPicPr>
            <a:picLocks noChangeAspect="1"/>
          </p:cNvPicPr>
          <p:nvPr/>
        </p:nvPicPr>
        <p:blipFill>
          <a:blip r:embed="rId3"/>
          <a:stretch>
            <a:fillRect/>
          </a:stretch>
        </p:blipFill>
        <p:spPr>
          <a:xfrm>
            <a:off x="6124538" y="3433856"/>
            <a:ext cx="114300" cy="114300"/>
          </a:xfrm>
          <a:prstGeom prst="rect">
            <a:avLst/>
          </a:prstGeom>
        </p:spPr>
      </p:pic>
      <p:sp>
        <p:nvSpPr>
          <p:cNvPr id="29" name="Text 23"/>
          <p:cNvSpPr/>
          <p:nvPr/>
        </p:nvSpPr>
        <p:spPr>
          <a:xfrm>
            <a:off x="6295988" y="3421354"/>
            <a:ext cx="946547" cy="139303"/>
          </a:xfrm>
          <a:prstGeom prst="rect">
            <a:avLst/>
          </a:prstGeom>
          <a:noFill/>
          <a:ln/>
        </p:spPr>
        <p:txBody>
          <a:bodyPr wrap="none" lIns="0" tIns="0" rIns="0" bIns="0" rtlCol="0" anchor="t">
            <a:spAutoFit/>
          </a:bodyPr>
          <a:lstStyle/>
          <a:p>
            <a:pPr algn="l" indent="0" marL="0">
              <a:buNone/>
            </a:pPr>
            <a:r>
              <a:rPr lang="en-US" sz="800" b="1" dirty="0">
                <a:solidFill>
                  <a:srgbClr val="EF4444"/>
                </a:solidFill>
                <a:latin typeface="Inter Bold" pitchFamily="34" charset="0"/>
                <a:ea typeface="Inter Bold" pitchFamily="34" charset="-122"/>
                <a:cs typeface="Inter Bold" pitchFamily="34" charset="-120"/>
              </a:rPr>
              <a:t>Retroactive Error</a:t>
            </a:r>
            <a:endParaRPr lang="en-US" sz="800" dirty="0"/>
          </a:p>
        </p:txBody>
      </p:sp>
      <p:sp>
        <p:nvSpPr>
          <p:cNvPr id="30" name="Shape 24"/>
          <p:cNvSpPr/>
          <p:nvPr/>
        </p:nvSpPr>
        <p:spPr>
          <a:xfrm>
            <a:off x="0" y="3929063"/>
            <a:ext cx="9144000" cy="1214438"/>
          </a:xfrm>
          <a:prstGeom prst="rect">
            <a:avLst/>
          </a:prstGeom>
          <a:solidFill>
            <a:srgbClr val="1E293B"/>
          </a:solidFill>
          <a:ln/>
        </p:spPr>
      </p:sp>
      <p:sp>
        <p:nvSpPr>
          <p:cNvPr id="31" name="Text 25"/>
          <p:cNvSpPr/>
          <p:nvPr/>
        </p:nvSpPr>
        <p:spPr>
          <a:xfrm>
            <a:off x="428625" y="4143375"/>
            <a:ext cx="8286750" cy="157163"/>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Inter Bold" pitchFamily="34" charset="0"/>
                <a:ea typeface="Inter Bold" pitchFamily="34" charset="-122"/>
                <a:cs typeface="Inter Bold" pitchFamily="34" charset="-120"/>
              </a:rPr>
              <a:t>THE BOTTOM LINE</a:t>
            </a:r>
            <a:endParaRPr lang="en-US" sz="900" dirty="0"/>
          </a:p>
        </p:txBody>
      </p:sp>
      <p:sp>
        <p:nvSpPr>
          <p:cNvPr id="32" name="Text 26"/>
          <p:cNvSpPr/>
          <p:nvPr/>
        </p:nvSpPr>
        <p:spPr>
          <a:xfrm>
            <a:off x="428625" y="4429125"/>
            <a:ext cx="828675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CBD5E1"/>
                </a:solidFill>
                <a:latin typeface="Inter" pitchFamily="34" charset="0"/>
                <a:ea typeface="Inter" pitchFamily="34" charset="-122"/>
                <a:cs typeface="Inter" pitchFamily="34" charset="-120"/>
              </a:rPr>
              <a:t>Regional performance reports become retroactively wrong. SCDs exist to decide </a:t>
            </a:r>
            <a:r>
              <a:rPr lang="en-US" sz="900" b="1" dirty="0">
                <a:solidFill>
                  <a:srgbClr val="CBD5E1"/>
                </a:solidFill>
                <a:latin typeface="Inter Bold" pitchFamily="34" charset="0"/>
                <a:ea typeface="Inter Bold" pitchFamily="34" charset="-122"/>
                <a:cs typeface="Inter Bold" pitchFamily="34" charset="-120"/>
              </a:rPr>
              <a:t>deliberately</a:t>
            </a:r>
            <a:r>
              <a:rPr lang="en-US" sz="950" dirty="0">
                <a:solidFill>
                  <a:srgbClr val="CBD5E1"/>
                </a:solidFill>
                <a:latin typeface="Inter" pitchFamily="34" charset="0"/>
                <a:ea typeface="Inter" pitchFamily="34" charset="-122"/>
                <a:cs typeface="Inter" pitchFamily="34" charset="-120"/>
              </a:rPr>
              <a:t> what happens to history when attributes </a:t>
            </a:r>
            <a:r>
              <a:rPr lang="en-US" sz="950" dirty="0">
                <a:solidFill>
                  <a:srgbClr val="CBD5E1"/>
                </a:solidFill>
                <a:latin typeface="Inter" pitchFamily="34" charset="0"/>
                <a:ea typeface="Inter" pitchFamily="34" charset="-122"/>
                <a:cs typeface="Inter" pitchFamily="34" charset="-120"/>
              </a:rPr>
              <a:t>change.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70353"/>
            <a:ext cx="8286750" cy="411435"/>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Four Ways to Handle Change</a:t>
            </a:r>
            <a:endParaRPr lang="en-US" sz="2450" dirty="0"/>
          </a:p>
        </p:txBody>
      </p:sp>
      <p:sp>
        <p:nvSpPr>
          <p:cNvPr id="5" name="Text 1"/>
          <p:cNvSpPr/>
          <p:nvPr/>
        </p:nvSpPr>
        <p:spPr>
          <a:xfrm>
            <a:off x="428625" y="1353238"/>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The choice of SCD type is a business decision, not a technical default.</a:t>
            </a:r>
            <a:endParaRPr lang="en-US" sz="1200" dirty="0"/>
          </a:p>
        </p:txBody>
      </p:sp>
      <p:pic>
        <p:nvPicPr>
          <p:cNvPr id="6" name="Image 1" descr="preencoded.png">    </p:cNvPr>
          <p:cNvPicPr>
            <a:picLocks noChangeAspect="1"/>
          </p:cNvPicPr>
          <p:nvPr/>
        </p:nvPicPr>
        <p:blipFill>
          <a:blip r:embed="rId2"/>
          <a:stretch>
            <a:fillRect/>
          </a:stretch>
        </p:blipFill>
        <p:spPr>
          <a:xfrm>
            <a:off x="1146572" y="2185485"/>
            <a:ext cx="314325" cy="357188"/>
          </a:xfrm>
          <a:prstGeom prst="rect">
            <a:avLst/>
          </a:prstGeom>
        </p:spPr>
      </p:pic>
      <p:sp>
        <p:nvSpPr>
          <p:cNvPr id="7" name="Text 2"/>
          <p:cNvSpPr/>
          <p:nvPr/>
        </p:nvSpPr>
        <p:spPr>
          <a:xfrm>
            <a:off x="442913" y="2753413"/>
            <a:ext cx="1721644" cy="457200"/>
          </a:xfrm>
          <a:prstGeom prst="rect">
            <a:avLst/>
          </a:prstGeom>
          <a:noFill/>
          <a:ln/>
        </p:spPr>
        <p:txBody>
          <a:bodyPr wrap="square" lIns="0" tIns="0" rIns="0" bIns="0" rtlCol="0" anchor="t">
            <a:spAutoFit/>
          </a:bodyPr>
          <a:lstStyle/>
          <a:p>
            <a:pPr algn="ctr"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Type 0: Retain Original</a:t>
            </a:r>
            <a:endParaRPr lang="en-US" sz="1200" dirty="0"/>
          </a:p>
        </p:txBody>
      </p:sp>
      <p:sp>
        <p:nvSpPr>
          <p:cNvPr id="8" name="Text 3"/>
          <p:cNvSpPr/>
          <p:nvPr/>
        </p:nvSpPr>
        <p:spPr>
          <a:xfrm>
            <a:off x="442913" y="3324913"/>
            <a:ext cx="1721644"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Locked at first load. Never changes, preserving the initial state forever.</a:t>
            </a:r>
            <a:endParaRPr lang="en-US" sz="850" dirty="0"/>
          </a:p>
        </p:txBody>
      </p:sp>
      <p:pic>
        <p:nvPicPr>
          <p:cNvPr id="9" name="Image 2" descr="preencoded.png">    </p:cNvPr>
          <p:cNvPicPr>
            <a:picLocks noChangeAspect="1"/>
          </p:cNvPicPr>
          <p:nvPr/>
        </p:nvPicPr>
        <p:blipFill>
          <a:blip r:embed="rId3"/>
          <a:stretch>
            <a:fillRect/>
          </a:stretch>
        </p:blipFill>
        <p:spPr>
          <a:xfrm>
            <a:off x="3303984" y="2185485"/>
            <a:ext cx="357188" cy="357188"/>
          </a:xfrm>
          <a:prstGeom prst="rect">
            <a:avLst/>
          </a:prstGeom>
        </p:spPr>
      </p:pic>
      <p:sp>
        <p:nvSpPr>
          <p:cNvPr id="10" name="Text 4"/>
          <p:cNvSpPr/>
          <p:nvPr/>
        </p:nvSpPr>
        <p:spPr>
          <a:xfrm>
            <a:off x="2778919" y="2753413"/>
            <a:ext cx="1407319" cy="228600"/>
          </a:xfrm>
          <a:prstGeom prst="rect">
            <a:avLst/>
          </a:prstGeom>
          <a:noFill/>
          <a:ln/>
        </p:spPr>
        <p:txBody>
          <a:bodyPr wrap="square" lIns="0" tIns="0" rIns="0" bIns="0" rtlCol="0" anchor="t">
            <a:spAutoFit/>
          </a:bodyPr>
          <a:lstStyle/>
          <a:p>
            <a:pPr algn="ctr"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Type 1: Overwrite</a:t>
            </a:r>
            <a:endParaRPr lang="en-US" sz="1200" dirty="0"/>
          </a:p>
        </p:txBody>
      </p:sp>
      <p:sp>
        <p:nvSpPr>
          <p:cNvPr id="11" name="Text 5"/>
          <p:cNvSpPr/>
          <p:nvPr/>
        </p:nvSpPr>
        <p:spPr>
          <a:xfrm>
            <a:off x="2621756" y="3096313"/>
            <a:ext cx="1721644"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Update in place. No history is kept. Simple but destroys past context.</a:t>
            </a:r>
            <a:endParaRPr lang="en-US" sz="850" dirty="0"/>
          </a:p>
        </p:txBody>
      </p:sp>
      <p:sp>
        <p:nvSpPr>
          <p:cNvPr id="12" name="Shape 6"/>
          <p:cNvSpPr/>
          <p:nvPr/>
        </p:nvSpPr>
        <p:spPr>
          <a:xfrm>
            <a:off x="4643438" y="1849729"/>
            <a:ext cx="2035969" cy="2550821"/>
          </a:xfrm>
          <a:prstGeom prst="rect">
            <a:avLst/>
          </a:prstGeom>
          <a:solidFill>
            <a:srgbClr val="F1F5F9"/>
          </a:solidFill>
          <a:ln w="18288">
            <a:solidFill>
              <a:srgbClr val="059669"/>
            </a:solidFill>
            <a:prstDash val="solid"/>
          </a:ln>
        </p:spPr>
      </p:sp>
      <p:pic>
        <p:nvPicPr>
          <p:cNvPr id="13" name="Image 3" descr="preencoded.png">    </p:cNvPr>
          <p:cNvPicPr>
            <a:picLocks noChangeAspect="1"/>
          </p:cNvPicPr>
          <p:nvPr/>
        </p:nvPicPr>
        <p:blipFill>
          <a:blip r:embed="rId4"/>
          <a:stretch>
            <a:fillRect/>
          </a:stretch>
        </p:blipFill>
        <p:spPr>
          <a:xfrm>
            <a:off x="5486400" y="2171198"/>
            <a:ext cx="357188" cy="357188"/>
          </a:xfrm>
          <a:prstGeom prst="rect">
            <a:avLst/>
          </a:prstGeom>
        </p:spPr>
      </p:pic>
      <p:sp>
        <p:nvSpPr>
          <p:cNvPr id="14" name="Text 7"/>
          <p:cNvSpPr/>
          <p:nvPr/>
        </p:nvSpPr>
        <p:spPr>
          <a:xfrm>
            <a:off x="4814888" y="2739126"/>
            <a:ext cx="1700213" cy="228600"/>
          </a:xfrm>
          <a:prstGeom prst="rect">
            <a:avLst/>
          </a:prstGeom>
          <a:noFill/>
          <a:ln/>
        </p:spPr>
        <p:txBody>
          <a:bodyPr wrap="square" lIns="0" tIns="0" rIns="0" bIns="0" rtlCol="0" anchor="t">
            <a:spAutoFit/>
          </a:bodyPr>
          <a:lstStyle/>
          <a:p>
            <a:pPr algn="ctr"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Type 2: Add New Row</a:t>
            </a:r>
            <a:endParaRPr lang="en-US" sz="1200" dirty="0"/>
          </a:p>
        </p:txBody>
      </p:sp>
      <p:sp>
        <p:nvSpPr>
          <p:cNvPr id="15" name="Text 8"/>
          <p:cNvSpPr/>
          <p:nvPr/>
        </p:nvSpPr>
        <p:spPr>
          <a:xfrm>
            <a:off x="4800600" y="3082026"/>
            <a:ext cx="1728788" cy="34290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Full history preserved. A new row is added for every change.</a:t>
            </a:r>
            <a:endParaRPr lang="en-US" sz="850" dirty="0"/>
          </a:p>
        </p:txBody>
      </p:sp>
      <p:pic>
        <p:nvPicPr>
          <p:cNvPr id="16" name="Image 4" descr="preencoded.png">    </p:cNvPr>
          <p:cNvPicPr>
            <a:picLocks noChangeAspect="1"/>
          </p:cNvPicPr>
          <p:nvPr/>
        </p:nvPicPr>
        <p:blipFill>
          <a:blip r:embed="rId5"/>
          <a:stretch>
            <a:fillRect/>
          </a:stretch>
        </p:blipFill>
        <p:spPr>
          <a:xfrm>
            <a:off x="7658100" y="2185485"/>
            <a:ext cx="357188" cy="357188"/>
          </a:xfrm>
          <a:prstGeom prst="rect">
            <a:avLst/>
          </a:prstGeom>
        </p:spPr>
      </p:pic>
      <p:sp>
        <p:nvSpPr>
          <p:cNvPr id="17" name="Text 9"/>
          <p:cNvSpPr/>
          <p:nvPr/>
        </p:nvSpPr>
        <p:spPr>
          <a:xfrm>
            <a:off x="6972300" y="2753413"/>
            <a:ext cx="1728788" cy="457200"/>
          </a:xfrm>
          <a:prstGeom prst="rect">
            <a:avLst/>
          </a:prstGeom>
          <a:noFill/>
          <a:ln/>
        </p:spPr>
        <p:txBody>
          <a:bodyPr wrap="square" lIns="0" tIns="0" rIns="0" bIns="0" rtlCol="0" anchor="t">
            <a:spAutoFit/>
          </a:bodyPr>
          <a:lstStyle/>
          <a:p>
            <a:pPr algn="ctr" indent="0" marL="0">
              <a:buNone/>
            </a:pPr>
            <a:r>
              <a:rPr lang="en-US" sz="1200" b="1" dirty="0">
                <a:solidFill>
                  <a:srgbClr val="1E293B"/>
                </a:solidFill>
                <a:latin typeface="Playfair Display ExtraBold" pitchFamily="34" charset="0"/>
                <a:ea typeface="Playfair Display ExtraBold" pitchFamily="34" charset="-122"/>
                <a:cs typeface="Playfair Display ExtraBold" pitchFamily="34" charset="-120"/>
              </a:rPr>
              <a:t>Type 3: Add New Column</a:t>
            </a:r>
            <a:endParaRPr lang="en-US" sz="1200" dirty="0"/>
          </a:p>
        </p:txBody>
      </p:sp>
      <p:sp>
        <p:nvSpPr>
          <p:cNvPr id="18" name="Text 10"/>
          <p:cNvSpPr/>
          <p:nvPr/>
        </p:nvSpPr>
        <p:spPr>
          <a:xfrm>
            <a:off x="6972300" y="3324913"/>
            <a:ext cx="1728788" cy="514350"/>
          </a:xfrm>
          <a:prstGeom prst="rect">
            <a:avLst/>
          </a:prstGeom>
          <a:noFill/>
          <a:ln/>
        </p:spPr>
        <p:txBody>
          <a:bodyPr wrap="square" lIns="0" tIns="0" rIns="0" bIns="0" rtlCol="0" anchor="t">
            <a:spAutoFit/>
          </a:bodyPr>
          <a:lstStyle/>
          <a:p>
            <a:pPr algn="ctr" indent="0" marL="0">
              <a:lnSpc>
                <a:spcPct val="120000"/>
              </a:lnSpc>
              <a:buNone/>
            </a:pPr>
            <a:r>
              <a:rPr lang="en-US" sz="850" dirty="0">
                <a:solidFill>
                  <a:srgbClr val="64748B"/>
                </a:solidFill>
                <a:latin typeface="Inter" pitchFamily="34" charset="0"/>
                <a:ea typeface="Inter" pitchFamily="34" charset="-122"/>
                <a:cs typeface="Inter" pitchFamily="34" charset="-120"/>
              </a:rPr>
              <a:t>Limited history. One extra column stores the previous value.</a:t>
            </a:r>
            <a:endParaRPr lang="en-US" sz="850" dirty="0"/>
          </a:p>
        </p:txBody>
      </p:sp>
      <p:sp>
        <p:nvSpPr>
          <p:cNvPr id="19" name="Shape 11"/>
          <p:cNvSpPr/>
          <p:nvPr/>
        </p:nvSpPr>
        <p:spPr>
          <a:xfrm>
            <a:off x="0" y="4400550"/>
            <a:ext cx="9144000" cy="742950"/>
          </a:xfrm>
          <a:prstGeom prst="rect">
            <a:avLst/>
          </a:prstGeom>
          <a:solidFill>
            <a:srgbClr val="1E293B"/>
          </a:solidFill>
          <a:ln/>
        </p:spPr>
      </p:sp>
      <p:sp>
        <p:nvSpPr>
          <p:cNvPr id="20" name="Text 12"/>
          <p:cNvSpPr/>
          <p:nvPr/>
        </p:nvSpPr>
        <p:spPr>
          <a:xfrm>
            <a:off x="428625" y="4770239"/>
            <a:ext cx="1050131" cy="175022"/>
          </a:xfrm>
          <a:prstGeom prst="rect">
            <a:avLst/>
          </a:prstGeom>
          <a:noFill/>
          <a:ln/>
        </p:spPr>
        <p:txBody>
          <a:bodyPr wrap="none" lIns="0" tIns="0" rIns="0" bIns="0" rtlCol="0" anchor="t">
            <a:spAutoFit/>
          </a:bodyPr>
          <a:lstStyle/>
          <a:p>
            <a:pPr algn="l" indent="0" marL="0">
              <a:buNone/>
            </a:pPr>
            <a:r>
              <a:rPr lang="en-US" sz="1000" b="1" dirty="0">
                <a:solidFill>
                  <a:srgbClr val="059669"/>
                </a:solidFill>
                <a:latin typeface="Inter SemiBold" pitchFamily="34" charset="0"/>
                <a:ea typeface="Inter SemiBold" pitchFamily="34" charset="-122"/>
                <a:cs typeface="Inter SemiBold" pitchFamily="34" charset="-120"/>
              </a:rPr>
              <a:t>THE DECISION:</a:t>
            </a:r>
            <a:endParaRPr lang="en-US" sz="1000" dirty="0"/>
          </a:p>
        </p:txBody>
      </p:sp>
      <p:sp>
        <p:nvSpPr>
          <p:cNvPr id="21" name="Text 13"/>
          <p:cNvSpPr/>
          <p:nvPr/>
        </p:nvSpPr>
        <p:spPr>
          <a:xfrm>
            <a:off x="1564481" y="4770239"/>
            <a:ext cx="3436144" cy="175022"/>
          </a:xfrm>
          <a:prstGeom prst="rect">
            <a:avLst/>
          </a:prstGeom>
          <a:noFill/>
          <a:ln/>
        </p:spPr>
        <p:txBody>
          <a:bodyPr wrap="square" lIns="0" tIns="0" rIns="0" bIns="0" rtlCol="0" anchor="t">
            <a:spAutoFit/>
          </a:bodyPr>
          <a:lstStyle/>
          <a:p>
            <a:pPr algn="l" indent="0" marL="0">
              <a:buNone/>
            </a:pPr>
            <a:r>
              <a:rPr lang="en-US" sz="1000" b="1" dirty="0">
                <a:solidFill>
                  <a:srgbClr val="F8FAFC"/>
                </a:solidFill>
                <a:latin typeface="Inter SemiBold" pitchFamily="34" charset="0"/>
                <a:ea typeface="Inter SemiBold" pitchFamily="34" charset="-122"/>
                <a:cs typeface="Inter SemiBold" pitchFamily="34" charset="-120"/>
              </a:rPr>
              <a:t>Four deliberate choices - not four difficulty levels.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4121944" cy="5086350"/>
          </a:xfrm>
          <a:prstGeom prst="rect">
            <a:avLst/>
          </a:prstGeom>
          <a:solidFill>
            <a:srgbClr val="1E293B"/>
          </a:solidFill>
          <a:ln/>
        </p:spPr>
      </p:sp>
      <p:sp>
        <p:nvSpPr>
          <p:cNvPr id="5" name="Text 1"/>
          <p:cNvSpPr/>
          <p:nvPr/>
        </p:nvSpPr>
        <p:spPr>
          <a:xfrm>
            <a:off x="-357187" y="2286000"/>
            <a:ext cx="2357438" cy="3571875"/>
          </a:xfrm>
          <a:prstGeom prst="rect">
            <a:avLst/>
          </a:prstGeom>
          <a:noFill/>
          <a:ln/>
        </p:spPr>
        <p:txBody>
          <a:bodyPr wrap="none" lIns="0" tIns="0" rIns="0" bIns="0" rtlCol="0" anchor="t">
            <a:spAutoFit/>
          </a:bodyPr>
          <a:lstStyle/>
          <a:p>
            <a:pPr algn="l" indent="0" marL="0">
              <a:lnSpc>
                <a:spcPct val="80000"/>
              </a:lnSpc>
              <a:buNone/>
            </a:pPr>
            <a:r>
              <a:rPr lang="en-US" sz="259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a:t>
            </a:r>
            <a:endParaRPr lang="en-US" sz="25900" dirty="0"/>
          </a:p>
        </p:txBody>
      </p:sp>
      <p:sp>
        <p:nvSpPr>
          <p:cNvPr id="6" name="Text 2"/>
          <p:cNvSpPr/>
          <p:nvPr/>
        </p:nvSpPr>
        <p:spPr>
          <a:xfrm>
            <a:off x="428625" y="913228"/>
            <a:ext cx="3407569" cy="822871"/>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F8FAFC"/>
                </a:solidFill>
                <a:latin typeface="Playfair Display ExtraBold" pitchFamily="34" charset="0"/>
                <a:ea typeface="Playfair Display ExtraBold" pitchFamily="34" charset="-122"/>
                <a:cs typeface="Playfair Display ExtraBold" pitchFamily="34" charset="-120"/>
              </a:rPr>
              <a:t>Type 0 - The Value That Never Changes</a:t>
            </a:r>
            <a:endParaRPr lang="en-US" sz="2450" dirty="0"/>
          </a:p>
        </p:txBody>
      </p:sp>
      <p:sp>
        <p:nvSpPr>
          <p:cNvPr id="7" name="Text 3"/>
          <p:cNvSpPr/>
          <p:nvPr/>
        </p:nvSpPr>
        <p:spPr>
          <a:xfrm>
            <a:off x="428625" y="1907549"/>
            <a:ext cx="3407569" cy="479971"/>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59669"/>
                </a:solidFill>
                <a:latin typeface="Inter SemiBold" pitchFamily="34" charset="0"/>
                <a:ea typeface="Inter SemiBold" pitchFamily="34" charset="-122"/>
                <a:cs typeface="Inter SemiBold" pitchFamily="34" charset="-120"/>
              </a:rPr>
              <a:t>Use Type 0 for immutable attributes that define the start of a relationship.</a:t>
            </a:r>
            <a:endParaRPr lang="en-US" sz="1200" dirty="0"/>
          </a:p>
        </p:txBody>
      </p:sp>
      <p:sp>
        <p:nvSpPr>
          <p:cNvPr id="8" name="Text 4"/>
          <p:cNvSpPr/>
          <p:nvPr/>
        </p:nvSpPr>
        <p:spPr>
          <a:xfrm>
            <a:off x="428625" y="3001882"/>
            <a:ext cx="3407569"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94A3B8"/>
                </a:solidFill>
                <a:latin typeface="Inter" pitchFamily="34" charset="0"/>
                <a:ea typeface="Inter" pitchFamily="34" charset="-122"/>
                <a:cs typeface="Inter" pitchFamily="34" charset="-120"/>
              </a:rPr>
              <a:t>The attribute is fixed at the moment the record is first created and is never updated again, even if the source system changes it.</a:t>
            </a:r>
            <a:endParaRPr lang="en-US" sz="1050" dirty="0"/>
          </a:p>
        </p:txBody>
      </p:sp>
      <p:sp>
        <p:nvSpPr>
          <p:cNvPr id="9" name="Shape 5"/>
          <p:cNvSpPr/>
          <p:nvPr/>
        </p:nvSpPr>
        <p:spPr>
          <a:xfrm>
            <a:off x="4121944" y="57150"/>
            <a:ext cx="5022056" cy="5086350"/>
          </a:xfrm>
          <a:prstGeom prst="rect">
            <a:avLst/>
          </a:prstGeom>
          <a:solidFill>
            <a:srgbClr val="F1F5F9"/>
          </a:solidFill>
          <a:ln/>
        </p:spPr>
      </p:sp>
      <p:sp>
        <p:nvSpPr>
          <p:cNvPr id="10" name="Text 6"/>
          <p:cNvSpPr/>
          <p:nvPr/>
        </p:nvSpPr>
        <p:spPr>
          <a:xfrm>
            <a:off x="4550569" y="828675"/>
            <a:ext cx="4164806" cy="267891"/>
          </a:xfrm>
          <a:prstGeom prst="rect">
            <a:avLst/>
          </a:prstGeom>
          <a:noFill/>
          <a:ln/>
        </p:spPr>
        <p:txBody>
          <a:bodyPr wrap="square" lIns="0" tIns="0" rIns="0" bIns="0" rtlCol="0" anchor="t">
            <a:spAutoFit/>
          </a:bodyPr>
          <a:lstStyle/>
          <a:p>
            <a:pPr algn="l" indent="0" marL="0">
              <a:buNone/>
            </a:pPr>
            <a:r>
              <a:rPr lang="en-US" sz="1400" b="1" dirty="0">
                <a:solidFill>
                  <a:srgbClr val="1E293B"/>
                </a:solidFill>
                <a:latin typeface="Playfair Display ExtraBold" pitchFamily="34" charset="0"/>
                <a:ea typeface="Playfair Display ExtraBold" pitchFamily="34" charset="-122"/>
                <a:cs typeface="Playfair Display ExtraBold" pitchFamily="34" charset="-120"/>
              </a:rPr>
              <a:t>Common Use Cases</a:t>
            </a:r>
            <a:endParaRPr lang="en-US" sz="1400" dirty="0"/>
          </a:p>
        </p:txBody>
      </p:sp>
      <p:pic>
        <p:nvPicPr>
          <p:cNvPr id="11" name="Image 1" descr="preencoded.png">    </p:cNvPr>
          <p:cNvPicPr>
            <a:picLocks noChangeAspect="1"/>
          </p:cNvPicPr>
          <p:nvPr/>
        </p:nvPicPr>
        <p:blipFill>
          <a:blip r:embed="rId2"/>
          <a:stretch>
            <a:fillRect/>
          </a:stretch>
        </p:blipFill>
        <p:spPr>
          <a:xfrm>
            <a:off x="4550569" y="1275159"/>
            <a:ext cx="125016" cy="142875"/>
          </a:xfrm>
          <a:prstGeom prst="rect">
            <a:avLst/>
          </a:prstGeom>
        </p:spPr>
      </p:pic>
      <p:sp>
        <p:nvSpPr>
          <p:cNvPr id="12" name="Text 7"/>
          <p:cNvSpPr/>
          <p:nvPr/>
        </p:nvSpPr>
        <p:spPr>
          <a:xfrm>
            <a:off x="4789884" y="1268016"/>
            <a:ext cx="1257300" cy="157163"/>
          </a:xfrm>
          <a:prstGeom prst="rect">
            <a:avLst/>
          </a:prstGeom>
          <a:noFill/>
          <a:ln/>
        </p:spPr>
        <p:txBody>
          <a:bodyPr wrap="none" lIns="0" tIns="0" rIns="0" bIns="0" rtlCol="0" anchor="t">
            <a:spAutoFit/>
          </a:bodyPr>
          <a:lstStyle/>
          <a:p>
            <a:pPr algn="l" indent="0" marL="0">
              <a:buNone/>
            </a:pPr>
            <a:r>
              <a:rPr lang="en-US" sz="950" dirty="0">
                <a:solidFill>
                  <a:srgbClr val="334155"/>
                </a:solidFill>
                <a:latin typeface="Inter Medium" pitchFamily="34" charset="0"/>
                <a:ea typeface="Inter Medium" pitchFamily="34" charset="-122"/>
                <a:cs typeface="Inter Medium" pitchFamily="34" charset="-120"/>
              </a:rPr>
              <a:t>Original Signup Date</a:t>
            </a:r>
            <a:endParaRPr lang="en-US" sz="950" dirty="0"/>
          </a:p>
        </p:txBody>
      </p:sp>
      <p:pic>
        <p:nvPicPr>
          <p:cNvPr id="13" name="Image 2" descr="preencoded.png">    </p:cNvPr>
          <p:cNvPicPr>
            <a:picLocks noChangeAspect="1"/>
          </p:cNvPicPr>
          <p:nvPr/>
        </p:nvPicPr>
        <p:blipFill>
          <a:blip r:embed="rId3"/>
          <a:stretch>
            <a:fillRect/>
          </a:stretch>
        </p:blipFill>
        <p:spPr>
          <a:xfrm>
            <a:off x="4550569" y="1575197"/>
            <a:ext cx="125016" cy="142875"/>
          </a:xfrm>
          <a:prstGeom prst="rect">
            <a:avLst/>
          </a:prstGeom>
        </p:spPr>
      </p:pic>
      <p:sp>
        <p:nvSpPr>
          <p:cNvPr id="14" name="Text 8"/>
          <p:cNvSpPr/>
          <p:nvPr/>
        </p:nvSpPr>
        <p:spPr>
          <a:xfrm>
            <a:off x="4789884" y="1568053"/>
            <a:ext cx="775097" cy="157163"/>
          </a:xfrm>
          <a:prstGeom prst="rect">
            <a:avLst/>
          </a:prstGeom>
          <a:noFill/>
          <a:ln/>
        </p:spPr>
        <p:txBody>
          <a:bodyPr wrap="none" lIns="0" tIns="0" rIns="0" bIns="0" rtlCol="0" anchor="t">
            <a:spAutoFit/>
          </a:bodyPr>
          <a:lstStyle/>
          <a:p>
            <a:pPr algn="l" indent="0" marL="0">
              <a:buNone/>
            </a:pPr>
            <a:r>
              <a:rPr lang="en-US" sz="950" dirty="0">
                <a:solidFill>
                  <a:srgbClr val="334155"/>
                </a:solidFill>
                <a:latin typeface="Inter Medium" pitchFamily="34" charset="0"/>
                <a:ea typeface="Inter Medium" pitchFamily="34" charset="-122"/>
                <a:cs typeface="Inter Medium" pitchFamily="34" charset="-120"/>
              </a:rPr>
              <a:t>Date of Birth</a:t>
            </a:r>
            <a:endParaRPr lang="en-US" sz="950" dirty="0"/>
          </a:p>
        </p:txBody>
      </p:sp>
      <p:pic>
        <p:nvPicPr>
          <p:cNvPr id="15" name="Image 3" descr="preencoded.png">    </p:cNvPr>
          <p:cNvPicPr>
            <a:picLocks noChangeAspect="1"/>
          </p:cNvPicPr>
          <p:nvPr/>
        </p:nvPicPr>
        <p:blipFill>
          <a:blip r:embed="rId4"/>
          <a:stretch>
            <a:fillRect/>
          </a:stretch>
        </p:blipFill>
        <p:spPr>
          <a:xfrm>
            <a:off x="4550569" y="1875234"/>
            <a:ext cx="142875" cy="142875"/>
          </a:xfrm>
          <a:prstGeom prst="rect">
            <a:avLst/>
          </a:prstGeom>
        </p:spPr>
      </p:pic>
      <p:sp>
        <p:nvSpPr>
          <p:cNvPr id="16" name="Text 9"/>
          <p:cNvSpPr/>
          <p:nvPr/>
        </p:nvSpPr>
        <p:spPr>
          <a:xfrm>
            <a:off x="4807744" y="1868091"/>
            <a:ext cx="1968103" cy="157163"/>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Inter Medium" pitchFamily="34" charset="0"/>
                <a:ea typeface="Inter Medium" pitchFamily="34" charset="-122"/>
                <a:cs typeface="Inter Medium" pitchFamily="34" charset="-120"/>
              </a:rPr>
              <a:t>First-Touch Acquisition Channel</a:t>
            </a:r>
            <a:endParaRPr lang="en-US" sz="950" dirty="0"/>
          </a:p>
        </p:txBody>
      </p:sp>
      <p:pic>
        <p:nvPicPr>
          <p:cNvPr id="17" name="Image 4" descr="preencoded.png">    </p:cNvPr>
          <p:cNvPicPr>
            <a:picLocks noChangeAspect="1"/>
          </p:cNvPicPr>
          <p:nvPr/>
        </p:nvPicPr>
        <p:blipFill>
          <a:blip r:embed="rId5"/>
          <a:stretch>
            <a:fillRect/>
          </a:stretch>
        </p:blipFill>
        <p:spPr>
          <a:xfrm>
            <a:off x="4550569" y="2175272"/>
            <a:ext cx="107156" cy="142875"/>
          </a:xfrm>
          <a:prstGeom prst="rect">
            <a:avLst/>
          </a:prstGeom>
        </p:spPr>
      </p:pic>
      <p:sp>
        <p:nvSpPr>
          <p:cNvPr id="18" name="Text 10"/>
          <p:cNvSpPr/>
          <p:nvPr/>
        </p:nvSpPr>
        <p:spPr>
          <a:xfrm>
            <a:off x="4772025" y="2168128"/>
            <a:ext cx="1832372" cy="157163"/>
          </a:xfrm>
          <a:prstGeom prst="rect">
            <a:avLst/>
          </a:prstGeom>
          <a:noFill/>
          <a:ln/>
        </p:spPr>
        <p:txBody>
          <a:bodyPr wrap="square" lIns="0" tIns="0" rIns="0" bIns="0" rtlCol="0" anchor="t">
            <a:spAutoFit/>
          </a:bodyPr>
          <a:lstStyle/>
          <a:p>
            <a:pPr algn="l" indent="0" marL="0">
              <a:buNone/>
            </a:pPr>
            <a:r>
              <a:rPr lang="en-US" sz="950" dirty="0">
                <a:solidFill>
                  <a:srgbClr val="334155"/>
                </a:solidFill>
                <a:latin typeface="Inter Medium" pitchFamily="34" charset="0"/>
                <a:ea typeface="Inter Medium" pitchFamily="34" charset="-122"/>
                <a:cs typeface="Inter Medium" pitchFamily="34" charset="-120"/>
              </a:rPr>
              <a:t>Credit Score at Loan Approval</a:t>
            </a:r>
            <a:endParaRPr lang="en-US" sz="950" dirty="0"/>
          </a:p>
        </p:txBody>
      </p:sp>
      <p:sp>
        <p:nvSpPr>
          <p:cNvPr id="19" name="Shape 11"/>
          <p:cNvSpPr/>
          <p:nvPr/>
        </p:nvSpPr>
        <p:spPr>
          <a:xfrm>
            <a:off x="4550569" y="2611041"/>
            <a:ext cx="4164806" cy="1102928"/>
          </a:xfrm>
          <a:prstGeom prst="rect">
            <a:avLst/>
          </a:prstGeom>
          <a:solidFill>
            <a:srgbClr val="FFFFFF"/>
          </a:solidFill>
          <a:ln/>
        </p:spPr>
      </p:sp>
      <p:sp>
        <p:nvSpPr>
          <p:cNvPr id="20" name="Shape 12"/>
          <p:cNvSpPr/>
          <p:nvPr/>
        </p:nvSpPr>
        <p:spPr>
          <a:xfrm>
            <a:off x="4550569" y="2611041"/>
            <a:ext cx="4164806" cy="28575"/>
          </a:xfrm>
          <a:prstGeom prst="rect">
            <a:avLst/>
          </a:prstGeom>
          <a:solidFill>
            <a:srgbClr val="059669"/>
          </a:solidFill>
          <a:ln/>
        </p:spPr>
      </p:sp>
      <p:sp>
        <p:nvSpPr>
          <p:cNvPr id="21" name="Text 13"/>
          <p:cNvSpPr/>
          <p:nvPr/>
        </p:nvSpPr>
        <p:spPr>
          <a:xfrm>
            <a:off x="4722019" y="2782491"/>
            <a:ext cx="3821906" cy="157163"/>
          </a:xfrm>
          <a:prstGeom prst="rect">
            <a:avLst/>
          </a:prstGeom>
          <a:noFill/>
          <a:ln/>
        </p:spPr>
        <p:txBody>
          <a:bodyPr wrap="square" lIns="0" tIns="0" rIns="0" bIns="0" rtlCol="0" anchor="t">
            <a:spAutoFit/>
          </a:bodyPr>
          <a:lstStyle/>
          <a:p>
            <a:pPr algn="l" indent="0" marL="0">
              <a:buNone/>
            </a:pPr>
            <a:r>
              <a:rPr lang="en-US" sz="900" b="1" spc="1" kern="0" dirty="0">
                <a:solidFill>
                  <a:srgbClr val="1E293B"/>
                </a:solidFill>
                <a:latin typeface="Inter Bold" pitchFamily="34" charset="0"/>
                <a:ea typeface="Inter Bold" pitchFamily="34" charset="-122"/>
                <a:cs typeface="Inter Bold" pitchFamily="34" charset="-120"/>
              </a:rPr>
              <a:t>THE GOLDEN RULE</a:t>
            </a:r>
            <a:endParaRPr lang="en-US" sz="900" dirty="0"/>
          </a:p>
        </p:txBody>
      </p:sp>
      <p:sp>
        <p:nvSpPr>
          <p:cNvPr id="22" name="Text 14"/>
          <p:cNvSpPr/>
          <p:nvPr/>
        </p:nvSpPr>
        <p:spPr>
          <a:xfrm>
            <a:off x="4722019" y="3068241"/>
            <a:ext cx="3821906"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If your source system changes it, your warehouse should </a:t>
            </a:r>
            <a:r>
              <a:rPr lang="en-US" sz="900" b="1" dirty="0">
                <a:solidFill>
                  <a:srgbClr val="475569"/>
                </a:solidFill>
                <a:latin typeface="Inter Bold" pitchFamily="34" charset="0"/>
                <a:ea typeface="Inter Bold" pitchFamily="34" charset="-122"/>
                <a:cs typeface="Inter Bold" pitchFamily="34" charset="-120"/>
              </a:rPr>
              <a:t>NOT</a:t>
            </a:r>
            <a:r>
              <a:rPr lang="en-US" sz="950" dirty="0">
                <a:solidFill>
                  <a:srgbClr val="475569"/>
                </a:solidFill>
                <a:latin typeface="Inter" pitchFamily="34" charset="0"/>
                <a:ea typeface="Inter" pitchFamily="34" charset="-122"/>
                <a:cs typeface="Inter" pitchFamily="34" charset="-120"/>
              </a:rPr>
              <a:t>. </a:t>
            </a:r>
            <a:r>
              <a:rPr lang="en-US" sz="950" dirty="0">
                <a:solidFill>
                  <a:srgbClr val="475569"/>
                </a:solidFill>
                <a:latin typeface="Inter" pitchFamily="34" charset="0"/>
                <a:ea typeface="Inter" pitchFamily="34" charset="-122"/>
                <a:cs typeface="Inter" pitchFamily="34" charset="-120"/>
              </a:rPr>
              <a:t>Some business questions only make sense with the original </a:t>
            </a:r>
            <a:r>
              <a:rPr lang="en-US" sz="950" dirty="0">
                <a:solidFill>
                  <a:srgbClr val="475569"/>
                </a:solidFill>
                <a:latin typeface="Inter" pitchFamily="34" charset="0"/>
                <a:ea typeface="Inter" pitchFamily="34" charset="-122"/>
                <a:cs typeface="Inter" pitchFamily="34" charset="-120"/>
              </a:rPr>
              <a:t>value.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4121944" cy="5086350"/>
          </a:xfrm>
          <a:prstGeom prst="rect">
            <a:avLst/>
          </a:prstGeom>
          <a:solidFill>
            <a:srgbClr val="F1F5F9"/>
          </a:solidFill>
          <a:ln/>
        </p:spPr>
      </p:sp>
      <p:sp>
        <p:nvSpPr>
          <p:cNvPr id="5" name="Text 1"/>
          <p:cNvSpPr/>
          <p:nvPr/>
        </p:nvSpPr>
        <p:spPr>
          <a:xfrm>
            <a:off x="428625" y="913228"/>
            <a:ext cx="3407569" cy="1234306"/>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SCD Type 1 - Update in Place, Lose the Past</a:t>
            </a:r>
            <a:endParaRPr lang="en-US" sz="2450" dirty="0"/>
          </a:p>
        </p:txBody>
      </p:sp>
      <p:sp>
        <p:nvSpPr>
          <p:cNvPr id="6" name="Text 2"/>
          <p:cNvSpPr/>
          <p:nvPr/>
        </p:nvSpPr>
        <p:spPr>
          <a:xfrm>
            <a:off x="428625" y="2318984"/>
            <a:ext cx="3407569" cy="719956"/>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59669"/>
                </a:solidFill>
                <a:latin typeface="Inter SemiBold" pitchFamily="34" charset="0"/>
                <a:ea typeface="Inter SemiBold" pitchFamily="34" charset="-122"/>
                <a:cs typeface="Inter SemiBold" pitchFamily="34" charset="-120"/>
              </a:rPr>
              <a:t>Type 1 is for corrections and non-analytical attributes where history is irrelevant.</a:t>
            </a:r>
            <a:endParaRPr lang="en-US" sz="1200" dirty="0"/>
          </a:p>
        </p:txBody>
      </p:sp>
      <p:sp>
        <p:nvSpPr>
          <p:cNvPr id="7" name="Text 3"/>
          <p:cNvSpPr/>
          <p:nvPr/>
        </p:nvSpPr>
        <p:spPr>
          <a:xfrm>
            <a:off x="428625" y="3324690"/>
            <a:ext cx="3407569" cy="175022"/>
          </a:xfrm>
          <a:prstGeom prst="rect">
            <a:avLst/>
          </a:prstGeom>
          <a:noFill/>
          <a:ln/>
        </p:spPr>
        <p:txBody>
          <a:bodyPr wrap="square" lIns="102108" tIns="0" rIns="0" bIns="0" rtlCol="0" anchor="t">
            <a:spAutoFit/>
          </a:bodyPr>
          <a:lstStyle/>
          <a:p>
            <a:pPr algn="l" indent="0" marL="0">
              <a:buNone/>
            </a:pPr>
            <a:r>
              <a:rPr lang="en-US" sz="1000" b="1" spc="1" kern="0" dirty="0">
                <a:solidFill>
                  <a:srgbClr val="1E293B"/>
                </a:solidFill>
                <a:latin typeface="Inter Bold" pitchFamily="34" charset="0"/>
                <a:ea typeface="Inter Bold" pitchFamily="34" charset="-122"/>
                <a:cs typeface="Inter Bold" pitchFamily="34" charset="-120"/>
              </a:rPr>
              <a:t>WHEN TO USE IT</a:t>
            </a:r>
            <a:endParaRPr lang="en-US" sz="1000" dirty="0"/>
          </a:p>
        </p:txBody>
      </p:sp>
      <p:pic>
        <p:nvPicPr>
          <p:cNvPr id="8" name="Image 1" descr="preencoded.png">    </p:cNvPr>
          <p:cNvPicPr>
            <a:picLocks noChangeAspect="1"/>
          </p:cNvPicPr>
          <p:nvPr/>
        </p:nvPicPr>
        <p:blipFill>
          <a:blip r:embed="rId2"/>
          <a:stretch>
            <a:fillRect/>
          </a:stretch>
        </p:blipFill>
        <p:spPr>
          <a:xfrm>
            <a:off x="428625" y="3614012"/>
            <a:ext cx="146447" cy="157163"/>
          </a:xfrm>
          <a:prstGeom prst="rect">
            <a:avLst/>
          </a:prstGeom>
        </p:spPr>
      </p:pic>
      <p:sp>
        <p:nvSpPr>
          <p:cNvPr id="9" name="Text 4"/>
          <p:cNvSpPr/>
          <p:nvPr/>
        </p:nvSpPr>
        <p:spPr>
          <a:xfrm>
            <a:off x="660797" y="3614012"/>
            <a:ext cx="3175397"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Corrections:</a:t>
            </a:r>
            <a:r>
              <a:rPr lang="en-US" sz="950" dirty="0">
                <a:solidFill>
                  <a:srgbClr val="475569"/>
                </a:solidFill>
                <a:latin typeface="Inter" pitchFamily="34" charset="0"/>
                <a:ea typeface="Inter" pitchFamily="34" charset="-122"/>
                <a:cs typeface="Inter" pitchFamily="34" charset="-120"/>
              </a:rPr>
              <a:t> Fixing a typo in a customer's name or </a:t>
            </a:r>
            <a:r>
              <a:rPr lang="en-US" sz="950" dirty="0">
                <a:solidFill>
                  <a:srgbClr val="475569"/>
                </a:solidFill>
                <a:latin typeface="Inter" pitchFamily="34" charset="0"/>
                <a:ea typeface="Inter" pitchFamily="34" charset="-122"/>
                <a:cs typeface="Inter" pitchFamily="34" charset="-120"/>
              </a:rPr>
              <a:t>address.</a:t>
            </a:r>
            <a:endParaRPr lang="en-US" sz="900" dirty="0"/>
          </a:p>
        </p:txBody>
      </p:sp>
      <p:pic>
        <p:nvPicPr>
          <p:cNvPr id="10" name="Image 2" descr="preencoded.png">    </p:cNvPr>
          <p:cNvPicPr>
            <a:picLocks noChangeAspect="1"/>
          </p:cNvPicPr>
          <p:nvPr/>
        </p:nvPicPr>
        <p:blipFill>
          <a:blip r:embed="rId3"/>
          <a:stretch>
            <a:fillRect/>
          </a:stretch>
        </p:blipFill>
        <p:spPr>
          <a:xfrm>
            <a:off x="428625" y="4114074"/>
            <a:ext cx="128588" cy="157163"/>
          </a:xfrm>
          <a:prstGeom prst="rect">
            <a:avLst/>
          </a:prstGeom>
        </p:spPr>
      </p:pic>
      <p:sp>
        <p:nvSpPr>
          <p:cNvPr id="11" name="Text 5"/>
          <p:cNvSpPr/>
          <p:nvPr/>
        </p:nvSpPr>
        <p:spPr>
          <a:xfrm>
            <a:off x="642938" y="4114074"/>
            <a:ext cx="319325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Non-Analytical:</a:t>
            </a:r>
            <a:r>
              <a:rPr lang="en-US" sz="950" dirty="0">
                <a:solidFill>
                  <a:srgbClr val="475569"/>
                </a:solidFill>
                <a:latin typeface="Inter" pitchFamily="34" charset="0"/>
                <a:ea typeface="Inter" pitchFamily="34" charset="-122"/>
                <a:cs typeface="Inter" pitchFamily="34" charset="-120"/>
              </a:rPr>
              <a:t> Updating a wrong phone number or </a:t>
            </a:r>
            <a:r>
              <a:rPr lang="en-US" sz="950" dirty="0">
                <a:solidFill>
                  <a:srgbClr val="475569"/>
                </a:solidFill>
                <a:latin typeface="Inter" pitchFamily="34" charset="0"/>
                <a:ea typeface="Inter" pitchFamily="34" charset="-122"/>
                <a:cs typeface="Inter" pitchFamily="34" charset="-120"/>
              </a:rPr>
              <a:t>email address.</a:t>
            </a:r>
            <a:endParaRPr lang="en-US" sz="900" dirty="0"/>
          </a:p>
        </p:txBody>
      </p:sp>
      <p:pic>
        <p:nvPicPr>
          <p:cNvPr id="12" name="Image 3" descr="preencoded.png">    </p:cNvPr>
          <p:cNvPicPr>
            <a:picLocks noChangeAspect="1"/>
          </p:cNvPicPr>
          <p:nvPr/>
        </p:nvPicPr>
        <p:blipFill>
          <a:blip r:embed="rId4"/>
          <a:stretch>
            <a:fillRect/>
          </a:stretch>
        </p:blipFill>
        <p:spPr>
          <a:xfrm>
            <a:off x="428625" y="4614137"/>
            <a:ext cx="128588" cy="157163"/>
          </a:xfrm>
          <a:prstGeom prst="rect">
            <a:avLst/>
          </a:prstGeom>
        </p:spPr>
      </p:pic>
      <p:sp>
        <p:nvSpPr>
          <p:cNvPr id="13" name="Text 6"/>
          <p:cNvSpPr/>
          <p:nvPr/>
        </p:nvSpPr>
        <p:spPr>
          <a:xfrm>
            <a:off x="642938" y="4614137"/>
            <a:ext cx="3193256"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Low Value:</a:t>
            </a:r>
            <a:r>
              <a:rPr lang="en-US" sz="950" dirty="0">
                <a:solidFill>
                  <a:srgbClr val="475569"/>
                </a:solidFill>
                <a:latin typeface="Inter" pitchFamily="34" charset="0"/>
                <a:ea typeface="Inter" pitchFamily="34" charset="-122"/>
                <a:cs typeface="Inter" pitchFamily="34" charset="-120"/>
              </a:rPr>
              <a:t> Attributes where history genuinely </a:t>
            </a:r>
            <a:r>
              <a:rPr lang="en-US" sz="950" dirty="0">
                <a:solidFill>
                  <a:srgbClr val="475569"/>
                </a:solidFill>
                <a:latin typeface="Inter" pitchFamily="34" charset="0"/>
                <a:ea typeface="Inter" pitchFamily="34" charset="-122"/>
                <a:cs typeface="Inter" pitchFamily="34" charset="-120"/>
              </a:rPr>
              <a:t>doesn't matter for trend analysis.</a:t>
            </a:r>
            <a:endParaRPr lang="en-US" sz="900" dirty="0"/>
          </a:p>
        </p:txBody>
      </p:sp>
      <p:sp>
        <p:nvSpPr>
          <p:cNvPr id="14" name="Text 7"/>
          <p:cNvSpPr/>
          <p:nvPr/>
        </p:nvSpPr>
        <p:spPr>
          <a:xfrm>
            <a:off x="4550569" y="628650"/>
            <a:ext cx="4164806" cy="175022"/>
          </a:xfrm>
          <a:prstGeom prst="rect">
            <a:avLst/>
          </a:prstGeom>
          <a:noFill/>
          <a:ln/>
        </p:spPr>
        <p:txBody>
          <a:bodyPr wrap="square" lIns="102108" tIns="0" rIns="0" bIns="0" rtlCol="0" anchor="t">
            <a:spAutoFit/>
          </a:bodyPr>
          <a:lstStyle/>
          <a:p>
            <a:pPr algn="l" indent="0" marL="0">
              <a:buNone/>
            </a:pPr>
            <a:r>
              <a:rPr lang="en-US" sz="1000" b="1" spc="1" kern="0" dirty="0">
                <a:solidFill>
                  <a:srgbClr val="1E293B"/>
                </a:solidFill>
                <a:latin typeface="Inter Bold" pitchFamily="34" charset="0"/>
                <a:ea typeface="Inter Bold" pitchFamily="34" charset="-122"/>
                <a:cs typeface="Inter Bold" pitchFamily="34" charset="-120"/>
              </a:rPr>
              <a:t>THE TRADE-OFF</a:t>
            </a:r>
            <a:endParaRPr lang="en-US" sz="1000" dirty="0"/>
          </a:p>
        </p:txBody>
      </p:sp>
      <p:sp>
        <p:nvSpPr>
          <p:cNvPr id="15" name="Text 8"/>
          <p:cNvSpPr/>
          <p:nvPr/>
        </p:nvSpPr>
        <p:spPr>
          <a:xfrm>
            <a:off x="4700588" y="1067991"/>
            <a:ext cx="1710928" cy="139303"/>
          </a:xfrm>
          <a:prstGeom prst="rect">
            <a:avLst/>
          </a:prstGeom>
          <a:noFill/>
          <a:ln/>
        </p:spPr>
        <p:txBody>
          <a:bodyPr wrap="square" lIns="0" tIns="0" rIns="0" bIns="0" rtlCol="0" anchor="t">
            <a:spAutoFit/>
          </a:bodyPr>
          <a:lstStyle/>
          <a:p>
            <a:pPr algn="l" indent="0" marL="0">
              <a:buNone/>
            </a:pPr>
            <a:r>
              <a:rPr lang="en-US" sz="800" b="1" dirty="0">
                <a:solidFill>
                  <a:srgbClr val="059669"/>
                </a:solidFill>
                <a:latin typeface="Inter Bold" pitchFamily="34" charset="0"/>
                <a:ea typeface="Inter Bold" pitchFamily="34" charset="-122"/>
                <a:cs typeface="Inter Bold" pitchFamily="34" charset="-120"/>
              </a:rPr>
              <a:t>PROS</a:t>
            </a:r>
            <a:endParaRPr lang="en-US" sz="800" dirty="0"/>
          </a:p>
        </p:txBody>
      </p:sp>
      <p:pic>
        <p:nvPicPr>
          <p:cNvPr id="16" name="Image 4" descr="preencoded.png">    </p:cNvPr>
          <p:cNvPicPr>
            <a:picLocks noChangeAspect="1"/>
          </p:cNvPicPr>
          <p:nvPr/>
        </p:nvPicPr>
        <p:blipFill>
          <a:blip r:embed="rId5"/>
          <a:stretch>
            <a:fillRect/>
          </a:stretch>
        </p:blipFill>
        <p:spPr>
          <a:xfrm>
            <a:off x="4700588" y="1293019"/>
            <a:ext cx="107156" cy="107156"/>
          </a:xfrm>
          <a:prstGeom prst="rect">
            <a:avLst/>
          </a:prstGeom>
        </p:spPr>
      </p:pic>
      <p:sp>
        <p:nvSpPr>
          <p:cNvPr id="17" name="Text 9"/>
          <p:cNvSpPr/>
          <p:nvPr/>
        </p:nvSpPr>
        <p:spPr>
          <a:xfrm>
            <a:off x="4864894" y="1293019"/>
            <a:ext cx="1014413"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Simple to implement</a:t>
            </a:r>
            <a:endParaRPr lang="en-US" sz="800" dirty="0"/>
          </a:p>
        </p:txBody>
      </p:sp>
      <p:pic>
        <p:nvPicPr>
          <p:cNvPr id="18" name="Image 5" descr="preencoded.png">    </p:cNvPr>
          <p:cNvPicPr>
            <a:picLocks noChangeAspect="1"/>
          </p:cNvPicPr>
          <p:nvPr/>
        </p:nvPicPr>
        <p:blipFill>
          <a:blip r:embed="rId6"/>
          <a:stretch>
            <a:fillRect/>
          </a:stretch>
        </p:blipFill>
        <p:spPr>
          <a:xfrm>
            <a:off x="4700588" y="1568053"/>
            <a:ext cx="107156" cy="107156"/>
          </a:xfrm>
          <a:prstGeom prst="rect">
            <a:avLst/>
          </a:prstGeom>
        </p:spPr>
      </p:pic>
      <p:sp>
        <p:nvSpPr>
          <p:cNvPr id="19" name="Text 10"/>
          <p:cNvSpPr/>
          <p:nvPr/>
        </p:nvSpPr>
        <p:spPr>
          <a:xfrm>
            <a:off x="4864894" y="1568053"/>
            <a:ext cx="1285875"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Maintains small table size</a:t>
            </a:r>
            <a:endParaRPr lang="en-US" sz="800" dirty="0"/>
          </a:p>
        </p:txBody>
      </p:sp>
      <p:pic>
        <p:nvPicPr>
          <p:cNvPr id="20" name="Image 6" descr="preencoded.png">    </p:cNvPr>
          <p:cNvPicPr>
            <a:picLocks noChangeAspect="1"/>
          </p:cNvPicPr>
          <p:nvPr/>
        </p:nvPicPr>
        <p:blipFill>
          <a:blip r:embed="rId7"/>
          <a:stretch>
            <a:fillRect/>
          </a:stretch>
        </p:blipFill>
        <p:spPr>
          <a:xfrm>
            <a:off x="4700588" y="1843088"/>
            <a:ext cx="107156" cy="107156"/>
          </a:xfrm>
          <a:prstGeom prst="rect">
            <a:avLst/>
          </a:prstGeom>
        </p:spPr>
      </p:pic>
      <p:sp>
        <p:nvSpPr>
          <p:cNvPr id="21" name="Text 11"/>
          <p:cNvSpPr/>
          <p:nvPr/>
        </p:nvSpPr>
        <p:spPr>
          <a:xfrm>
            <a:off x="4864894" y="1843088"/>
            <a:ext cx="1203722"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Fast query performance</a:t>
            </a:r>
            <a:endParaRPr lang="en-US" sz="800" dirty="0"/>
          </a:p>
        </p:txBody>
      </p:sp>
      <p:sp>
        <p:nvSpPr>
          <p:cNvPr id="22" name="Text 12"/>
          <p:cNvSpPr/>
          <p:nvPr/>
        </p:nvSpPr>
        <p:spPr>
          <a:xfrm>
            <a:off x="6854428" y="1067991"/>
            <a:ext cx="1710928" cy="139303"/>
          </a:xfrm>
          <a:prstGeom prst="rect">
            <a:avLst/>
          </a:prstGeom>
          <a:noFill/>
          <a:ln/>
        </p:spPr>
        <p:txBody>
          <a:bodyPr wrap="square" lIns="0" tIns="0" rIns="0" bIns="0" rtlCol="0" anchor="t">
            <a:spAutoFit/>
          </a:bodyPr>
          <a:lstStyle/>
          <a:p>
            <a:pPr algn="l" indent="0" marL="0">
              <a:buNone/>
            </a:pPr>
            <a:r>
              <a:rPr lang="en-US" sz="800" b="1" dirty="0">
                <a:solidFill>
                  <a:srgbClr val="EF4444"/>
                </a:solidFill>
                <a:latin typeface="Inter Bold" pitchFamily="34" charset="0"/>
                <a:ea typeface="Inter Bold" pitchFamily="34" charset="-122"/>
                <a:cs typeface="Inter Bold" pitchFamily="34" charset="-120"/>
              </a:rPr>
              <a:t>CONS</a:t>
            </a:r>
            <a:endParaRPr lang="en-US" sz="800" dirty="0"/>
          </a:p>
        </p:txBody>
      </p:sp>
      <p:pic>
        <p:nvPicPr>
          <p:cNvPr id="23" name="Image 7" descr="preencoded.png">    </p:cNvPr>
          <p:cNvPicPr>
            <a:picLocks noChangeAspect="1"/>
          </p:cNvPicPr>
          <p:nvPr/>
        </p:nvPicPr>
        <p:blipFill>
          <a:blip r:embed="rId8"/>
          <a:stretch>
            <a:fillRect/>
          </a:stretch>
        </p:blipFill>
        <p:spPr>
          <a:xfrm>
            <a:off x="6854428" y="1293019"/>
            <a:ext cx="67866" cy="107156"/>
          </a:xfrm>
          <a:prstGeom prst="rect">
            <a:avLst/>
          </a:prstGeom>
        </p:spPr>
      </p:pic>
      <p:sp>
        <p:nvSpPr>
          <p:cNvPr id="24" name="Text 13"/>
          <p:cNvSpPr/>
          <p:nvPr/>
        </p:nvSpPr>
        <p:spPr>
          <a:xfrm>
            <a:off x="6979444" y="1293019"/>
            <a:ext cx="1343025"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Destroys historical context</a:t>
            </a:r>
            <a:endParaRPr lang="en-US" sz="800" dirty="0"/>
          </a:p>
        </p:txBody>
      </p:sp>
      <p:pic>
        <p:nvPicPr>
          <p:cNvPr id="25" name="Image 8" descr="preencoded.png">    </p:cNvPr>
          <p:cNvPicPr>
            <a:picLocks noChangeAspect="1"/>
          </p:cNvPicPr>
          <p:nvPr/>
        </p:nvPicPr>
        <p:blipFill>
          <a:blip r:embed="rId9"/>
          <a:stretch>
            <a:fillRect/>
          </a:stretch>
        </p:blipFill>
        <p:spPr>
          <a:xfrm>
            <a:off x="6854428" y="1568053"/>
            <a:ext cx="67866" cy="107156"/>
          </a:xfrm>
          <a:prstGeom prst="rect">
            <a:avLst/>
          </a:prstGeom>
        </p:spPr>
      </p:pic>
      <p:sp>
        <p:nvSpPr>
          <p:cNvPr id="26" name="Text 14"/>
          <p:cNvSpPr/>
          <p:nvPr/>
        </p:nvSpPr>
        <p:spPr>
          <a:xfrm>
            <a:off x="6979444" y="1568053"/>
            <a:ext cx="1346597"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Silently re-maps past facts</a:t>
            </a:r>
            <a:endParaRPr lang="en-US" sz="800" dirty="0"/>
          </a:p>
        </p:txBody>
      </p:sp>
      <p:pic>
        <p:nvPicPr>
          <p:cNvPr id="27" name="Image 9" descr="preencoded.png">    </p:cNvPr>
          <p:cNvPicPr>
            <a:picLocks noChangeAspect="1"/>
          </p:cNvPicPr>
          <p:nvPr/>
        </p:nvPicPr>
        <p:blipFill>
          <a:blip r:embed="rId10"/>
          <a:stretch>
            <a:fillRect/>
          </a:stretch>
        </p:blipFill>
        <p:spPr>
          <a:xfrm>
            <a:off x="6854428" y="1843088"/>
            <a:ext cx="67866" cy="107156"/>
          </a:xfrm>
          <a:prstGeom prst="rect">
            <a:avLst/>
          </a:prstGeom>
        </p:spPr>
      </p:pic>
      <p:sp>
        <p:nvSpPr>
          <p:cNvPr id="28" name="Text 15"/>
          <p:cNvSpPr/>
          <p:nvPr/>
        </p:nvSpPr>
        <p:spPr>
          <a:xfrm>
            <a:off x="6979444" y="1843088"/>
            <a:ext cx="1232297" cy="160734"/>
          </a:xfrm>
          <a:prstGeom prst="rect">
            <a:avLst/>
          </a:prstGeom>
          <a:noFill/>
          <a:ln/>
        </p:spPr>
        <p:txBody>
          <a:bodyPr wrap="none" lIns="0" tIns="0" rIns="0" bIns="0" rtlCol="0" anchor="t">
            <a:spAutoFit/>
          </a:bodyPr>
          <a:lstStyle/>
          <a:p>
            <a:pPr algn="l" indent="0" marL="0">
              <a:lnSpc>
                <a:spcPct val="120000"/>
              </a:lnSpc>
              <a:buNone/>
            </a:pPr>
            <a:r>
              <a:rPr lang="en-US" sz="800" dirty="0">
                <a:solidFill>
                  <a:srgbClr val="475569"/>
                </a:solidFill>
                <a:latin typeface="Inter" pitchFamily="34" charset="0"/>
                <a:ea typeface="Inter" pitchFamily="34" charset="-122"/>
                <a:cs typeface="Inter" pitchFamily="34" charset="-120"/>
              </a:rPr>
              <a:t>No audit trail of changes</a:t>
            </a:r>
            <a:endParaRPr lang="en-US" sz="800" dirty="0"/>
          </a:p>
        </p:txBody>
      </p:sp>
      <p:sp>
        <p:nvSpPr>
          <p:cNvPr id="29" name="Shape 16"/>
          <p:cNvSpPr/>
          <p:nvPr/>
        </p:nvSpPr>
        <p:spPr>
          <a:xfrm>
            <a:off x="4550569" y="3586163"/>
            <a:ext cx="4164806" cy="1128713"/>
          </a:xfrm>
          <a:prstGeom prst="rect">
            <a:avLst/>
          </a:prstGeom>
          <a:solidFill>
            <a:srgbClr val="1E293B"/>
          </a:solidFill>
          <a:ln/>
        </p:spPr>
      </p:sp>
      <p:sp>
        <p:nvSpPr>
          <p:cNvPr id="30" name="Shape 17"/>
          <p:cNvSpPr/>
          <p:nvPr/>
        </p:nvSpPr>
        <p:spPr>
          <a:xfrm>
            <a:off x="4550569" y="3586163"/>
            <a:ext cx="57150" cy="1128713"/>
          </a:xfrm>
          <a:prstGeom prst="rect">
            <a:avLst/>
          </a:prstGeom>
          <a:solidFill>
            <a:srgbClr val="059669"/>
          </a:solidFill>
          <a:ln/>
        </p:spPr>
      </p:sp>
      <p:sp>
        <p:nvSpPr>
          <p:cNvPr id="31" name="Text 18"/>
          <p:cNvSpPr/>
          <p:nvPr/>
        </p:nvSpPr>
        <p:spPr>
          <a:xfrm>
            <a:off x="4764881" y="3757613"/>
            <a:ext cx="3736181" cy="121444"/>
          </a:xfrm>
          <a:prstGeom prst="rect">
            <a:avLst/>
          </a:prstGeom>
          <a:noFill/>
          <a:ln/>
        </p:spPr>
        <p:txBody>
          <a:bodyPr wrap="square" lIns="0" tIns="0" rIns="0" bIns="0" rtlCol="0" anchor="t">
            <a:spAutoFit/>
          </a:bodyPr>
          <a:lstStyle/>
          <a:p>
            <a:pPr algn="l" indent="0" marL="0">
              <a:buNone/>
            </a:pPr>
            <a:r>
              <a:rPr lang="en-US" sz="700" b="1" dirty="0">
                <a:solidFill>
                  <a:srgbClr val="059669"/>
                </a:solidFill>
                <a:latin typeface="Inter Bold" pitchFamily="34" charset="0"/>
                <a:ea typeface="Inter Bold" pitchFamily="34" charset="-122"/>
                <a:cs typeface="Inter Bold" pitchFamily="34" charset="-120"/>
              </a:rPr>
              <a:t>THE GOLDEN RULE</a:t>
            </a:r>
            <a:endParaRPr lang="en-US" sz="700" dirty="0"/>
          </a:p>
        </p:txBody>
      </p:sp>
      <p:sp>
        <p:nvSpPr>
          <p:cNvPr id="32" name="Text 19"/>
          <p:cNvSpPr/>
          <p:nvPr/>
        </p:nvSpPr>
        <p:spPr>
          <a:xfrm>
            <a:off x="4764881" y="4007644"/>
            <a:ext cx="3736181"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F8FAFC"/>
                </a:solidFill>
                <a:latin typeface="Inter" pitchFamily="34" charset="0"/>
                <a:ea typeface="Inter" pitchFamily="34" charset="-122"/>
                <a:cs typeface="Inter" pitchFamily="34" charset="-120"/>
              </a:rPr>
              <a:t>Never use Type 1 on an attribute your fact table analysis depends on for trend history (e.g., Region, Category, Price Tier).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4121944" cy="5086350"/>
          </a:xfrm>
          <a:prstGeom prst="rect">
            <a:avLst/>
          </a:prstGeom>
          <a:solidFill>
            <a:srgbClr val="F1F5F9"/>
          </a:solidFill>
          <a:ln/>
        </p:spPr>
      </p:sp>
      <p:sp>
        <p:nvSpPr>
          <p:cNvPr id="5" name="Text 1"/>
          <p:cNvSpPr/>
          <p:nvPr/>
        </p:nvSpPr>
        <p:spPr>
          <a:xfrm>
            <a:off x="428625" y="913228"/>
            <a:ext cx="3407569" cy="1234306"/>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SCD Type 2 - Preserve Every Version as History</a:t>
            </a:r>
            <a:endParaRPr lang="en-US" sz="2450" dirty="0"/>
          </a:p>
        </p:txBody>
      </p:sp>
      <p:sp>
        <p:nvSpPr>
          <p:cNvPr id="6" name="Text 2"/>
          <p:cNvSpPr/>
          <p:nvPr/>
        </p:nvSpPr>
        <p:spPr>
          <a:xfrm>
            <a:off x="428625" y="2318984"/>
            <a:ext cx="3407569" cy="479971"/>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59669"/>
                </a:solidFill>
                <a:latin typeface="Inter SemiBold" pitchFamily="34" charset="0"/>
                <a:ea typeface="Inter SemiBold" pitchFamily="34" charset="-122"/>
                <a:cs typeface="Inter SemiBold" pitchFamily="34" charset="-120"/>
              </a:rPr>
              <a:t>Type 2 is the gold standard for historical tracking in dimensional modeling.</a:t>
            </a:r>
            <a:endParaRPr lang="en-US" sz="1200" dirty="0"/>
          </a:p>
        </p:txBody>
      </p:sp>
      <p:sp>
        <p:nvSpPr>
          <p:cNvPr id="7" name="Text 3"/>
          <p:cNvSpPr/>
          <p:nvPr/>
        </p:nvSpPr>
        <p:spPr>
          <a:xfrm>
            <a:off x="428625" y="3413317"/>
            <a:ext cx="3407569"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When an attribute changes, don't touch the old row. Instead, insert a new row with the new value and mark which row is "current."</a:t>
            </a:r>
            <a:endParaRPr lang="en-US" sz="950" dirty="0"/>
          </a:p>
        </p:txBody>
      </p:sp>
      <p:sp>
        <p:nvSpPr>
          <p:cNvPr id="8" name="Text 4"/>
          <p:cNvSpPr/>
          <p:nvPr/>
        </p:nvSpPr>
        <p:spPr>
          <a:xfrm>
            <a:off x="428625" y="4173345"/>
            <a:ext cx="3407569"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475569"/>
                </a:solidFill>
                <a:latin typeface="Inter Bold" pitchFamily="34" charset="0"/>
                <a:ea typeface="Inter Bold" pitchFamily="34" charset="-122"/>
                <a:cs typeface="Inter Bold" pitchFamily="34" charset="-120"/>
              </a:rPr>
              <a:t>Why it Matters:</a:t>
            </a:r>
            <a:r>
              <a:rPr lang="en-US" sz="950" dirty="0">
                <a:solidFill>
                  <a:srgbClr val="475569"/>
                </a:solidFill>
                <a:latin typeface="Inter" pitchFamily="34" charset="0"/>
                <a:ea typeface="Inter" pitchFamily="34" charset="-122"/>
                <a:cs typeface="Inter" pitchFamily="34" charset="-120"/>
              </a:rPr>
              <a:t> Facts join to the version that was </a:t>
            </a:r>
            <a:r>
              <a:rPr lang="en-US" sz="950" dirty="0">
                <a:solidFill>
                  <a:srgbClr val="475569"/>
                </a:solidFill>
                <a:latin typeface="Inter" pitchFamily="34" charset="0"/>
                <a:ea typeface="Inter" pitchFamily="34" charset="-122"/>
                <a:cs typeface="Inter" pitchFamily="34" charset="-120"/>
              </a:rPr>
              <a:t>current at the time of the transaction, freezing history </a:t>
            </a:r>
            <a:r>
              <a:rPr lang="en-US" sz="950" dirty="0">
                <a:solidFill>
                  <a:srgbClr val="475569"/>
                </a:solidFill>
                <a:latin typeface="Inter" pitchFamily="34" charset="0"/>
                <a:ea typeface="Inter" pitchFamily="34" charset="-122"/>
                <a:cs typeface="Inter" pitchFamily="34" charset="-120"/>
              </a:rPr>
              <a:t>exactly as it happened.</a:t>
            </a:r>
            <a:endParaRPr lang="en-US" sz="900" dirty="0"/>
          </a:p>
        </p:txBody>
      </p:sp>
      <p:sp>
        <p:nvSpPr>
          <p:cNvPr id="9" name="Shape 5"/>
          <p:cNvSpPr/>
          <p:nvPr/>
        </p:nvSpPr>
        <p:spPr>
          <a:xfrm>
            <a:off x="4550569" y="628650"/>
            <a:ext cx="4164806" cy="2928938"/>
          </a:xfrm>
          <a:prstGeom prst="rect">
            <a:avLst/>
          </a:prstGeom>
          <a:solidFill>
            <a:srgbClr val="1E293B"/>
          </a:solidFill>
          <a:ln/>
        </p:spPr>
      </p:sp>
      <p:sp>
        <p:nvSpPr>
          <p:cNvPr id="10" name="Text 6"/>
          <p:cNvSpPr/>
          <p:nvPr/>
        </p:nvSpPr>
        <p:spPr>
          <a:xfrm>
            <a:off x="4764881" y="842963"/>
            <a:ext cx="3736181" cy="175022"/>
          </a:xfrm>
          <a:prstGeom prst="rect">
            <a:avLst/>
          </a:prstGeom>
          <a:noFill/>
          <a:ln/>
        </p:spPr>
        <p:txBody>
          <a:bodyPr wrap="square" lIns="0" tIns="0" rIns="0" bIns="0" rtlCol="0" anchor="t">
            <a:spAutoFit/>
          </a:bodyPr>
          <a:lstStyle/>
          <a:p>
            <a:pPr algn="l" indent="0" marL="0">
              <a:buNone/>
            </a:pPr>
            <a:r>
              <a:rPr lang="en-US" sz="1000" b="1" spc="1" kern="0" dirty="0">
                <a:solidFill>
                  <a:srgbClr val="059669"/>
                </a:solidFill>
                <a:latin typeface="Inter Bold" pitchFamily="34" charset="0"/>
                <a:ea typeface="Inter Bold" pitchFamily="34" charset="-122"/>
                <a:cs typeface="Inter Bold" pitchFamily="34" charset="-120"/>
              </a:rPr>
              <a:t>TYPE 2 TABLE STRUCTURE</a:t>
            </a:r>
            <a:endParaRPr lang="en-US" sz="1000" dirty="0"/>
          </a:p>
        </p:txBody>
      </p:sp>
      <p:pic>
        <p:nvPicPr>
          <p:cNvPr id="11" name="Image 1" descr="preencoded.png">    </p:cNvPr>
          <p:cNvPicPr>
            <a:picLocks noChangeAspect="1"/>
          </p:cNvPicPr>
          <p:nvPr/>
        </p:nvPicPr>
        <p:blipFill>
          <a:blip r:embed="rId2"/>
          <a:stretch>
            <a:fillRect/>
          </a:stretch>
        </p:blipFill>
        <p:spPr>
          <a:xfrm>
            <a:off x="4764881" y="1175147"/>
            <a:ext cx="142875" cy="128588"/>
          </a:xfrm>
          <a:prstGeom prst="rect">
            <a:avLst/>
          </a:prstGeom>
        </p:spPr>
      </p:pic>
      <p:sp>
        <p:nvSpPr>
          <p:cNvPr id="12" name="Text 7"/>
          <p:cNvSpPr/>
          <p:nvPr/>
        </p:nvSpPr>
        <p:spPr>
          <a:xfrm>
            <a:off x="5014913" y="1160859"/>
            <a:ext cx="850106"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customer_key</a:t>
            </a:r>
            <a:endParaRPr lang="en-US" sz="950" dirty="0"/>
          </a:p>
        </p:txBody>
      </p:sp>
      <p:sp>
        <p:nvSpPr>
          <p:cNvPr id="13" name="Shape 8"/>
          <p:cNvSpPr/>
          <p:nvPr/>
        </p:nvSpPr>
        <p:spPr>
          <a:xfrm>
            <a:off x="5936456" y="1173361"/>
            <a:ext cx="757238" cy="132159"/>
          </a:xfrm>
          <a:prstGeom prst="rect">
            <a:avLst/>
          </a:prstGeom>
          <a:solidFill>
            <a:srgbClr val="334155"/>
          </a:solidFill>
          <a:ln/>
        </p:spPr>
      </p:sp>
      <p:sp>
        <p:nvSpPr>
          <p:cNvPr id="14" name="Text 9"/>
          <p:cNvSpPr/>
          <p:nvPr/>
        </p:nvSpPr>
        <p:spPr>
          <a:xfrm>
            <a:off x="5936456" y="1173361"/>
            <a:ext cx="757238" cy="132159"/>
          </a:xfrm>
          <a:prstGeom prst="rect">
            <a:avLst/>
          </a:prstGeom>
          <a:noFill/>
          <a:ln/>
        </p:spPr>
        <p:txBody>
          <a:bodyPr wrap="none" lIns="51054" tIns="17018" rIns="51054" bIns="17018" rtlCol="0" anchor="t">
            <a:spAutoFit/>
          </a:bodyPr>
          <a:lstStyle/>
          <a:p>
            <a:pPr algn="l" indent="0" marL="0">
              <a:buNone/>
            </a:pPr>
            <a:r>
              <a:rPr lang="en-US" sz="600" b="1" dirty="0">
                <a:solidFill>
                  <a:srgbClr val="94A3B8"/>
                </a:solidFill>
                <a:latin typeface="Inter Bold" pitchFamily="34" charset="0"/>
                <a:ea typeface="Inter Bold" pitchFamily="34" charset="-122"/>
                <a:cs typeface="Inter Bold" pitchFamily="34" charset="-120"/>
              </a:rPr>
              <a:t>SURROGATE PK</a:t>
            </a:r>
            <a:endParaRPr lang="en-US" sz="600" dirty="0"/>
          </a:p>
        </p:txBody>
      </p:sp>
      <p:pic>
        <p:nvPicPr>
          <p:cNvPr id="15" name="Image 2" descr="preencoded.png">    </p:cNvPr>
          <p:cNvPicPr>
            <a:picLocks noChangeAspect="1"/>
          </p:cNvPicPr>
          <p:nvPr/>
        </p:nvPicPr>
        <p:blipFill>
          <a:blip r:embed="rId3"/>
          <a:stretch>
            <a:fillRect/>
          </a:stretch>
        </p:blipFill>
        <p:spPr>
          <a:xfrm>
            <a:off x="4764881" y="1418034"/>
            <a:ext cx="142875" cy="128588"/>
          </a:xfrm>
          <a:prstGeom prst="rect">
            <a:avLst/>
          </a:prstGeom>
        </p:spPr>
      </p:pic>
      <p:sp>
        <p:nvSpPr>
          <p:cNvPr id="16" name="Text 10"/>
          <p:cNvSpPr/>
          <p:nvPr/>
        </p:nvSpPr>
        <p:spPr>
          <a:xfrm>
            <a:off x="5014913" y="1403747"/>
            <a:ext cx="750094"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customer_id</a:t>
            </a:r>
            <a:endParaRPr lang="en-US" sz="950" dirty="0"/>
          </a:p>
        </p:txBody>
      </p:sp>
      <p:sp>
        <p:nvSpPr>
          <p:cNvPr id="17" name="Shape 11"/>
          <p:cNvSpPr/>
          <p:nvPr/>
        </p:nvSpPr>
        <p:spPr>
          <a:xfrm>
            <a:off x="5836444" y="1416248"/>
            <a:ext cx="700088" cy="132159"/>
          </a:xfrm>
          <a:prstGeom prst="rect">
            <a:avLst/>
          </a:prstGeom>
          <a:solidFill>
            <a:srgbClr val="334155"/>
          </a:solidFill>
          <a:ln/>
        </p:spPr>
      </p:sp>
      <p:sp>
        <p:nvSpPr>
          <p:cNvPr id="18" name="Text 12"/>
          <p:cNvSpPr/>
          <p:nvPr/>
        </p:nvSpPr>
        <p:spPr>
          <a:xfrm>
            <a:off x="5836444" y="1416248"/>
            <a:ext cx="700088" cy="132159"/>
          </a:xfrm>
          <a:prstGeom prst="rect">
            <a:avLst/>
          </a:prstGeom>
          <a:noFill/>
          <a:ln/>
        </p:spPr>
        <p:txBody>
          <a:bodyPr wrap="none" lIns="51054" tIns="17018" rIns="51054" bIns="17018" rtlCol="0" anchor="t">
            <a:spAutoFit/>
          </a:bodyPr>
          <a:lstStyle/>
          <a:p>
            <a:pPr algn="l" indent="0" marL="0">
              <a:buNone/>
            </a:pPr>
            <a:r>
              <a:rPr lang="en-US" sz="600" b="1" dirty="0">
                <a:solidFill>
                  <a:srgbClr val="94A3B8"/>
                </a:solidFill>
                <a:latin typeface="Inter Bold" pitchFamily="34" charset="0"/>
                <a:ea typeface="Inter Bold" pitchFamily="34" charset="-122"/>
                <a:cs typeface="Inter Bold" pitchFamily="34" charset="-120"/>
              </a:rPr>
              <a:t>NATURAL KEY</a:t>
            </a:r>
            <a:endParaRPr lang="en-US" sz="600" dirty="0"/>
          </a:p>
        </p:txBody>
      </p:sp>
      <p:pic>
        <p:nvPicPr>
          <p:cNvPr id="19" name="Image 3" descr="preencoded.png">    </p:cNvPr>
          <p:cNvPicPr>
            <a:picLocks noChangeAspect="1"/>
          </p:cNvPicPr>
          <p:nvPr/>
        </p:nvPicPr>
        <p:blipFill>
          <a:blip r:embed="rId4"/>
          <a:stretch>
            <a:fillRect/>
          </a:stretch>
        </p:blipFill>
        <p:spPr>
          <a:xfrm>
            <a:off x="4764881" y="1660922"/>
            <a:ext cx="142875" cy="128588"/>
          </a:xfrm>
          <a:prstGeom prst="rect">
            <a:avLst/>
          </a:prstGeom>
        </p:spPr>
      </p:pic>
      <p:sp>
        <p:nvSpPr>
          <p:cNvPr id="20" name="Text 13"/>
          <p:cNvSpPr/>
          <p:nvPr/>
        </p:nvSpPr>
        <p:spPr>
          <a:xfrm>
            <a:off x="5014913" y="1646634"/>
            <a:ext cx="1239441"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city, tier, attributes...</a:t>
            </a:r>
            <a:endParaRPr lang="en-US" sz="950" dirty="0"/>
          </a:p>
        </p:txBody>
      </p:sp>
      <p:pic>
        <p:nvPicPr>
          <p:cNvPr id="21" name="Image 4" descr="preencoded.png">    </p:cNvPr>
          <p:cNvPicPr>
            <a:picLocks noChangeAspect="1"/>
          </p:cNvPicPr>
          <p:nvPr/>
        </p:nvPicPr>
        <p:blipFill>
          <a:blip r:embed="rId5"/>
          <a:stretch>
            <a:fillRect/>
          </a:stretch>
        </p:blipFill>
        <p:spPr>
          <a:xfrm>
            <a:off x="4764881" y="1903809"/>
            <a:ext cx="142875" cy="128588"/>
          </a:xfrm>
          <a:prstGeom prst="rect">
            <a:avLst/>
          </a:prstGeom>
        </p:spPr>
      </p:pic>
      <p:sp>
        <p:nvSpPr>
          <p:cNvPr id="22" name="Text 14"/>
          <p:cNvSpPr/>
          <p:nvPr/>
        </p:nvSpPr>
        <p:spPr>
          <a:xfrm>
            <a:off x="5014913" y="1889522"/>
            <a:ext cx="1189434"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effective_start_date</a:t>
            </a:r>
            <a:endParaRPr lang="en-US" sz="950" dirty="0"/>
          </a:p>
        </p:txBody>
      </p:sp>
      <p:pic>
        <p:nvPicPr>
          <p:cNvPr id="23" name="Image 5" descr="preencoded.png">    </p:cNvPr>
          <p:cNvPicPr>
            <a:picLocks noChangeAspect="1"/>
          </p:cNvPicPr>
          <p:nvPr/>
        </p:nvPicPr>
        <p:blipFill>
          <a:blip r:embed="rId6"/>
          <a:stretch>
            <a:fillRect/>
          </a:stretch>
        </p:blipFill>
        <p:spPr>
          <a:xfrm>
            <a:off x="4764881" y="2146697"/>
            <a:ext cx="142875" cy="128588"/>
          </a:xfrm>
          <a:prstGeom prst="rect">
            <a:avLst/>
          </a:prstGeom>
        </p:spPr>
      </p:pic>
      <p:sp>
        <p:nvSpPr>
          <p:cNvPr id="24" name="Text 15"/>
          <p:cNvSpPr/>
          <p:nvPr/>
        </p:nvSpPr>
        <p:spPr>
          <a:xfrm>
            <a:off x="5014913" y="2132409"/>
            <a:ext cx="1139428"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effective_end_date</a:t>
            </a:r>
            <a:endParaRPr lang="en-US" sz="950" dirty="0"/>
          </a:p>
        </p:txBody>
      </p:sp>
      <p:pic>
        <p:nvPicPr>
          <p:cNvPr id="25" name="Image 6" descr="preencoded.png">    </p:cNvPr>
          <p:cNvPicPr>
            <a:picLocks noChangeAspect="1"/>
          </p:cNvPicPr>
          <p:nvPr/>
        </p:nvPicPr>
        <p:blipFill>
          <a:blip r:embed="rId7"/>
          <a:stretch>
            <a:fillRect/>
          </a:stretch>
        </p:blipFill>
        <p:spPr>
          <a:xfrm>
            <a:off x="4764881" y="2389584"/>
            <a:ext cx="142875" cy="128588"/>
          </a:xfrm>
          <a:prstGeom prst="rect">
            <a:avLst/>
          </a:prstGeom>
        </p:spPr>
      </p:pic>
      <p:sp>
        <p:nvSpPr>
          <p:cNvPr id="26" name="Text 16"/>
          <p:cNvSpPr/>
          <p:nvPr/>
        </p:nvSpPr>
        <p:spPr>
          <a:xfrm>
            <a:off x="5014913" y="2375297"/>
            <a:ext cx="600075" cy="157163"/>
          </a:xfrm>
          <a:prstGeom prst="rect">
            <a:avLst/>
          </a:prstGeom>
          <a:noFill/>
          <a:ln/>
        </p:spPr>
        <p:txBody>
          <a:bodyPr wrap="none" lIns="0" tIns="0" rIns="0" bIns="0" rtlCol="0" anchor="t">
            <a:spAutoFit/>
          </a:bodyPr>
          <a:lstStyle/>
          <a:p>
            <a:pPr algn="l" indent="0" marL="0">
              <a:buNone/>
            </a:pPr>
            <a:r>
              <a:rPr lang="en-US" sz="950" dirty="0">
                <a:solidFill>
                  <a:srgbClr val="F8FAFC"/>
                </a:solidFill>
                <a:latin typeface="Inter" pitchFamily="34" charset="0"/>
                <a:ea typeface="Inter" pitchFamily="34" charset="-122"/>
                <a:cs typeface="Inter" pitchFamily="34" charset="-120"/>
              </a:rPr>
              <a:t>is_current</a:t>
            </a:r>
            <a:endParaRPr lang="en-US" sz="950" dirty="0"/>
          </a:p>
        </p:txBody>
      </p:sp>
      <p:sp>
        <p:nvSpPr>
          <p:cNvPr id="27" name="Shape 17"/>
          <p:cNvSpPr/>
          <p:nvPr/>
        </p:nvSpPr>
        <p:spPr>
          <a:xfrm>
            <a:off x="5686425" y="2387798"/>
            <a:ext cx="510778" cy="132159"/>
          </a:xfrm>
          <a:prstGeom prst="rect">
            <a:avLst/>
          </a:prstGeom>
          <a:solidFill>
            <a:srgbClr val="334155"/>
          </a:solidFill>
          <a:ln/>
        </p:spPr>
      </p:sp>
      <p:sp>
        <p:nvSpPr>
          <p:cNvPr id="28" name="Text 18"/>
          <p:cNvSpPr/>
          <p:nvPr/>
        </p:nvSpPr>
        <p:spPr>
          <a:xfrm>
            <a:off x="5686425" y="2387798"/>
            <a:ext cx="510778" cy="132159"/>
          </a:xfrm>
          <a:prstGeom prst="rect">
            <a:avLst/>
          </a:prstGeom>
          <a:noFill/>
          <a:ln/>
        </p:spPr>
        <p:txBody>
          <a:bodyPr wrap="none" lIns="51054" tIns="17018" rIns="51054" bIns="17018" rtlCol="0" anchor="t">
            <a:spAutoFit/>
          </a:bodyPr>
          <a:lstStyle/>
          <a:p>
            <a:pPr algn="l" indent="0" marL="0">
              <a:buNone/>
            </a:pPr>
            <a:r>
              <a:rPr lang="en-US" sz="600" b="1" dirty="0">
                <a:solidFill>
                  <a:srgbClr val="94A3B8"/>
                </a:solidFill>
                <a:latin typeface="Inter Bold" pitchFamily="34" charset="0"/>
                <a:ea typeface="Inter Bold" pitchFamily="34" charset="-122"/>
                <a:cs typeface="Inter Bold" pitchFamily="34" charset="-120"/>
              </a:rPr>
              <a:t>BOOLEAN</a:t>
            </a:r>
            <a:endParaRPr lang="en-US" sz="600" dirty="0"/>
          </a:p>
        </p:txBody>
      </p:sp>
      <p:sp>
        <p:nvSpPr>
          <p:cNvPr id="29" name="Text 19"/>
          <p:cNvSpPr/>
          <p:nvPr/>
        </p:nvSpPr>
        <p:spPr>
          <a:xfrm>
            <a:off x="4722019" y="3771900"/>
            <a:ext cx="3993356"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Surrogate Key ≠ Natural Key</a:t>
            </a:r>
            <a:endParaRPr lang="en-US" sz="900" dirty="0"/>
          </a:p>
        </p:txBody>
      </p:sp>
      <p:sp>
        <p:nvSpPr>
          <p:cNvPr id="30" name="Text 20"/>
          <p:cNvSpPr/>
          <p:nvPr/>
        </p:nvSpPr>
        <p:spPr>
          <a:xfrm>
            <a:off x="4722019" y="4043363"/>
            <a:ext cx="3993356"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The natural key ties versions together; the surrogate key makes each version a unique, joinable row for the fact table.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4121944" cy="5086350"/>
          </a:xfrm>
          <a:prstGeom prst="rect">
            <a:avLst/>
          </a:prstGeom>
          <a:solidFill>
            <a:srgbClr val="1E293B"/>
          </a:solidFill>
          <a:ln/>
        </p:spPr>
      </p:sp>
      <p:sp>
        <p:nvSpPr>
          <p:cNvPr id="5" name="Text 1"/>
          <p:cNvSpPr/>
          <p:nvPr/>
        </p:nvSpPr>
        <p:spPr>
          <a:xfrm>
            <a:off x="-357187" y="2286000"/>
            <a:ext cx="1785938" cy="3571875"/>
          </a:xfrm>
          <a:prstGeom prst="rect">
            <a:avLst/>
          </a:prstGeom>
          <a:noFill/>
          <a:ln/>
        </p:spPr>
        <p:txBody>
          <a:bodyPr wrap="none" lIns="0" tIns="0" rIns="0" bIns="0" rtlCol="0" anchor="t">
            <a:spAutoFit/>
          </a:bodyPr>
          <a:lstStyle/>
          <a:p>
            <a:pPr algn="l" indent="0" marL="0">
              <a:lnSpc>
                <a:spcPct val="80000"/>
              </a:lnSpc>
              <a:buNone/>
            </a:pPr>
            <a:r>
              <a:rPr lang="en-US" sz="25900" b="1" dirty="0">
                <a:solidFill>
                  <a:srgbClr val="059669">
                    <a:alpha val="10000"/>
                  </a:srgbClr>
                </a:solidFill>
                <a:latin typeface="Playfair Display ExtraBold" pitchFamily="34" charset="0"/>
                <a:ea typeface="Playfair Display ExtraBold" pitchFamily="34" charset="-122"/>
                <a:cs typeface="Playfair Display ExtraBold" pitchFamily="34" charset="-120"/>
              </a:rPr>
              <a:t>3</a:t>
            </a:r>
            <a:endParaRPr lang="en-US" sz="25900" dirty="0"/>
          </a:p>
        </p:txBody>
      </p:sp>
      <p:sp>
        <p:nvSpPr>
          <p:cNvPr id="6" name="Text 2"/>
          <p:cNvSpPr/>
          <p:nvPr/>
        </p:nvSpPr>
        <p:spPr>
          <a:xfrm>
            <a:off x="428625" y="913228"/>
            <a:ext cx="3407569" cy="822871"/>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F8FAFC"/>
                </a:solidFill>
                <a:latin typeface="Playfair Display ExtraBold" pitchFamily="34" charset="0"/>
                <a:ea typeface="Playfair Display ExtraBold" pitchFamily="34" charset="-122"/>
                <a:cs typeface="Playfair Display ExtraBold" pitchFamily="34" charset="-120"/>
              </a:rPr>
              <a:t>Type 3 - Track the Previous Value</a:t>
            </a:r>
            <a:endParaRPr lang="en-US" sz="2450" dirty="0"/>
          </a:p>
        </p:txBody>
      </p:sp>
      <p:sp>
        <p:nvSpPr>
          <p:cNvPr id="7" name="Text 3"/>
          <p:cNvSpPr/>
          <p:nvPr/>
        </p:nvSpPr>
        <p:spPr>
          <a:xfrm>
            <a:off x="428625" y="1907549"/>
            <a:ext cx="3407569" cy="479971"/>
          </a:xfrm>
          <a:prstGeom prst="rect">
            <a:avLst/>
          </a:prstGeom>
          <a:noFill/>
          <a:ln/>
        </p:spPr>
        <p:txBody>
          <a:bodyPr wrap="square" lIns="0" tIns="0" rIns="0" bIns="0" rtlCol="0" anchor="t">
            <a:spAutoFit/>
          </a:bodyPr>
          <a:lstStyle/>
          <a:p>
            <a:pPr algn="l" indent="0" marL="0">
              <a:lnSpc>
                <a:spcPct val="112000"/>
              </a:lnSpc>
              <a:buNone/>
            </a:pPr>
            <a:r>
              <a:rPr lang="en-US" sz="1200" b="1" dirty="0">
                <a:solidFill>
                  <a:srgbClr val="059669"/>
                </a:solidFill>
                <a:latin typeface="Inter SemiBold" pitchFamily="34" charset="0"/>
                <a:ea typeface="Inter SemiBold" pitchFamily="34" charset="-122"/>
                <a:cs typeface="Inter SemiBold" pitchFamily="34" charset="-120"/>
              </a:rPr>
              <a:t>Lightweight tracking for a single transition without row growth.</a:t>
            </a:r>
            <a:endParaRPr lang="en-US" sz="1200" dirty="0"/>
          </a:p>
        </p:txBody>
      </p:sp>
      <p:sp>
        <p:nvSpPr>
          <p:cNvPr id="8" name="Text 4"/>
          <p:cNvSpPr/>
          <p:nvPr/>
        </p:nvSpPr>
        <p:spPr>
          <a:xfrm>
            <a:off x="428625" y="2673269"/>
            <a:ext cx="3407569"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F8FAFC"/>
                </a:solidFill>
                <a:latin typeface="Inter" pitchFamily="34" charset="0"/>
                <a:ea typeface="Inter" pitchFamily="34" charset="-122"/>
                <a:cs typeface="Inter" pitchFamily="34" charset="-120"/>
              </a:rPr>
              <a:t>When an attribute changes, keep the current value in its column and push the old value into a new "previous" column. One row, no growth.</a:t>
            </a:r>
            <a:endParaRPr lang="en-US" sz="950" dirty="0"/>
          </a:p>
        </p:txBody>
      </p:sp>
      <p:sp>
        <p:nvSpPr>
          <p:cNvPr id="9" name="Shape 5"/>
          <p:cNvSpPr/>
          <p:nvPr/>
        </p:nvSpPr>
        <p:spPr>
          <a:xfrm>
            <a:off x="428625" y="3576172"/>
            <a:ext cx="3407569" cy="910828"/>
          </a:xfrm>
          <a:prstGeom prst="rect">
            <a:avLst/>
          </a:prstGeom>
          <a:solidFill>
            <a:srgbClr val="FEF2F2"/>
          </a:solidFill>
          <a:ln/>
        </p:spPr>
      </p:sp>
      <p:sp>
        <p:nvSpPr>
          <p:cNvPr id="10" name="Shape 6"/>
          <p:cNvSpPr/>
          <p:nvPr/>
        </p:nvSpPr>
        <p:spPr>
          <a:xfrm>
            <a:off x="428625" y="3576172"/>
            <a:ext cx="28575" cy="910828"/>
          </a:xfrm>
          <a:prstGeom prst="rect">
            <a:avLst/>
          </a:prstGeom>
          <a:solidFill>
            <a:srgbClr val="EF4444"/>
          </a:solidFill>
          <a:ln/>
        </p:spPr>
      </p:sp>
      <p:sp>
        <p:nvSpPr>
          <p:cNvPr id="11" name="Text 7"/>
          <p:cNvSpPr/>
          <p:nvPr/>
        </p:nvSpPr>
        <p:spPr>
          <a:xfrm>
            <a:off x="600075" y="3719047"/>
            <a:ext cx="3064669" cy="139303"/>
          </a:xfrm>
          <a:prstGeom prst="rect">
            <a:avLst/>
          </a:prstGeom>
          <a:noFill/>
          <a:ln/>
        </p:spPr>
        <p:txBody>
          <a:bodyPr wrap="square" lIns="0" tIns="0" rIns="0" bIns="0" rtlCol="0" anchor="t">
            <a:spAutoFit/>
          </a:bodyPr>
          <a:lstStyle/>
          <a:p>
            <a:pPr algn="l" indent="0" marL="0">
              <a:buNone/>
            </a:pPr>
            <a:r>
              <a:rPr lang="en-US" sz="800" b="1" dirty="0">
                <a:solidFill>
                  <a:srgbClr val="7F1D1D"/>
                </a:solidFill>
                <a:latin typeface="Inter Bold" pitchFamily="34" charset="0"/>
                <a:ea typeface="Inter Bold" pitchFamily="34" charset="-122"/>
                <a:cs typeface="Inter Bold" pitchFamily="34" charset="-120"/>
              </a:rPr>
              <a:t>THE CONSTRAINT</a:t>
            </a:r>
            <a:endParaRPr lang="en-US" sz="800" dirty="0"/>
          </a:p>
        </p:txBody>
      </p:sp>
      <p:sp>
        <p:nvSpPr>
          <p:cNvPr id="12" name="Text 8"/>
          <p:cNvSpPr/>
          <p:nvPr/>
        </p:nvSpPr>
        <p:spPr>
          <a:xfrm>
            <a:off x="600075" y="3972651"/>
            <a:ext cx="3064669"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7F1D1D"/>
                </a:solidFill>
                <a:latin typeface="Inter" pitchFamily="34" charset="0"/>
                <a:ea typeface="Inter" pitchFamily="34" charset="-122"/>
                <a:cs typeface="Inter" pitchFamily="34" charset="-120"/>
              </a:rPr>
              <a:t>Only remembers </a:t>
            </a:r>
            <a:r>
              <a:rPr lang="en-US" sz="800" b="1" dirty="0">
                <a:solidFill>
                  <a:srgbClr val="7F1D1D"/>
                </a:solidFill>
                <a:latin typeface="Inter Bold" pitchFamily="34" charset="0"/>
                <a:ea typeface="Inter Bold" pitchFamily="34" charset="-122"/>
                <a:cs typeface="Inter Bold" pitchFamily="34" charset="-120"/>
              </a:rPr>
              <a:t>one step back</a:t>
            </a:r>
            <a:r>
              <a:rPr lang="en-US" sz="850" dirty="0">
                <a:solidFill>
                  <a:srgbClr val="7F1D1D"/>
                </a:solidFill>
                <a:latin typeface="Inter" pitchFamily="34" charset="0"/>
                <a:ea typeface="Inter" pitchFamily="34" charset="-122"/>
                <a:cs typeface="Inter" pitchFamily="34" charset="-120"/>
              </a:rPr>
              <a:t>. A second change </a:t>
            </a:r>
            <a:r>
              <a:rPr lang="en-US" sz="850" dirty="0">
                <a:solidFill>
                  <a:srgbClr val="7F1D1D"/>
                </a:solidFill>
                <a:latin typeface="Inter" pitchFamily="34" charset="0"/>
                <a:ea typeface="Inter" pitchFamily="34" charset="-122"/>
                <a:cs typeface="Inter" pitchFamily="34" charset="-120"/>
              </a:rPr>
              <a:t>overwrites the "previous" value - the first-ever value is </a:t>
            </a:r>
            <a:r>
              <a:rPr lang="en-US" sz="850" dirty="0">
                <a:solidFill>
                  <a:srgbClr val="7F1D1D"/>
                </a:solidFill>
                <a:latin typeface="Inter" pitchFamily="34" charset="0"/>
                <a:ea typeface="Inter" pitchFamily="34" charset="-122"/>
                <a:cs typeface="Inter" pitchFamily="34" charset="-120"/>
              </a:rPr>
              <a:t>gone.</a:t>
            </a:r>
            <a:endParaRPr lang="en-US" sz="850" dirty="0"/>
          </a:p>
        </p:txBody>
      </p:sp>
      <p:sp>
        <p:nvSpPr>
          <p:cNvPr id="13" name="Shape 9"/>
          <p:cNvSpPr/>
          <p:nvPr/>
        </p:nvSpPr>
        <p:spPr>
          <a:xfrm>
            <a:off x="4121944" y="57150"/>
            <a:ext cx="5022056" cy="5086350"/>
          </a:xfrm>
          <a:prstGeom prst="rect">
            <a:avLst/>
          </a:prstGeom>
          <a:solidFill>
            <a:srgbClr val="F1F5F9"/>
          </a:solidFill>
          <a:ln/>
        </p:spPr>
      </p:sp>
      <p:sp>
        <p:nvSpPr>
          <p:cNvPr id="14" name="Text 10"/>
          <p:cNvSpPr/>
          <p:nvPr/>
        </p:nvSpPr>
        <p:spPr>
          <a:xfrm>
            <a:off x="4550569" y="828675"/>
            <a:ext cx="4164806" cy="267891"/>
          </a:xfrm>
          <a:prstGeom prst="rect">
            <a:avLst/>
          </a:prstGeom>
          <a:noFill/>
          <a:ln/>
        </p:spPr>
        <p:txBody>
          <a:bodyPr wrap="square" lIns="0" tIns="0" rIns="0" bIns="0" rtlCol="0" anchor="t">
            <a:spAutoFit/>
          </a:bodyPr>
          <a:lstStyle/>
          <a:p>
            <a:pPr algn="l" indent="0" marL="0">
              <a:buNone/>
            </a:pPr>
            <a:r>
              <a:rPr lang="en-US" sz="1400" b="1" dirty="0">
                <a:solidFill>
                  <a:srgbClr val="1E293B"/>
                </a:solidFill>
                <a:latin typeface="Playfair Display ExtraBold" pitchFamily="34" charset="0"/>
                <a:ea typeface="Playfair Display ExtraBold" pitchFamily="34" charset="-122"/>
                <a:cs typeface="Playfair Display ExtraBold" pitchFamily="34" charset="-120"/>
              </a:rPr>
              <a:t>Table Structure</a:t>
            </a:r>
            <a:endParaRPr lang="en-US" sz="1400" dirty="0"/>
          </a:p>
        </p:txBody>
      </p:sp>
      <p:sp>
        <p:nvSpPr>
          <p:cNvPr id="15" name="Shape 11"/>
          <p:cNvSpPr/>
          <p:nvPr/>
        </p:nvSpPr>
        <p:spPr>
          <a:xfrm>
            <a:off x="4550569" y="1268016"/>
            <a:ext cx="4164806" cy="1310878"/>
          </a:xfrm>
          <a:prstGeom prst="rect">
            <a:avLst/>
          </a:prstGeom>
          <a:solidFill>
            <a:srgbClr val="FFFFFF"/>
          </a:solidFill>
          <a:ln w="9144">
            <a:solidFill>
              <a:srgbClr val="E2E8F0"/>
            </a:solidFill>
            <a:prstDash val="solid"/>
          </a:ln>
        </p:spPr>
      </p:sp>
      <p:pic>
        <p:nvPicPr>
          <p:cNvPr id="16" name="Image 1" descr="preencoded.png">    </p:cNvPr>
          <p:cNvPicPr>
            <a:picLocks noChangeAspect="1"/>
          </p:cNvPicPr>
          <p:nvPr/>
        </p:nvPicPr>
        <p:blipFill>
          <a:blip r:embed="rId2"/>
          <a:stretch>
            <a:fillRect/>
          </a:stretch>
        </p:blipFill>
        <p:spPr>
          <a:xfrm>
            <a:off x="4722019" y="1451967"/>
            <a:ext cx="114300" cy="114300"/>
          </a:xfrm>
          <a:prstGeom prst="rect">
            <a:avLst/>
          </a:prstGeom>
        </p:spPr>
      </p:pic>
      <p:sp>
        <p:nvSpPr>
          <p:cNvPr id="17" name="Text 12"/>
          <p:cNvSpPr/>
          <p:nvPr/>
        </p:nvSpPr>
        <p:spPr>
          <a:xfrm>
            <a:off x="4922044" y="1439466"/>
            <a:ext cx="1664494" cy="139303"/>
          </a:xfrm>
          <a:prstGeom prst="rect">
            <a:avLst/>
          </a:prstGeom>
          <a:noFill/>
          <a:ln/>
        </p:spPr>
        <p:txBody>
          <a:bodyPr wrap="square" lIns="0" tIns="0" rIns="0" bIns="0" rtlCol="0" anchor="t">
            <a:spAutoFit/>
          </a:bodyPr>
          <a:lstStyle/>
          <a:p>
            <a:pPr algn="l" indent="0" marL="0">
              <a:buNone/>
            </a:pPr>
            <a:r>
              <a:rPr lang="en-US" sz="850" dirty="0">
                <a:solidFill>
                  <a:srgbClr val="475569"/>
                </a:solidFill>
                <a:latin typeface="Inter" pitchFamily="34" charset="0"/>
                <a:ea typeface="Inter" pitchFamily="34" charset="-122"/>
                <a:cs typeface="Inter" pitchFamily="34" charset="-120"/>
              </a:rPr>
              <a:t>customer_key (PK stays same)</a:t>
            </a:r>
            <a:endParaRPr lang="en-US" sz="850" dirty="0"/>
          </a:p>
        </p:txBody>
      </p:sp>
      <p:pic>
        <p:nvPicPr>
          <p:cNvPr id="18" name="Image 2" descr="preencoded.png">    </p:cNvPr>
          <p:cNvPicPr>
            <a:picLocks noChangeAspect="1"/>
          </p:cNvPicPr>
          <p:nvPr/>
        </p:nvPicPr>
        <p:blipFill>
          <a:blip r:embed="rId3"/>
          <a:stretch>
            <a:fillRect/>
          </a:stretch>
        </p:blipFill>
        <p:spPr>
          <a:xfrm>
            <a:off x="4722019" y="1676995"/>
            <a:ext cx="85725" cy="114300"/>
          </a:xfrm>
          <a:prstGeom prst="rect">
            <a:avLst/>
          </a:prstGeom>
        </p:spPr>
      </p:pic>
      <p:sp>
        <p:nvSpPr>
          <p:cNvPr id="19" name="Text 13"/>
          <p:cNvSpPr/>
          <p:nvPr/>
        </p:nvSpPr>
        <p:spPr>
          <a:xfrm>
            <a:off x="4893469" y="1664494"/>
            <a:ext cx="664369" cy="139303"/>
          </a:xfrm>
          <a:prstGeom prst="rect">
            <a:avLst/>
          </a:prstGeom>
          <a:noFill/>
          <a:ln/>
        </p:spPr>
        <p:txBody>
          <a:bodyPr wrap="none" lIns="0" tIns="0" rIns="0" bIns="0" rtlCol="0" anchor="t">
            <a:spAutoFit/>
          </a:bodyPr>
          <a:lstStyle/>
          <a:p>
            <a:pPr algn="l" indent="0" marL="0">
              <a:buNone/>
            </a:pPr>
            <a:r>
              <a:rPr lang="en-US" sz="850" dirty="0">
                <a:solidFill>
                  <a:srgbClr val="475569"/>
                </a:solidFill>
                <a:latin typeface="Inter" pitchFamily="34" charset="0"/>
                <a:ea typeface="Inter" pitchFamily="34" charset="-122"/>
                <a:cs typeface="Inter" pitchFamily="34" charset="-120"/>
              </a:rPr>
              <a:t>customer_id</a:t>
            </a:r>
            <a:endParaRPr lang="en-US" sz="850" dirty="0"/>
          </a:p>
        </p:txBody>
      </p:sp>
      <p:pic>
        <p:nvPicPr>
          <p:cNvPr id="20" name="Image 3" descr="preencoded.png">    </p:cNvPr>
          <p:cNvPicPr>
            <a:picLocks noChangeAspect="1"/>
          </p:cNvPicPr>
          <p:nvPr/>
        </p:nvPicPr>
        <p:blipFill>
          <a:blip r:embed="rId4"/>
          <a:stretch>
            <a:fillRect/>
          </a:stretch>
        </p:blipFill>
        <p:spPr>
          <a:xfrm>
            <a:off x="4722019" y="1902023"/>
            <a:ext cx="114300" cy="114300"/>
          </a:xfrm>
          <a:prstGeom prst="rect">
            <a:avLst/>
          </a:prstGeom>
        </p:spPr>
      </p:pic>
      <p:sp>
        <p:nvSpPr>
          <p:cNvPr id="21" name="Text 14"/>
          <p:cNvSpPr/>
          <p:nvPr/>
        </p:nvSpPr>
        <p:spPr>
          <a:xfrm>
            <a:off x="4922044" y="1889522"/>
            <a:ext cx="789384" cy="139303"/>
          </a:xfrm>
          <a:prstGeom prst="rect">
            <a:avLst/>
          </a:prstGeom>
          <a:noFill/>
          <a:ln/>
        </p:spPr>
        <p:txBody>
          <a:bodyPr wrap="none" lIns="0" tIns="0" rIns="0" bIns="0" rtlCol="0" anchor="t">
            <a:spAutoFit/>
          </a:bodyPr>
          <a:lstStyle/>
          <a:p>
            <a:pPr algn="l" indent="0" marL="0">
              <a:buNone/>
            </a:pPr>
            <a:r>
              <a:rPr lang="en-US" sz="850" dirty="0">
                <a:solidFill>
                  <a:srgbClr val="475569"/>
                </a:solidFill>
                <a:latin typeface="Inter" pitchFamily="34" charset="0"/>
                <a:ea typeface="Inter" pitchFamily="34" charset="-122"/>
                <a:cs typeface="Inter" pitchFamily="34" charset="-120"/>
              </a:rPr>
              <a:t>current_region</a:t>
            </a:r>
            <a:endParaRPr lang="en-US" sz="850" dirty="0"/>
          </a:p>
        </p:txBody>
      </p:sp>
      <p:pic>
        <p:nvPicPr>
          <p:cNvPr id="22" name="Image 4" descr="preencoded.png">    </p:cNvPr>
          <p:cNvPicPr>
            <a:picLocks noChangeAspect="1"/>
          </p:cNvPicPr>
          <p:nvPr/>
        </p:nvPicPr>
        <p:blipFill>
          <a:blip r:embed="rId5"/>
          <a:stretch>
            <a:fillRect/>
          </a:stretch>
        </p:blipFill>
        <p:spPr>
          <a:xfrm>
            <a:off x="4722019" y="2127052"/>
            <a:ext cx="114300" cy="114300"/>
          </a:xfrm>
          <a:prstGeom prst="rect">
            <a:avLst/>
          </a:prstGeom>
        </p:spPr>
      </p:pic>
      <p:sp>
        <p:nvSpPr>
          <p:cNvPr id="23" name="Text 15"/>
          <p:cNvSpPr/>
          <p:nvPr/>
        </p:nvSpPr>
        <p:spPr>
          <a:xfrm>
            <a:off x="4922044" y="2114550"/>
            <a:ext cx="864394" cy="139303"/>
          </a:xfrm>
          <a:prstGeom prst="rect">
            <a:avLst/>
          </a:prstGeom>
          <a:noFill/>
          <a:ln/>
        </p:spPr>
        <p:txBody>
          <a:bodyPr wrap="none" lIns="0" tIns="0" rIns="0" bIns="0" rtlCol="0" anchor="t">
            <a:spAutoFit/>
          </a:bodyPr>
          <a:lstStyle/>
          <a:p>
            <a:pPr algn="l" indent="0" marL="0">
              <a:buNone/>
            </a:pPr>
            <a:r>
              <a:rPr lang="en-US" sz="850" dirty="0">
                <a:solidFill>
                  <a:srgbClr val="475569"/>
                </a:solidFill>
                <a:latin typeface="Inter" pitchFamily="34" charset="0"/>
                <a:ea typeface="Inter" pitchFamily="34" charset="-122"/>
                <a:cs typeface="Inter" pitchFamily="34" charset="-120"/>
              </a:rPr>
              <a:t>previous_region</a:t>
            </a:r>
            <a:endParaRPr lang="en-US" sz="850" dirty="0"/>
          </a:p>
        </p:txBody>
      </p:sp>
      <p:pic>
        <p:nvPicPr>
          <p:cNvPr id="24" name="Image 5" descr="preencoded.png">    </p:cNvPr>
          <p:cNvPicPr>
            <a:picLocks noChangeAspect="1"/>
          </p:cNvPicPr>
          <p:nvPr/>
        </p:nvPicPr>
        <p:blipFill>
          <a:blip r:embed="rId6"/>
          <a:stretch>
            <a:fillRect/>
          </a:stretch>
        </p:blipFill>
        <p:spPr>
          <a:xfrm>
            <a:off x="4722019" y="2352080"/>
            <a:ext cx="100013" cy="114300"/>
          </a:xfrm>
          <a:prstGeom prst="rect">
            <a:avLst/>
          </a:prstGeom>
        </p:spPr>
      </p:pic>
      <p:sp>
        <p:nvSpPr>
          <p:cNvPr id="25" name="Text 16"/>
          <p:cNvSpPr/>
          <p:nvPr/>
        </p:nvSpPr>
        <p:spPr>
          <a:xfrm>
            <a:off x="4907756" y="2339578"/>
            <a:ext cx="1092994" cy="139303"/>
          </a:xfrm>
          <a:prstGeom prst="rect">
            <a:avLst/>
          </a:prstGeom>
          <a:noFill/>
          <a:ln/>
        </p:spPr>
        <p:txBody>
          <a:bodyPr wrap="none" lIns="0" tIns="0" rIns="0" bIns="0" rtlCol="0" anchor="t">
            <a:spAutoFit/>
          </a:bodyPr>
          <a:lstStyle/>
          <a:p>
            <a:pPr algn="l" indent="0" marL="0">
              <a:buNone/>
            </a:pPr>
            <a:r>
              <a:rPr lang="en-US" sz="850" dirty="0">
                <a:solidFill>
                  <a:srgbClr val="475569"/>
                </a:solidFill>
                <a:latin typeface="Inter" pitchFamily="34" charset="0"/>
                <a:ea typeface="Inter" pitchFamily="34" charset="-122"/>
                <a:cs typeface="Inter" pitchFamily="34" charset="-120"/>
              </a:rPr>
              <a:t>region_change_date</a:t>
            </a:r>
            <a:endParaRPr lang="en-US" sz="850" dirty="0"/>
          </a:p>
        </p:txBody>
      </p:sp>
      <p:sp>
        <p:nvSpPr>
          <p:cNvPr id="26" name="Text 17"/>
          <p:cNvSpPr/>
          <p:nvPr/>
        </p:nvSpPr>
        <p:spPr>
          <a:xfrm>
            <a:off x="4550569" y="2707481"/>
            <a:ext cx="4164806" cy="210741"/>
          </a:xfrm>
          <a:prstGeom prst="rect">
            <a:avLst/>
          </a:prstGeom>
          <a:noFill/>
          <a:ln/>
        </p:spPr>
        <p:txBody>
          <a:bodyPr wrap="square" lIns="0" tIns="0" rIns="0" bIns="0" rtlCol="0" anchor="t">
            <a:spAutoFit/>
          </a:bodyPr>
          <a:lstStyle/>
          <a:p>
            <a:pPr algn="l" indent="0" marL="0">
              <a:buNone/>
            </a:pPr>
            <a:r>
              <a:rPr lang="en-US" sz="1100" b="1" dirty="0">
                <a:solidFill>
                  <a:srgbClr val="1E293B"/>
                </a:solidFill>
                <a:latin typeface="Playfair Display ExtraBold" pitchFamily="34" charset="0"/>
                <a:ea typeface="Playfair Display ExtraBold" pitchFamily="34" charset="-122"/>
                <a:cs typeface="Playfair Display ExtraBold" pitchFamily="34" charset="-120"/>
              </a:rPr>
              <a:t>Best Use Case</a:t>
            </a:r>
            <a:endParaRPr lang="en-US" sz="1100" dirty="0"/>
          </a:p>
        </p:txBody>
      </p:sp>
      <p:pic>
        <p:nvPicPr>
          <p:cNvPr id="27" name="Image 6" descr="preencoded.png">    </p:cNvPr>
          <p:cNvPicPr>
            <a:picLocks noChangeAspect="1"/>
          </p:cNvPicPr>
          <p:nvPr/>
        </p:nvPicPr>
        <p:blipFill>
          <a:blip r:embed="rId7"/>
          <a:stretch>
            <a:fillRect/>
          </a:stretch>
        </p:blipFill>
        <p:spPr>
          <a:xfrm>
            <a:off x="4550569" y="3089672"/>
            <a:ext cx="128588" cy="142875"/>
          </a:xfrm>
          <a:prstGeom prst="rect">
            <a:avLst/>
          </a:prstGeom>
        </p:spPr>
      </p:pic>
      <p:sp>
        <p:nvSpPr>
          <p:cNvPr id="28" name="Text 18"/>
          <p:cNvSpPr/>
          <p:nvPr/>
        </p:nvSpPr>
        <p:spPr>
          <a:xfrm>
            <a:off x="4764881" y="3089672"/>
            <a:ext cx="3950494"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475569"/>
                </a:solidFill>
                <a:latin typeface="Inter Bold" pitchFamily="34" charset="0"/>
                <a:ea typeface="Inter Bold" pitchFamily="34" charset="-122"/>
                <a:cs typeface="Inter Bold" pitchFamily="34" charset="-120"/>
              </a:rPr>
              <a:t>Sales Territory Realignment:</a:t>
            </a:r>
            <a:r>
              <a:rPr lang="en-US" sz="850" dirty="0">
                <a:solidFill>
                  <a:srgbClr val="475569"/>
                </a:solidFill>
                <a:latin typeface="Inter" pitchFamily="34" charset="0"/>
                <a:ea typeface="Inter" pitchFamily="34" charset="-122"/>
                <a:cs typeface="Inter" pitchFamily="34" charset="-120"/>
              </a:rPr>
              <a:t> Leadership wants "old region vs. new </a:t>
            </a:r>
            <a:r>
              <a:rPr lang="en-US" sz="850" dirty="0">
                <a:solidFill>
                  <a:srgbClr val="475569"/>
                </a:solidFill>
                <a:latin typeface="Inter" pitchFamily="34" charset="0"/>
                <a:ea typeface="Inter" pitchFamily="34" charset="-122"/>
                <a:cs typeface="Inter" pitchFamily="34" charset="-120"/>
              </a:rPr>
              <a:t>region" side by side for a one-time transition.</a:t>
            </a:r>
            <a:endParaRPr lang="en-US" sz="800" dirty="0"/>
          </a:p>
        </p:txBody>
      </p:sp>
      <p:pic>
        <p:nvPicPr>
          <p:cNvPr id="29" name="Image 7" descr="preencoded.png">    </p:cNvPr>
          <p:cNvPicPr>
            <a:picLocks noChangeAspect="1"/>
          </p:cNvPicPr>
          <p:nvPr/>
        </p:nvPicPr>
        <p:blipFill>
          <a:blip r:embed="rId8"/>
          <a:stretch>
            <a:fillRect/>
          </a:stretch>
        </p:blipFill>
        <p:spPr>
          <a:xfrm>
            <a:off x="4550569" y="3546872"/>
            <a:ext cx="128588" cy="142875"/>
          </a:xfrm>
          <a:prstGeom prst="rect">
            <a:avLst/>
          </a:prstGeom>
        </p:spPr>
      </p:pic>
      <p:sp>
        <p:nvSpPr>
          <p:cNvPr id="30" name="Text 19"/>
          <p:cNvSpPr/>
          <p:nvPr/>
        </p:nvSpPr>
        <p:spPr>
          <a:xfrm>
            <a:off x="4764881" y="3546872"/>
            <a:ext cx="3950494"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475569"/>
                </a:solidFill>
                <a:latin typeface="Inter Bold" pitchFamily="34" charset="0"/>
                <a:ea typeface="Inter Bold" pitchFamily="34" charset="-122"/>
                <a:cs typeface="Inter Bold" pitchFamily="34" charset="-120"/>
              </a:rPr>
              <a:t>Department Reorgs:</a:t>
            </a:r>
            <a:r>
              <a:rPr lang="en-US" sz="850" dirty="0">
                <a:solidFill>
                  <a:srgbClr val="475569"/>
                </a:solidFill>
                <a:latin typeface="Inter" pitchFamily="34" charset="0"/>
                <a:ea typeface="Inter" pitchFamily="34" charset="-122"/>
                <a:cs typeface="Inter" pitchFamily="34" charset="-120"/>
              </a:rPr>
              <a:t> Comparing metrics before and after a single </a:t>
            </a:r>
            <a:r>
              <a:rPr lang="en-US" sz="850" dirty="0">
                <a:solidFill>
                  <a:srgbClr val="475569"/>
                </a:solidFill>
                <a:latin typeface="Inter" pitchFamily="34" charset="0"/>
                <a:ea typeface="Inter" pitchFamily="34" charset="-122"/>
                <a:cs typeface="Inter" pitchFamily="34" charset="-120"/>
              </a:rPr>
              <a:t>organizational shift.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603758"/>
            <a:ext cx="8286750" cy="377168"/>
          </a:xfrm>
          <a:prstGeom prst="rect">
            <a:avLst/>
          </a:prstGeom>
          <a:noFill/>
          <a:ln/>
        </p:spPr>
        <p:txBody>
          <a:bodyPr wrap="none" lIns="0" tIns="0" rIns="0" bIns="0" rtlCol="0" anchor="t">
            <a:spAutoFit/>
          </a:bodyPr>
          <a:lstStyle/>
          <a:p>
            <a:pPr algn="l" indent="0" marL="0">
              <a:lnSpc>
                <a:spcPct val="96000"/>
              </a:lnSpc>
              <a:buNone/>
            </a:pPr>
            <a:r>
              <a:rPr lang="en-US" sz="2250" b="1" dirty="0">
                <a:solidFill>
                  <a:srgbClr val="1E293B"/>
                </a:solidFill>
                <a:latin typeface="Playfair Display ExtraBold" pitchFamily="34" charset="0"/>
                <a:ea typeface="Playfair Display ExtraBold" pitchFamily="34" charset="-122"/>
                <a:cs typeface="Playfair Display ExtraBold" pitchFamily="34" charset="-120"/>
              </a:rPr>
              <a:t>Comparing SCD Types 0, 1, 2, and 3</a:t>
            </a:r>
            <a:endParaRPr lang="en-US" sz="2250" dirty="0"/>
          </a:p>
        </p:txBody>
      </p:sp>
      <p:sp>
        <p:nvSpPr>
          <p:cNvPr id="5" name="Text 1"/>
          <p:cNvSpPr/>
          <p:nvPr/>
        </p:nvSpPr>
        <p:spPr>
          <a:xfrm>
            <a:off x="428625" y="1138089"/>
            <a:ext cx="8286750" cy="192881"/>
          </a:xfrm>
          <a:prstGeom prst="rect">
            <a:avLst/>
          </a:prstGeom>
          <a:noFill/>
          <a:ln/>
        </p:spPr>
        <p:txBody>
          <a:bodyPr wrap="square" lIns="0" tIns="0" rIns="0" bIns="0" rtlCol="0" anchor="t">
            <a:spAutoFit/>
          </a:bodyPr>
          <a:lstStyle/>
          <a:p>
            <a:pPr algn="l" indent="0" marL="0">
              <a:buNone/>
            </a:pPr>
            <a:r>
              <a:rPr lang="en-US" sz="1100" b="1" dirty="0">
                <a:solidFill>
                  <a:srgbClr val="059669"/>
                </a:solidFill>
                <a:latin typeface="Inter SemiBold" pitchFamily="34" charset="0"/>
                <a:ea typeface="Inter SemiBold" pitchFamily="34" charset="-122"/>
                <a:cs typeface="Inter SemiBold" pitchFamily="34" charset="-120"/>
              </a:rPr>
              <a:t>Choose the type based on whether you need a full timeline or just a snapshot.</a:t>
            </a:r>
            <a:endParaRPr lang="en-US" sz="1100" dirty="0"/>
          </a:p>
        </p:txBody>
      </p:sp>
      <p:sp>
        <p:nvSpPr>
          <p:cNvPr id="6" name="Shape 2"/>
          <p:cNvSpPr/>
          <p:nvPr/>
        </p:nvSpPr>
        <p:spPr>
          <a:xfrm>
            <a:off x="285750" y="1473845"/>
            <a:ext cx="8893969" cy="2022909"/>
          </a:xfrm>
          <a:prstGeom prst="rect">
            <a:avLst/>
          </a:prstGeom>
          <a:solidFill>
            <a:srgbClr val="FFFFFF"/>
          </a:solidFill>
          <a:ln/>
        </p:spPr>
      </p:sp>
      <p:sp>
        <p:nvSpPr>
          <p:cNvPr id="7" name="Shape 3"/>
          <p:cNvSpPr/>
          <p:nvPr/>
        </p:nvSpPr>
        <p:spPr>
          <a:xfrm>
            <a:off x="285750" y="1473845"/>
            <a:ext cx="1260872" cy="342900"/>
          </a:xfrm>
          <a:prstGeom prst="rect">
            <a:avLst/>
          </a:prstGeom>
          <a:solidFill>
            <a:srgbClr val="1E293B"/>
          </a:solidFill>
          <a:ln/>
        </p:spPr>
      </p:sp>
      <p:sp>
        <p:nvSpPr>
          <p:cNvPr id="8" name="Shape 4"/>
          <p:cNvSpPr/>
          <p:nvPr/>
        </p:nvSpPr>
        <p:spPr>
          <a:xfrm>
            <a:off x="1539478" y="1473845"/>
            <a:ext cx="7144" cy="342900"/>
          </a:xfrm>
          <a:prstGeom prst="rect">
            <a:avLst/>
          </a:prstGeom>
          <a:solidFill>
            <a:srgbClr val="334155"/>
          </a:solidFill>
          <a:ln/>
        </p:spPr>
      </p:sp>
      <p:sp>
        <p:nvSpPr>
          <p:cNvPr id="9" name="Text 5"/>
          <p:cNvSpPr/>
          <p:nvPr/>
        </p:nvSpPr>
        <p:spPr>
          <a:xfrm>
            <a:off x="285750" y="1473845"/>
            <a:ext cx="1260872" cy="342900"/>
          </a:xfrm>
          <a:prstGeom prst="rect">
            <a:avLst/>
          </a:prstGeom>
          <a:noFill/>
          <a:ln/>
        </p:spPr>
        <p:txBody>
          <a:bodyPr wrap="none" lIns="127508" tIns="102108" rIns="8509" bIns="102108" rtlCol="0" anchor="ctr">
            <a:spAutoFit/>
          </a:bodyPr>
          <a:lstStyle/>
          <a:p>
            <a:pPr algn="l"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Feature</a:t>
            </a:r>
            <a:endParaRPr lang="en-US" sz="900" dirty="0"/>
          </a:p>
        </p:txBody>
      </p:sp>
      <p:sp>
        <p:nvSpPr>
          <p:cNvPr id="10" name="Shape 6"/>
          <p:cNvSpPr/>
          <p:nvPr/>
        </p:nvSpPr>
        <p:spPr>
          <a:xfrm>
            <a:off x="1543050" y="1473845"/>
            <a:ext cx="1903809" cy="342900"/>
          </a:xfrm>
          <a:prstGeom prst="rect">
            <a:avLst/>
          </a:prstGeom>
          <a:solidFill>
            <a:srgbClr val="1E293B"/>
          </a:solidFill>
          <a:ln/>
        </p:spPr>
      </p:sp>
      <p:sp>
        <p:nvSpPr>
          <p:cNvPr id="11" name="Shape 7"/>
          <p:cNvSpPr/>
          <p:nvPr/>
        </p:nvSpPr>
        <p:spPr>
          <a:xfrm>
            <a:off x="3439716" y="1473845"/>
            <a:ext cx="7144" cy="342900"/>
          </a:xfrm>
          <a:prstGeom prst="rect">
            <a:avLst/>
          </a:prstGeom>
          <a:solidFill>
            <a:srgbClr val="334155"/>
          </a:solidFill>
          <a:ln/>
        </p:spPr>
      </p:sp>
      <p:sp>
        <p:nvSpPr>
          <p:cNvPr id="12" name="Text 8"/>
          <p:cNvSpPr/>
          <p:nvPr/>
        </p:nvSpPr>
        <p:spPr>
          <a:xfrm>
            <a:off x="1543050" y="1473845"/>
            <a:ext cx="1903809" cy="342900"/>
          </a:xfrm>
          <a:prstGeom prst="rect">
            <a:avLst/>
          </a:prstGeom>
          <a:noFill/>
          <a:ln/>
        </p:spPr>
        <p:txBody>
          <a:bodyPr wrap="square" lIns="127508" tIns="102108" rIns="8509" bIns="102108" rtlCol="0" anchor="ctr">
            <a:spAutoFit/>
          </a:bodyPr>
          <a:lstStyle/>
          <a:p>
            <a:pPr algn="l"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Type 0: Retain</a:t>
            </a:r>
            <a:endParaRPr lang="en-US" sz="900" dirty="0"/>
          </a:p>
        </p:txBody>
      </p:sp>
      <p:sp>
        <p:nvSpPr>
          <p:cNvPr id="13" name="Shape 9"/>
          <p:cNvSpPr/>
          <p:nvPr/>
        </p:nvSpPr>
        <p:spPr>
          <a:xfrm>
            <a:off x="3443288" y="1473845"/>
            <a:ext cx="1903809" cy="342900"/>
          </a:xfrm>
          <a:prstGeom prst="rect">
            <a:avLst/>
          </a:prstGeom>
          <a:solidFill>
            <a:srgbClr val="1E293B"/>
          </a:solidFill>
          <a:ln/>
        </p:spPr>
      </p:sp>
      <p:sp>
        <p:nvSpPr>
          <p:cNvPr id="14" name="Shape 10"/>
          <p:cNvSpPr/>
          <p:nvPr/>
        </p:nvSpPr>
        <p:spPr>
          <a:xfrm>
            <a:off x="5339953" y="1473845"/>
            <a:ext cx="7144" cy="342900"/>
          </a:xfrm>
          <a:prstGeom prst="rect">
            <a:avLst/>
          </a:prstGeom>
          <a:solidFill>
            <a:srgbClr val="334155"/>
          </a:solidFill>
          <a:ln/>
        </p:spPr>
      </p:sp>
      <p:sp>
        <p:nvSpPr>
          <p:cNvPr id="15" name="Text 11"/>
          <p:cNvSpPr/>
          <p:nvPr/>
        </p:nvSpPr>
        <p:spPr>
          <a:xfrm>
            <a:off x="3443288" y="1473845"/>
            <a:ext cx="1903809" cy="342900"/>
          </a:xfrm>
          <a:prstGeom prst="rect">
            <a:avLst/>
          </a:prstGeom>
          <a:noFill/>
          <a:ln/>
        </p:spPr>
        <p:txBody>
          <a:bodyPr wrap="square" lIns="127508" tIns="102108" rIns="8509" bIns="102108" rtlCol="0" anchor="ctr">
            <a:spAutoFit/>
          </a:bodyPr>
          <a:lstStyle/>
          <a:p>
            <a:pPr algn="l"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Type 1: Overwrite</a:t>
            </a:r>
            <a:endParaRPr lang="en-US" sz="900" dirty="0"/>
          </a:p>
        </p:txBody>
      </p:sp>
      <p:sp>
        <p:nvSpPr>
          <p:cNvPr id="16" name="Shape 12"/>
          <p:cNvSpPr/>
          <p:nvPr/>
        </p:nvSpPr>
        <p:spPr>
          <a:xfrm>
            <a:off x="5343525" y="1473845"/>
            <a:ext cx="1903809" cy="342900"/>
          </a:xfrm>
          <a:prstGeom prst="rect">
            <a:avLst/>
          </a:prstGeom>
          <a:solidFill>
            <a:srgbClr val="1E293B"/>
          </a:solidFill>
          <a:ln/>
        </p:spPr>
      </p:sp>
      <p:sp>
        <p:nvSpPr>
          <p:cNvPr id="17" name="Shape 13"/>
          <p:cNvSpPr/>
          <p:nvPr/>
        </p:nvSpPr>
        <p:spPr>
          <a:xfrm>
            <a:off x="7240191" y="1473845"/>
            <a:ext cx="7144" cy="342900"/>
          </a:xfrm>
          <a:prstGeom prst="rect">
            <a:avLst/>
          </a:prstGeom>
          <a:solidFill>
            <a:srgbClr val="334155"/>
          </a:solidFill>
          <a:ln/>
        </p:spPr>
      </p:sp>
      <p:sp>
        <p:nvSpPr>
          <p:cNvPr id="18" name="Text 14"/>
          <p:cNvSpPr/>
          <p:nvPr/>
        </p:nvSpPr>
        <p:spPr>
          <a:xfrm>
            <a:off x="5343525" y="1473845"/>
            <a:ext cx="1903809" cy="342900"/>
          </a:xfrm>
          <a:prstGeom prst="rect">
            <a:avLst/>
          </a:prstGeom>
          <a:noFill/>
          <a:ln/>
        </p:spPr>
        <p:txBody>
          <a:bodyPr wrap="square" lIns="127508" tIns="102108" rIns="8509" bIns="102108" rtlCol="0" anchor="ctr">
            <a:spAutoFit/>
          </a:bodyPr>
          <a:lstStyle/>
          <a:p>
            <a:pPr algn="l"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Type 2: Add Row</a:t>
            </a:r>
            <a:endParaRPr lang="en-US" sz="900" dirty="0"/>
          </a:p>
        </p:txBody>
      </p:sp>
      <p:sp>
        <p:nvSpPr>
          <p:cNvPr id="19" name="Shape 15"/>
          <p:cNvSpPr/>
          <p:nvPr/>
        </p:nvSpPr>
        <p:spPr>
          <a:xfrm>
            <a:off x="7243763" y="1473845"/>
            <a:ext cx="1903809" cy="342900"/>
          </a:xfrm>
          <a:prstGeom prst="rect">
            <a:avLst/>
          </a:prstGeom>
          <a:solidFill>
            <a:srgbClr val="1E293B"/>
          </a:solidFill>
          <a:ln/>
        </p:spPr>
      </p:sp>
      <p:sp>
        <p:nvSpPr>
          <p:cNvPr id="20" name="Shape 16"/>
          <p:cNvSpPr/>
          <p:nvPr/>
        </p:nvSpPr>
        <p:spPr>
          <a:xfrm>
            <a:off x="9140428" y="1473845"/>
            <a:ext cx="7144" cy="342900"/>
          </a:xfrm>
          <a:prstGeom prst="rect">
            <a:avLst/>
          </a:prstGeom>
          <a:solidFill>
            <a:srgbClr val="334155"/>
          </a:solidFill>
          <a:ln/>
        </p:spPr>
      </p:sp>
      <p:sp>
        <p:nvSpPr>
          <p:cNvPr id="21" name="Text 17"/>
          <p:cNvSpPr/>
          <p:nvPr/>
        </p:nvSpPr>
        <p:spPr>
          <a:xfrm>
            <a:off x="7243763" y="1473845"/>
            <a:ext cx="1903809" cy="342900"/>
          </a:xfrm>
          <a:prstGeom prst="rect">
            <a:avLst/>
          </a:prstGeom>
          <a:noFill/>
          <a:ln/>
        </p:spPr>
        <p:txBody>
          <a:bodyPr wrap="square" lIns="127508" tIns="102108" rIns="8509" bIns="102108" rtlCol="0" anchor="ctr">
            <a:spAutoFit/>
          </a:bodyPr>
          <a:lstStyle/>
          <a:p>
            <a:pPr algn="l"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Type 3: New Col</a:t>
            </a:r>
            <a:endParaRPr lang="en-US" sz="900" dirty="0"/>
          </a:p>
        </p:txBody>
      </p:sp>
      <p:sp>
        <p:nvSpPr>
          <p:cNvPr id="22" name="Shape 18"/>
          <p:cNvSpPr/>
          <p:nvPr/>
        </p:nvSpPr>
        <p:spPr>
          <a:xfrm>
            <a:off x="285750" y="1816745"/>
            <a:ext cx="1257300" cy="276430"/>
          </a:xfrm>
          <a:prstGeom prst="rect">
            <a:avLst/>
          </a:prstGeom>
          <a:solidFill>
            <a:srgbClr val="F1F5F9"/>
          </a:solidFill>
          <a:ln/>
        </p:spPr>
      </p:sp>
      <p:sp>
        <p:nvSpPr>
          <p:cNvPr id="23" name="Shape 19"/>
          <p:cNvSpPr/>
          <p:nvPr/>
        </p:nvSpPr>
        <p:spPr>
          <a:xfrm>
            <a:off x="1535906" y="1816745"/>
            <a:ext cx="7144" cy="276430"/>
          </a:xfrm>
          <a:prstGeom prst="rect">
            <a:avLst/>
          </a:prstGeom>
          <a:solidFill>
            <a:srgbClr val="E2E8F0"/>
          </a:solidFill>
          <a:ln/>
        </p:spPr>
      </p:sp>
      <p:sp>
        <p:nvSpPr>
          <p:cNvPr id="24" name="Shape 20"/>
          <p:cNvSpPr/>
          <p:nvPr/>
        </p:nvSpPr>
        <p:spPr>
          <a:xfrm>
            <a:off x="285750" y="2086031"/>
            <a:ext cx="1257300" cy="7144"/>
          </a:xfrm>
          <a:prstGeom prst="rect">
            <a:avLst/>
          </a:prstGeom>
          <a:solidFill>
            <a:srgbClr val="E2E8F0"/>
          </a:solidFill>
          <a:ln/>
        </p:spPr>
      </p:sp>
      <p:sp>
        <p:nvSpPr>
          <p:cNvPr id="25" name="Text 21"/>
          <p:cNvSpPr/>
          <p:nvPr/>
        </p:nvSpPr>
        <p:spPr>
          <a:xfrm>
            <a:off x="285750" y="1816745"/>
            <a:ext cx="1257300" cy="276430"/>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History Kept</a:t>
            </a:r>
            <a:endParaRPr lang="en-US" sz="700" dirty="0"/>
          </a:p>
        </p:txBody>
      </p:sp>
      <p:sp>
        <p:nvSpPr>
          <p:cNvPr id="26" name="Text 22"/>
          <p:cNvSpPr/>
          <p:nvPr/>
        </p:nvSpPr>
        <p:spPr>
          <a:xfrm>
            <a:off x="1543050" y="1816745"/>
            <a:ext cx="1900238" cy="276430"/>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None (Frozen)</a:t>
            </a:r>
            <a:endParaRPr lang="en-US" sz="750" dirty="0"/>
          </a:p>
        </p:txBody>
      </p:sp>
      <p:sp>
        <p:nvSpPr>
          <p:cNvPr id="27" name="Text 23"/>
          <p:cNvSpPr/>
          <p:nvPr/>
        </p:nvSpPr>
        <p:spPr>
          <a:xfrm>
            <a:off x="3443288" y="1816745"/>
            <a:ext cx="1900238" cy="276430"/>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EF4444"/>
                </a:solidFill>
                <a:latin typeface="Inter Bold" pitchFamily="34" charset="0"/>
                <a:ea typeface="Inter Bold" pitchFamily="34" charset="-122"/>
                <a:cs typeface="Inter Bold" pitchFamily="34" charset="-120"/>
              </a:rPr>
              <a:t>None (Overwritten)</a:t>
            </a:r>
            <a:endParaRPr lang="en-US" sz="700" dirty="0"/>
          </a:p>
        </p:txBody>
      </p:sp>
      <p:sp>
        <p:nvSpPr>
          <p:cNvPr id="28" name="Text 24"/>
          <p:cNvSpPr/>
          <p:nvPr/>
        </p:nvSpPr>
        <p:spPr>
          <a:xfrm>
            <a:off x="5343525" y="1816745"/>
            <a:ext cx="1900238" cy="276430"/>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059669"/>
                </a:solidFill>
                <a:latin typeface="Inter Bold" pitchFamily="34" charset="0"/>
                <a:ea typeface="Inter Bold" pitchFamily="34" charset="-122"/>
                <a:cs typeface="Inter Bold" pitchFamily="34" charset="-120"/>
              </a:rPr>
              <a:t>Full History</a:t>
            </a:r>
            <a:endParaRPr lang="en-US" sz="700" dirty="0"/>
          </a:p>
        </p:txBody>
      </p:sp>
      <p:sp>
        <p:nvSpPr>
          <p:cNvPr id="29" name="Text 25"/>
          <p:cNvSpPr/>
          <p:nvPr/>
        </p:nvSpPr>
        <p:spPr>
          <a:xfrm>
            <a:off x="7243763" y="1816745"/>
            <a:ext cx="1900238" cy="276430"/>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One step back</a:t>
            </a:r>
            <a:endParaRPr lang="en-US" sz="750" dirty="0"/>
          </a:p>
        </p:txBody>
      </p:sp>
      <p:sp>
        <p:nvSpPr>
          <p:cNvPr id="30" name="Shape 26"/>
          <p:cNvSpPr/>
          <p:nvPr/>
        </p:nvSpPr>
        <p:spPr>
          <a:xfrm>
            <a:off x="285750" y="2093175"/>
            <a:ext cx="1257300" cy="280002"/>
          </a:xfrm>
          <a:prstGeom prst="rect">
            <a:avLst/>
          </a:prstGeom>
          <a:solidFill>
            <a:srgbClr val="F1F5F9"/>
          </a:solidFill>
          <a:ln/>
        </p:spPr>
      </p:sp>
      <p:sp>
        <p:nvSpPr>
          <p:cNvPr id="31" name="Shape 27"/>
          <p:cNvSpPr/>
          <p:nvPr/>
        </p:nvSpPr>
        <p:spPr>
          <a:xfrm>
            <a:off x="1535906" y="2093175"/>
            <a:ext cx="7144" cy="280002"/>
          </a:xfrm>
          <a:prstGeom prst="rect">
            <a:avLst/>
          </a:prstGeom>
          <a:solidFill>
            <a:srgbClr val="E2E8F0"/>
          </a:solidFill>
          <a:ln/>
        </p:spPr>
      </p:sp>
      <p:sp>
        <p:nvSpPr>
          <p:cNvPr id="32" name="Shape 28"/>
          <p:cNvSpPr/>
          <p:nvPr/>
        </p:nvSpPr>
        <p:spPr>
          <a:xfrm>
            <a:off x="285750" y="2366032"/>
            <a:ext cx="1257300" cy="7144"/>
          </a:xfrm>
          <a:prstGeom prst="rect">
            <a:avLst/>
          </a:prstGeom>
          <a:solidFill>
            <a:srgbClr val="E2E8F0"/>
          </a:solidFill>
          <a:ln/>
        </p:spPr>
      </p:sp>
      <p:sp>
        <p:nvSpPr>
          <p:cNvPr id="33" name="Text 29"/>
          <p:cNvSpPr/>
          <p:nvPr/>
        </p:nvSpPr>
        <p:spPr>
          <a:xfrm>
            <a:off x="285750" y="2093175"/>
            <a:ext cx="1257300"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Row Count</a:t>
            </a:r>
            <a:endParaRPr lang="en-US" sz="700" dirty="0"/>
          </a:p>
        </p:txBody>
      </p:sp>
      <p:sp>
        <p:nvSpPr>
          <p:cNvPr id="34" name="Text 30"/>
          <p:cNvSpPr/>
          <p:nvPr/>
        </p:nvSpPr>
        <p:spPr>
          <a:xfrm>
            <a:off x="1543050" y="2093175"/>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Static</a:t>
            </a:r>
            <a:endParaRPr lang="en-US" sz="750" dirty="0"/>
          </a:p>
        </p:txBody>
      </p:sp>
      <p:sp>
        <p:nvSpPr>
          <p:cNvPr id="35" name="Text 31"/>
          <p:cNvSpPr/>
          <p:nvPr/>
        </p:nvSpPr>
        <p:spPr>
          <a:xfrm>
            <a:off x="3443288" y="2093175"/>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Static</a:t>
            </a:r>
            <a:endParaRPr lang="en-US" sz="750" dirty="0"/>
          </a:p>
        </p:txBody>
      </p:sp>
      <p:sp>
        <p:nvSpPr>
          <p:cNvPr id="36" name="Text 32"/>
          <p:cNvSpPr/>
          <p:nvPr/>
        </p:nvSpPr>
        <p:spPr>
          <a:xfrm>
            <a:off x="5343525" y="2093175"/>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Grows over time</a:t>
            </a:r>
            <a:endParaRPr lang="en-US" sz="750" dirty="0"/>
          </a:p>
        </p:txBody>
      </p:sp>
      <p:sp>
        <p:nvSpPr>
          <p:cNvPr id="37" name="Text 33"/>
          <p:cNvSpPr/>
          <p:nvPr/>
        </p:nvSpPr>
        <p:spPr>
          <a:xfrm>
            <a:off x="7243763" y="2093175"/>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Static</a:t>
            </a:r>
            <a:endParaRPr lang="en-US" sz="750" dirty="0"/>
          </a:p>
        </p:txBody>
      </p:sp>
      <p:sp>
        <p:nvSpPr>
          <p:cNvPr id="38" name="Shape 34"/>
          <p:cNvSpPr/>
          <p:nvPr/>
        </p:nvSpPr>
        <p:spPr>
          <a:xfrm>
            <a:off x="285750" y="2373176"/>
            <a:ext cx="1257300" cy="280002"/>
          </a:xfrm>
          <a:prstGeom prst="rect">
            <a:avLst/>
          </a:prstGeom>
          <a:solidFill>
            <a:srgbClr val="F1F5F9"/>
          </a:solidFill>
          <a:ln/>
        </p:spPr>
      </p:sp>
      <p:sp>
        <p:nvSpPr>
          <p:cNvPr id="39" name="Shape 35"/>
          <p:cNvSpPr/>
          <p:nvPr/>
        </p:nvSpPr>
        <p:spPr>
          <a:xfrm>
            <a:off x="1535906" y="2373176"/>
            <a:ext cx="7144" cy="280002"/>
          </a:xfrm>
          <a:prstGeom prst="rect">
            <a:avLst/>
          </a:prstGeom>
          <a:solidFill>
            <a:srgbClr val="E2E8F0"/>
          </a:solidFill>
          <a:ln/>
        </p:spPr>
      </p:sp>
      <p:sp>
        <p:nvSpPr>
          <p:cNvPr id="40" name="Shape 36"/>
          <p:cNvSpPr/>
          <p:nvPr/>
        </p:nvSpPr>
        <p:spPr>
          <a:xfrm>
            <a:off x="285750" y="2646034"/>
            <a:ext cx="1257300" cy="7144"/>
          </a:xfrm>
          <a:prstGeom prst="rect">
            <a:avLst/>
          </a:prstGeom>
          <a:solidFill>
            <a:srgbClr val="E2E8F0"/>
          </a:solidFill>
          <a:ln/>
        </p:spPr>
      </p:sp>
      <p:sp>
        <p:nvSpPr>
          <p:cNvPr id="41" name="Text 37"/>
          <p:cNvSpPr/>
          <p:nvPr/>
        </p:nvSpPr>
        <p:spPr>
          <a:xfrm>
            <a:off x="285750" y="2373176"/>
            <a:ext cx="1257300"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Update Method</a:t>
            </a:r>
            <a:endParaRPr lang="en-US" sz="700" dirty="0"/>
          </a:p>
        </p:txBody>
      </p:sp>
      <p:sp>
        <p:nvSpPr>
          <p:cNvPr id="42" name="Text 38"/>
          <p:cNvSpPr/>
          <p:nvPr/>
        </p:nvSpPr>
        <p:spPr>
          <a:xfrm>
            <a:off x="1543050" y="2373176"/>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Never updated</a:t>
            </a:r>
            <a:endParaRPr lang="en-US" sz="750" dirty="0"/>
          </a:p>
        </p:txBody>
      </p:sp>
      <p:sp>
        <p:nvSpPr>
          <p:cNvPr id="43" name="Text 39"/>
          <p:cNvSpPr/>
          <p:nvPr/>
        </p:nvSpPr>
        <p:spPr>
          <a:xfrm>
            <a:off x="3443288" y="2373176"/>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UPDATE in place</a:t>
            </a:r>
            <a:endParaRPr lang="en-US" sz="750" dirty="0"/>
          </a:p>
        </p:txBody>
      </p:sp>
      <p:sp>
        <p:nvSpPr>
          <p:cNvPr id="44" name="Text 40"/>
          <p:cNvSpPr/>
          <p:nvPr/>
        </p:nvSpPr>
        <p:spPr>
          <a:xfrm>
            <a:off x="5343525" y="2373176"/>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INSERT new row</a:t>
            </a:r>
            <a:endParaRPr lang="en-US" sz="750" dirty="0"/>
          </a:p>
        </p:txBody>
      </p:sp>
      <p:sp>
        <p:nvSpPr>
          <p:cNvPr id="45" name="Text 41"/>
          <p:cNvSpPr/>
          <p:nvPr/>
        </p:nvSpPr>
        <p:spPr>
          <a:xfrm>
            <a:off x="7243763" y="2373176"/>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UPDATE in place</a:t>
            </a:r>
            <a:endParaRPr lang="en-US" sz="750" dirty="0"/>
          </a:p>
        </p:txBody>
      </p:sp>
      <p:sp>
        <p:nvSpPr>
          <p:cNvPr id="46" name="Shape 42"/>
          <p:cNvSpPr/>
          <p:nvPr/>
        </p:nvSpPr>
        <p:spPr>
          <a:xfrm>
            <a:off x="285750" y="2653178"/>
            <a:ext cx="1257300" cy="280002"/>
          </a:xfrm>
          <a:prstGeom prst="rect">
            <a:avLst/>
          </a:prstGeom>
          <a:solidFill>
            <a:srgbClr val="F1F5F9"/>
          </a:solidFill>
          <a:ln/>
        </p:spPr>
      </p:sp>
      <p:sp>
        <p:nvSpPr>
          <p:cNvPr id="47" name="Shape 43"/>
          <p:cNvSpPr/>
          <p:nvPr/>
        </p:nvSpPr>
        <p:spPr>
          <a:xfrm>
            <a:off x="1535906" y="2653178"/>
            <a:ext cx="7144" cy="280002"/>
          </a:xfrm>
          <a:prstGeom prst="rect">
            <a:avLst/>
          </a:prstGeom>
          <a:solidFill>
            <a:srgbClr val="E2E8F0"/>
          </a:solidFill>
          <a:ln/>
        </p:spPr>
      </p:sp>
      <p:sp>
        <p:nvSpPr>
          <p:cNvPr id="48" name="Shape 44"/>
          <p:cNvSpPr/>
          <p:nvPr/>
        </p:nvSpPr>
        <p:spPr>
          <a:xfrm>
            <a:off x="285750" y="2926035"/>
            <a:ext cx="1257300" cy="7144"/>
          </a:xfrm>
          <a:prstGeom prst="rect">
            <a:avLst/>
          </a:prstGeom>
          <a:solidFill>
            <a:srgbClr val="E2E8F0"/>
          </a:solidFill>
          <a:ln/>
        </p:spPr>
      </p:sp>
      <p:sp>
        <p:nvSpPr>
          <p:cNvPr id="49" name="Text 45"/>
          <p:cNvSpPr/>
          <p:nvPr/>
        </p:nvSpPr>
        <p:spPr>
          <a:xfrm>
            <a:off x="285750" y="2653178"/>
            <a:ext cx="1257300"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Key Used</a:t>
            </a:r>
            <a:endParaRPr lang="en-US" sz="700" dirty="0"/>
          </a:p>
        </p:txBody>
      </p:sp>
      <p:sp>
        <p:nvSpPr>
          <p:cNvPr id="50" name="Text 46"/>
          <p:cNvSpPr/>
          <p:nvPr/>
        </p:nvSpPr>
        <p:spPr>
          <a:xfrm>
            <a:off x="1543050" y="2653178"/>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Natural Key</a:t>
            </a:r>
            <a:endParaRPr lang="en-US" sz="750" dirty="0"/>
          </a:p>
        </p:txBody>
      </p:sp>
      <p:sp>
        <p:nvSpPr>
          <p:cNvPr id="51" name="Text 47"/>
          <p:cNvSpPr/>
          <p:nvPr/>
        </p:nvSpPr>
        <p:spPr>
          <a:xfrm>
            <a:off x="3443288" y="2653178"/>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Natural Key</a:t>
            </a:r>
            <a:endParaRPr lang="en-US" sz="750" dirty="0"/>
          </a:p>
        </p:txBody>
      </p:sp>
      <p:sp>
        <p:nvSpPr>
          <p:cNvPr id="52" name="Text 48"/>
          <p:cNvSpPr/>
          <p:nvPr/>
        </p:nvSpPr>
        <p:spPr>
          <a:xfrm>
            <a:off x="5343525" y="2653178"/>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059669"/>
                </a:solidFill>
                <a:latin typeface="Inter Bold" pitchFamily="34" charset="0"/>
                <a:ea typeface="Inter Bold" pitchFamily="34" charset="-122"/>
                <a:cs typeface="Inter Bold" pitchFamily="34" charset="-120"/>
              </a:rPr>
              <a:t>Surrogate Key</a:t>
            </a:r>
            <a:endParaRPr lang="en-US" sz="700" dirty="0"/>
          </a:p>
        </p:txBody>
      </p:sp>
      <p:sp>
        <p:nvSpPr>
          <p:cNvPr id="53" name="Text 49"/>
          <p:cNvSpPr/>
          <p:nvPr/>
        </p:nvSpPr>
        <p:spPr>
          <a:xfrm>
            <a:off x="7243763" y="2653178"/>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Natural Key</a:t>
            </a:r>
            <a:endParaRPr lang="en-US" sz="750" dirty="0"/>
          </a:p>
        </p:txBody>
      </p:sp>
      <p:sp>
        <p:nvSpPr>
          <p:cNvPr id="54" name="Shape 50"/>
          <p:cNvSpPr/>
          <p:nvPr/>
        </p:nvSpPr>
        <p:spPr>
          <a:xfrm>
            <a:off x="285750" y="2933179"/>
            <a:ext cx="1257300" cy="280002"/>
          </a:xfrm>
          <a:prstGeom prst="rect">
            <a:avLst/>
          </a:prstGeom>
          <a:solidFill>
            <a:srgbClr val="F1F5F9"/>
          </a:solidFill>
          <a:ln/>
        </p:spPr>
      </p:sp>
      <p:sp>
        <p:nvSpPr>
          <p:cNvPr id="55" name="Shape 51"/>
          <p:cNvSpPr/>
          <p:nvPr/>
        </p:nvSpPr>
        <p:spPr>
          <a:xfrm>
            <a:off x="1535906" y="2933179"/>
            <a:ext cx="7144" cy="280002"/>
          </a:xfrm>
          <a:prstGeom prst="rect">
            <a:avLst/>
          </a:prstGeom>
          <a:solidFill>
            <a:srgbClr val="E2E8F0"/>
          </a:solidFill>
          <a:ln/>
        </p:spPr>
      </p:sp>
      <p:sp>
        <p:nvSpPr>
          <p:cNvPr id="56" name="Shape 52"/>
          <p:cNvSpPr/>
          <p:nvPr/>
        </p:nvSpPr>
        <p:spPr>
          <a:xfrm>
            <a:off x="285750" y="3206037"/>
            <a:ext cx="1257300" cy="7144"/>
          </a:xfrm>
          <a:prstGeom prst="rect">
            <a:avLst/>
          </a:prstGeom>
          <a:solidFill>
            <a:srgbClr val="E2E8F0"/>
          </a:solidFill>
          <a:ln/>
        </p:spPr>
      </p:sp>
      <p:sp>
        <p:nvSpPr>
          <p:cNvPr id="57" name="Text 53"/>
          <p:cNvSpPr/>
          <p:nvPr/>
        </p:nvSpPr>
        <p:spPr>
          <a:xfrm>
            <a:off x="285750" y="2933179"/>
            <a:ext cx="1257300"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Use Case</a:t>
            </a:r>
            <a:endParaRPr lang="en-US" sz="700" dirty="0"/>
          </a:p>
        </p:txBody>
      </p:sp>
      <p:sp>
        <p:nvSpPr>
          <p:cNvPr id="58" name="Text 54"/>
          <p:cNvSpPr/>
          <p:nvPr/>
        </p:nvSpPr>
        <p:spPr>
          <a:xfrm>
            <a:off x="1543050" y="2933179"/>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Immutable facts</a:t>
            </a:r>
            <a:endParaRPr lang="en-US" sz="750" dirty="0"/>
          </a:p>
        </p:txBody>
      </p:sp>
      <p:sp>
        <p:nvSpPr>
          <p:cNvPr id="59" name="Text 55"/>
          <p:cNvSpPr/>
          <p:nvPr/>
        </p:nvSpPr>
        <p:spPr>
          <a:xfrm>
            <a:off x="3443288" y="2933179"/>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Corrections</a:t>
            </a:r>
            <a:endParaRPr lang="en-US" sz="750" dirty="0"/>
          </a:p>
        </p:txBody>
      </p:sp>
      <p:sp>
        <p:nvSpPr>
          <p:cNvPr id="60" name="Text 56"/>
          <p:cNvSpPr/>
          <p:nvPr/>
        </p:nvSpPr>
        <p:spPr>
          <a:xfrm>
            <a:off x="5343525" y="2933179"/>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Trend attributes</a:t>
            </a:r>
            <a:endParaRPr lang="en-US" sz="750" dirty="0"/>
          </a:p>
        </p:txBody>
      </p:sp>
      <p:sp>
        <p:nvSpPr>
          <p:cNvPr id="61" name="Text 57"/>
          <p:cNvSpPr/>
          <p:nvPr/>
        </p:nvSpPr>
        <p:spPr>
          <a:xfrm>
            <a:off x="7243763" y="2933179"/>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One-time compare</a:t>
            </a:r>
            <a:endParaRPr lang="en-US" sz="750" dirty="0"/>
          </a:p>
        </p:txBody>
      </p:sp>
      <p:sp>
        <p:nvSpPr>
          <p:cNvPr id="62" name="Shape 58"/>
          <p:cNvSpPr/>
          <p:nvPr/>
        </p:nvSpPr>
        <p:spPr>
          <a:xfrm>
            <a:off x="285750" y="3213181"/>
            <a:ext cx="1257300" cy="280002"/>
          </a:xfrm>
          <a:prstGeom prst="rect">
            <a:avLst/>
          </a:prstGeom>
          <a:solidFill>
            <a:srgbClr val="F1F5F9"/>
          </a:solidFill>
          <a:ln/>
        </p:spPr>
      </p:sp>
      <p:sp>
        <p:nvSpPr>
          <p:cNvPr id="63" name="Shape 59"/>
          <p:cNvSpPr/>
          <p:nvPr/>
        </p:nvSpPr>
        <p:spPr>
          <a:xfrm>
            <a:off x="1535906" y="3213181"/>
            <a:ext cx="7144" cy="280002"/>
          </a:xfrm>
          <a:prstGeom prst="rect">
            <a:avLst/>
          </a:prstGeom>
          <a:solidFill>
            <a:srgbClr val="E2E8F0"/>
          </a:solidFill>
          <a:ln/>
        </p:spPr>
      </p:sp>
      <p:sp>
        <p:nvSpPr>
          <p:cNvPr id="64" name="Shape 60"/>
          <p:cNvSpPr/>
          <p:nvPr/>
        </p:nvSpPr>
        <p:spPr>
          <a:xfrm>
            <a:off x="285750" y="3486038"/>
            <a:ext cx="1257300" cy="7144"/>
          </a:xfrm>
          <a:prstGeom prst="rect">
            <a:avLst/>
          </a:prstGeom>
          <a:solidFill>
            <a:srgbClr val="E2E8F0"/>
          </a:solidFill>
          <a:ln/>
        </p:spPr>
      </p:sp>
      <p:sp>
        <p:nvSpPr>
          <p:cNvPr id="65" name="Text 61"/>
          <p:cNvSpPr/>
          <p:nvPr/>
        </p:nvSpPr>
        <p:spPr>
          <a:xfrm>
            <a:off x="285750" y="3213181"/>
            <a:ext cx="1257300"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1E293B"/>
                </a:solidFill>
                <a:latin typeface="Inter Bold" pitchFamily="34" charset="0"/>
                <a:ea typeface="Inter Bold" pitchFamily="34" charset="-122"/>
                <a:cs typeface="Inter Bold" pitchFamily="34" charset="-120"/>
              </a:rPr>
              <a:t>Fact Table Join</a:t>
            </a:r>
            <a:endParaRPr lang="en-US" sz="700" dirty="0"/>
          </a:p>
        </p:txBody>
      </p:sp>
      <p:sp>
        <p:nvSpPr>
          <p:cNvPr id="66" name="Text 62"/>
          <p:cNvSpPr/>
          <p:nvPr/>
        </p:nvSpPr>
        <p:spPr>
          <a:xfrm>
            <a:off x="1543050" y="3213181"/>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Unaffected</a:t>
            </a:r>
            <a:endParaRPr lang="en-US" sz="750" dirty="0"/>
          </a:p>
        </p:txBody>
      </p:sp>
      <p:sp>
        <p:nvSpPr>
          <p:cNvPr id="67" name="Text 63"/>
          <p:cNvSpPr/>
          <p:nvPr/>
        </p:nvSpPr>
        <p:spPr>
          <a:xfrm>
            <a:off x="3443288" y="3213181"/>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EF4444"/>
                </a:solidFill>
                <a:latin typeface="Inter Bold" pitchFamily="34" charset="0"/>
                <a:ea typeface="Inter Bold" pitchFamily="34" charset="-122"/>
                <a:cs typeface="Inter Bold" pitchFamily="34" charset="-120"/>
              </a:rPr>
              <a:t>Silently re-mapped</a:t>
            </a:r>
            <a:endParaRPr lang="en-US" sz="700" dirty="0"/>
          </a:p>
        </p:txBody>
      </p:sp>
      <p:sp>
        <p:nvSpPr>
          <p:cNvPr id="68" name="Text 64"/>
          <p:cNvSpPr/>
          <p:nvPr/>
        </p:nvSpPr>
        <p:spPr>
          <a:xfrm>
            <a:off x="5343525" y="3213181"/>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00" b="1" dirty="0">
                <a:solidFill>
                  <a:srgbClr val="059669"/>
                </a:solidFill>
                <a:latin typeface="Inter Bold" pitchFamily="34" charset="0"/>
                <a:ea typeface="Inter Bold" pitchFamily="34" charset="-122"/>
                <a:cs typeface="Inter Bold" pitchFamily="34" charset="-120"/>
              </a:rPr>
              <a:t>Point-in-time</a:t>
            </a:r>
            <a:endParaRPr lang="en-US" sz="700" dirty="0"/>
          </a:p>
        </p:txBody>
      </p:sp>
      <p:sp>
        <p:nvSpPr>
          <p:cNvPr id="69" name="Text 65"/>
          <p:cNvSpPr/>
          <p:nvPr/>
        </p:nvSpPr>
        <p:spPr>
          <a:xfrm>
            <a:off x="7243763" y="3213181"/>
            <a:ext cx="1900238" cy="280002"/>
          </a:xfrm>
          <a:prstGeom prst="rect">
            <a:avLst/>
          </a:prstGeom>
          <a:noFill/>
          <a:ln/>
        </p:spPr>
        <p:txBody>
          <a:bodyPr wrap="square" lIns="127508" tIns="85090" rIns="127508" bIns="85090" rtlCol="0" anchor="ctr">
            <a:spAutoFit/>
          </a:bodyPr>
          <a:lstStyle/>
          <a:p>
            <a:pPr algn="l" indent="0" marL="0">
              <a:lnSpc>
                <a:spcPct val="104000"/>
              </a:lnSpc>
              <a:buNone/>
            </a:pPr>
            <a:r>
              <a:rPr lang="en-US" sz="750" dirty="0">
                <a:solidFill>
                  <a:srgbClr val="475569"/>
                </a:solidFill>
                <a:latin typeface="Inter" pitchFamily="34" charset="0"/>
                <a:ea typeface="Inter" pitchFamily="34" charset="-122"/>
                <a:cs typeface="Inter" pitchFamily="34" charset="-120"/>
              </a:rPr>
              <a:t>Unaffected</a:t>
            </a:r>
            <a:endParaRPr lang="en-US" sz="750" dirty="0"/>
          </a:p>
        </p:txBody>
      </p:sp>
      <p:sp>
        <p:nvSpPr>
          <p:cNvPr id="70" name="Shape 66"/>
          <p:cNvSpPr/>
          <p:nvPr/>
        </p:nvSpPr>
        <p:spPr>
          <a:xfrm>
            <a:off x="0" y="4600575"/>
            <a:ext cx="9144000" cy="542925"/>
          </a:xfrm>
          <a:prstGeom prst="rect">
            <a:avLst/>
          </a:prstGeom>
          <a:solidFill>
            <a:srgbClr val="F1F5F9"/>
          </a:solidFill>
          <a:ln/>
        </p:spPr>
      </p:sp>
      <p:sp>
        <p:nvSpPr>
          <p:cNvPr id="71" name="Shape 67"/>
          <p:cNvSpPr/>
          <p:nvPr/>
        </p:nvSpPr>
        <p:spPr>
          <a:xfrm>
            <a:off x="0" y="4600575"/>
            <a:ext cx="9144000" cy="7144"/>
          </a:xfrm>
          <a:prstGeom prst="rect">
            <a:avLst/>
          </a:prstGeom>
          <a:solidFill>
            <a:srgbClr val="E2E8F0"/>
          </a:solidFill>
          <a:ln/>
        </p:spPr>
      </p:sp>
      <p:sp>
        <p:nvSpPr>
          <p:cNvPr id="72" name="Text 68"/>
          <p:cNvSpPr/>
          <p:nvPr/>
        </p:nvSpPr>
        <p:spPr>
          <a:xfrm>
            <a:off x="428625" y="4814888"/>
            <a:ext cx="8286750" cy="139973"/>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64748B"/>
                </a:solidFill>
                <a:latin typeface="Inter Bold" pitchFamily="34" charset="0"/>
                <a:ea typeface="Inter Bold" pitchFamily="34" charset="-122"/>
                <a:cs typeface="Inter Bold" pitchFamily="34" charset="-120"/>
              </a:rPr>
              <a:t>Key Insight:</a:t>
            </a:r>
            <a:r>
              <a:rPr lang="en-US" sz="750" dirty="0">
                <a:solidFill>
                  <a:srgbClr val="64748B"/>
                </a:solidFill>
                <a:latin typeface="Inter" pitchFamily="34" charset="0"/>
                <a:ea typeface="Inter" pitchFamily="34" charset="-122"/>
                <a:cs typeface="Inter" pitchFamily="34" charset="-120"/>
              </a:rPr>
              <a:t> Type 2 gives you a timeline. Type 3 gives you a snapshot of one transition. Don't use Type 3 where you'll need to ask 'what was it two changes ago.'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40133"/>
          </a:xfrm>
          <a:prstGeom prst="rect">
            <a:avLst/>
          </a:prstGeom>
        </p:spPr>
      </p:pic>
      <p:sp>
        <p:nvSpPr>
          <p:cNvPr id="4" name="Text 0"/>
          <p:cNvSpPr/>
          <p:nvPr/>
        </p:nvSpPr>
        <p:spPr>
          <a:xfrm>
            <a:off x="428625" y="770353"/>
            <a:ext cx="8286750" cy="822871"/>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Before You Can Apply a Change, You Must Detect One</a:t>
            </a:r>
            <a:endParaRPr lang="en-US" sz="2450" dirty="0"/>
          </a:p>
        </p:txBody>
      </p:sp>
      <p:sp>
        <p:nvSpPr>
          <p:cNvPr id="5" name="Text 1"/>
          <p:cNvSpPr/>
          <p:nvPr/>
        </p:nvSpPr>
        <p:spPr>
          <a:xfrm>
            <a:off x="428625" y="1764674"/>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Hash-based change detection is the most efficient way to track multi-column updates.</a:t>
            </a:r>
            <a:endParaRPr lang="en-US" sz="1200" dirty="0"/>
          </a:p>
        </p:txBody>
      </p:sp>
      <p:sp>
        <p:nvSpPr>
          <p:cNvPr id="6" name="Text 2"/>
          <p:cNvSpPr/>
          <p:nvPr/>
        </p:nvSpPr>
        <p:spPr>
          <a:xfrm>
            <a:off x="428625" y="2346889"/>
            <a:ext cx="3471863" cy="175022"/>
          </a:xfrm>
          <a:prstGeom prst="rect">
            <a:avLst/>
          </a:prstGeom>
          <a:noFill/>
          <a:ln/>
        </p:spPr>
        <p:txBody>
          <a:bodyPr wrap="square" lIns="102108" tIns="0" rIns="0" bIns="0" rtlCol="0" anchor="t">
            <a:spAutoFit/>
          </a:bodyPr>
          <a:lstStyle/>
          <a:p>
            <a:pPr algn="l" indent="0" marL="0">
              <a:buNone/>
            </a:pPr>
            <a:r>
              <a:rPr lang="en-US" sz="1000" b="1" spc="1" kern="0" dirty="0">
                <a:solidFill>
                  <a:srgbClr val="1E293B"/>
                </a:solidFill>
                <a:latin typeface="Inter Bold" pitchFamily="34" charset="0"/>
                <a:ea typeface="Inter Bold" pitchFamily="34" charset="-122"/>
                <a:cs typeface="Inter Bold" pitchFamily="34" charset="-120"/>
              </a:rPr>
              <a:t>THE HASHING STRATEGY</a:t>
            </a:r>
            <a:endParaRPr lang="en-US" sz="1000" dirty="0"/>
          </a:p>
        </p:txBody>
      </p:sp>
      <p:pic>
        <p:nvPicPr>
          <p:cNvPr id="7" name="Image 1" descr="preencoded.png">    </p:cNvPr>
          <p:cNvPicPr>
            <a:picLocks noChangeAspect="1"/>
          </p:cNvPicPr>
          <p:nvPr/>
        </p:nvPicPr>
        <p:blipFill>
          <a:blip r:embed="rId2"/>
          <a:stretch>
            <a:fillRect/>
          </a:stretch>
        </p:blipFill>
        <p:spPr>
          <a:xfrm>
            <a:off x="428625" y="2607636"/>
            <a:ext cx="96441" cy="157163"/>
          </a:xfrm>
          <a:prstGeom prst="rect">
            <a:avLst/>
          </a:prstGeom>
        </p:spPr>
      </p:pic>
      <p:sp>
        <p:nvSpPr>
          <p:cNvPr id="8" name="Text 3"/>
          <p:cNvSpPr/>
          <p:nvPr/>
        </p:nvSpPr>
        <p:spPr>
          <a:xfrm>
            <a:off x="610791" y="2607636"/>
            <a:ext cx="3289697" cy="578644"/>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Efficiency:</a:t>
            </a:r>
            <a:r>
              <a:rPr lang="en-US" sz="950" dirty="0">
                <a:solidFill>
                  <a:srgbClr val="475569"/>
                </a:solidFill>
                <a:latin typeface="Inter" pitchFamily="34" charset="0"/>
                <a:ea typeface="Inter" pitchFamily="34" charset="-122"/>
                <a:cs typeface="Inter" pitchFamily="34" charset="-120"/>
              </a:rPr>
              <a:t> Comparing a single hash value is </a:t>
            </a:r>
            <a:r>
              <a:rPr lang="en-US" sz="950" dirty="0">
                <a:solidFill>
                  <a:srgbClr val="475569"/>
                </a:solidFill>
                <a:latin typeface="Inter" pitchFamily="34" charset="0"/>
                <a:ea typeface="Inter" pitchFamily="34" charset="-122"/>
                <a:cs typeface="Inter" pitchFamily="34" charset="-120"/>
              </a:rPr>
              <a:t>significantly faster than checking 15+ columns one-</a:t>
            </a:r>
            <a:r>
              <a:rPr lang="en-US" sz="950" dirty="0">
                <a:solidFill>
                  <a:srgbClr val="475569"/>
                </a:solidFill>
                <a:latin typeface="Inter" pitchFamily="34" charset="0"/>
                <a:ea typeface="Inter" pitchFamily="34" charset="-122"/>
                <a:cs typeface="Inter" pitchFamily="34" charset="-120"/>
              </a:rPr>
              <a:t>by-one.</a:t>
            </a:r>
            <a:endParaRPr lang="en-US" sz="900" dirty="0"/>
          </a:p>
        </p:txBody>
      </p:sp>
      <p:pic>
        <p:nvPicPr>
          <p:cNvPr id="9" name="Image 2" descr="preencoded.png">    </p:cNvPr>
          <p:cNvPicPr>
            <a:picLocks noChangeAspect="1"/>
          </p:cNvPicPr>
          <p:nvPr/>
        </p:nvPicPr>
        <p:blipFill>
          <a:blip r:embed="rId3"/>
          <a:stretch>
            <a:fillRect/>
          </a:stretch>
        </p:blipFill>
        <p:spPr>
          <a:xfrm>
            <a:off x="428625" y="3272005"/>
            <a:ext cx="128588" cy="157163"/>
          </a:xfrm>
          <a:prstGeom prst="rect">
            <a:avLst/>
          </a:prstGeom>
        </p:spPr>
      </p:pic>
      <p:sp>
        <p:nvSpPr>
          <p:cNvPr id="10" name="Text 4"/>
          <p:cNvSpPr/>
          <p:nvPr/>
        </p:nvSpPr>
        <p:spPr>
          <a:xfrm>
            <a:off x="642938" y="3272005"/>
            <a:ext cx="3257550" cy="385763"/>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Reliability:</a:t>
            </a:r>
            <a:r>
              <a:rPr lang="en-US" sz="950" dirty="0">
                <a:solidFill>
                  <a:srgbClr val="475569"/>
                </a:solidFill>
                <a:latin typeface="Inter" pitchFamily="34" charset="0"/>
                <a:ea typeface="Inter" pitchFamily="34" charset="-122"/>
                <a:cs typeface="Inter" pitchFamily="34" charset="-120"/>
              </a:rPr>
              <a:t> Reduces the risk of missing a change in a </a:t>
            </a:r>
            <a:r>
              <a:rPr lang="en-US" sz="950" dirty="0">
                <a:solidFill>
                  <a:srgbClr val="475569"/>
                </a:solidFill>
                <a:latin typeface="Inter" pitchFamily="34" charset="0"/>
                <a:ea typeface="Inter" pitchFamily="34" charset="-122"/>
                <a:cs typeface="Inter" pitchFamily="34" charset="-120"/>
              </a:rPr>
              <a:t>specific column due to manual SQL errors.</a:t>
            </a:r>
            <a:endParaRPr lang="en-US" sz="900" dirty="0"/>
          </a:p>
        </p:txBody>
      </p:sp>
      <p:pic>
        <p:nvPicPr>
          <p:cNvPr id="11" name="Image 3" descr="preencoded.png">    </p:cNvPr>
          <p:cNvPicPr>
            <a:picLocks noChangeAspect="1"/>
          </p:cNvPicPr>
          <p:nvPr/>
        </p:nvPicPr>
        <p:blipFill>
          <a:blip r:embed="rId4"/>
          <a:stretch>
            <a:fillRect/>
          </a:stretch>
        </p:blipFill>
        <p:spPr>
          <a:xfrm>
            <a:off x="428625" y="3743492"/>
            <a:ext cx="128588" cy="157163"/>
          </a:xfrm>
          <a:prstGeom prst="rect">
            <a:avLst/>
          </a:prstGeom>
        </p:spPr>
      </p:pic>
      <p:sp>
        <p:nvSpPr>
          <p:cNvPr id="12" name="Text 5"/>
          <p:cNvSpPr/>
          <p:nvPr/>
        </p:nvSpPr>
        <p:spPr>
          <a:xfrm>
            <a:off x="642938" y="3743492"/>
            <a:ext cx="3257550" cy="578644"/>
          </a:xfrm>
          <a:prstGeom prst="rect">
            <a:avLst/>
          </a:prstGeom>
          <a:noFill/>
          <a:ln/>
        </p:spPr>
        <p:txBody>
          <a:bodyPr wrap="square" lIns="0" tIns="0" rIns="0" bIns="0" rtlCol="0" anchor="t">
            <a:spAutoFit/>
          </a:bodyPr>
          <a:lstStyle/>
          <a:p>
            <a:pPr algn="l" indent="0" marL="0">
              <a:lnSpc>
                <a:spcPct val="120000"/>
              </a:lnSpc>
              <a:buNone/>
            </a:pPr>
            <a:r>
              <a:rPr lang="en-US" sz="900" b="1" dirty="0">
                <a:solidFill>
                  <a:srgbClr val="475569"/>
                </a:solidFill>
                <a:latin typeface="Inter Bold" pitchFamily="34" charset="0"/>
                <a:ea typeface="Inter Bold" pitchFamily="34" charset="-122"/>
                <a:cs typeface="Inter Bold" pitchFamily="34" charset="-120"/>
              </a:rPr>
              <a:t>Selective Tracking:</a:t>
            </a:r>
            <a:r>
              <a:rPr lang="en-US" sz="950" dirty="0">
                <a:solidFill>
                  <a:srgbClr val="475569"/>
                </a:solidFill>
                <a:latin typeface="Inter" pitchFamily="34" charset="0"/>
                <a:ea typeface="Inter" pitchFamily="34" charset="-122"/>
                <a:cs typeface="Inter" pitchFamily="34" charset="-120"/>
              </a:rPr>
              <a:t> Only hash the business </a:t>
            </a:r>
            <a:r>
              <a:rPr lang="en-US" sz="950" dirty="0">
                <a:solidFill>
                  <a:srgbClr val="475569"/>
                </a:solidFill>
                <a:latin typeface="Inter" pitchFamily="34" charset="0"/>
                <a:ea typeface="Inter" pitchFamily="34" charset="-122"/>
                <a:cs typeface="Inter" pitchFamily="34" charset="-120"/>
              </a:rPr>
              <a:t>attributes you care about-exclude audit columns and </a:t>
            </a:r>
            <a:r>
              <a:rPr lang="en-US" sz="950" dirty="0">
                <a:solidFill>
                  <a:srgbClr val="475569"/>
                </a:solidFill>
                <a:latin typeface="Inter" pitchFamily="34" charset="0"/>
                <a:ea typeface="Inter" pitchFamily="34" charset="-122"/>
                <a:cs typeface="Inter" pitchFamily="34" charset="-120"/>
              </a:rPr>
              <a:t>keys.</a:t>
            </a:r>
            <a:endParaRPr lang="en-US" sz="900" dirty="0"/>
          </a:p>
        </p:txBody>
      </p:sp>
      <p:sp>
        <p:nvSpPr>
          <p:cNvPr id="13" name="Shape 6"/>
          <p:cNvSpPr/>
          <p:nvPr/>
        </p:nvSpPr>
        <p:spPr>
          <a:xfrm>
            <a:off x="4471988" y="2346889"/>
            <a:ext cx="4243388" cy="2343150"/>
          </a:xfrm>
          <a:prstGeom prst="rect">
            <a:avLst/>
          </a:prstGeom>
          <a:solidFill>
            <a:srgbClr val="1E293B"/>
          </a:solidFill>
          <a:ln/>
        </p:spPr>
      </p:sp>
      <p:sp>
        <p:nvSpPr>
          <p:cNvPr id="14" name="Shape 7"/>
          <p:cNvSpPr/>
          <p:nvPr/>
        </p:nvSpPr>
        <p:spPr>
          <a:xfrm>
            <a:off x="4471988" y="2346889"/>
            <a:ext cx="57150" cy="2343150"/>
          </a:xfrm>
          <a:prstGeom prst="rect">
            <a:avLst/>
          </a:prstGeom>
          <a:solidFill>
            <a:srgbClr val="059669"/>
          </a:solidFill>
          <a:ln/>
        </p:spPr>
      </p:sp>
      <p:sp>
        <p:nvSpPr>
          <p:cNvPr id="15" name="Text 8"/>
          <p:cNvSpPr/>
          <p:nvPr/>
        </p:nvSpPr>
        <p:spPr>
          <a:xfrm>
            <a:off x="4471988" y="2346889"/>
            <a:ext cx="4243388" cy="2343150"/>
          </a:xfrm>
          <a:prstGeom prst="rect">
            <a:avLst/>
          </a:prstGeom>
          <a:noFill/>
          <a:ln/>
        </p:spPr>
        <p:txBody>
          <a:bodyPr wrap="square" lIns="204089" tIns="68072" rIns="204089" bIns="0" rtlCol="0" anchor="t">
            <a:spAutoFit/>
          </a:bodyPr>
          <a:lstStyle/>
          <a:p>
            <a:pPr algn="l" indent="0" marL="0">
              <a:lnSpc>
                <a:spcPct val="128000"/>
              </a:lnSpc>
              <a:buNone/>
            </a:pPr>
            <a:r>
              <a:rPr lang="en-US" sz="900" b="1" dirty="0">
                <a:solidFill>
                  <a:srgbClr val="059669"/>
                </a:solidFill>
                <a:latin typeface="Fira Code Medium" pitchFamily="34" charset="0"/>
                <a:ea typeface="Fira Code Medium" pitchFamily="34" charset="-122"/>
                <a:cs typeface="Fira Code Medium" pitchFamily="34" charset="-120"/>
              </a:rPr>
              <a:t>SELECT</a:t>
            </a:r>
            <a:r>
              <a:rPr lang="en-US" sz="950" dirty="0">
                <a:solidFill>
                  <a:srgbClr val="F8FAFC"/>
                </a:solidFill>
                <a:latin typeface="Fira Code" pitchFamily="34" charset="0"/>
                <a:ea typeface="Fira Code" pitchFamily="34" charset="-122"/>
                <a:cs typeface="Fira Code" pitchFamily="34" charset="-120"/>
              </a:rPr>
              <a:t> s.*</a:t>
            </a:r>
            <a:r>
              <a:rPr lang="en-US" sz="950" dirty="0">
                <a:solidFill>
                  <a:srgbClr val="F8FAFC"/>
                </a:solidFill>
                <a:latin typeface="Fira Code" pitchFamily="34" charset="0"/>
                <a:ea typeface="Fira Code" pitchFamily="34" charset="-122"/>
                <a:cs typeface="Fira Code" pitchFamily="34" charset="-120"/>
              </a:rPr>
              <a:t>
</a:t>
            </a:r>
            <a:r>
              <a:rPr lang="en-US" sz="900" b="1" dirty="0">
                <a:solidFill>
                  <a:srgbClr val="059669"/>
                </a:solidFill>
                <a:latin typeface="Fira Code Medium" pitchFamily="34" charset="0"/>
                <a:ea typeface="Fira Code Medium" pitchFamily="34" charset="-122"/>
                <a:cs typeface="Fira Code Medium" pitchFamily="34" charset="-120"/>
              </a:rPr>
              <a:t>FROM</a:t>
            </a:r>
            <a:r>
              <a:rPr lang="en-US" sz="950" dirty="0">
                <a:solidFill>
                  <a:srgbClr val="F8FAFC"/>
                </a:solidFill>
                <a:latin typeface="Fira Code" pitchFamily="34" charset="0"/>
                <a:ea typeface="Fira Code" pitchFamily="34" charset="-122"/>
                <a:cs typeface="Fira Code" pitchFamily="34" charset="-120"/>
              </a:rPr>
              <a:t> staging s</a:t>
            </a:r>
            <a:r>
              <a:rPr lang="en-US" sz="950" dirty="0">
                <a:solidFill>
                  <a:srgbClr val="F8FAFC"/>
                </a:solidFill>
                <a:latin typeface="Fira Code" pitchFamily="34" charset="0"/>
                <a:ea typeface="Fira Code" pitchFamily="34" charset="-122"/>
                <a:cs typeface="Fira Code" pitchFamily="34" charset="-120"/>
              </a:rPr>
              <a:t>
</a:t>
            </a:r>
            <a:r>
              <a:rPr lang="en-US" sz="900" b="1" dirty="0">
                <a:solidFill>
                  <a:srgbClr val="059669"/>
                </a:solidFill>
                <a:latin typeface="Fira Code Medium" pitchFamily="34" charset="0"/>
                <a:ea typeface="Fira Code Medium" pitchFamily="34" charset="-122"/>
                <a:cs typeface="Fira Code Medium" pitchFamily="34" charset="-120"/>
              </a:rPr>
              <a:t>JOIN</a:t>
            </a:r>
            <a:r>
              <a:rPr lang="en-US" sz="950" dirty="0">
                <a:solidFill>
                  <a:srgbClr val="F8FAFC"/>
                </a:solidFill>
                <a:latin typeface="Fira Code" pitchFamily="34" charset="0"/>
                <a:ea typeface="Fira Code" pitchFamily="34" charset="-122"/>
                <a:cs typeface="Fira Code" pitchFamily="34" charset="-120"/>
              </a:rPr>
              <a:t> dim_customer d</a:t>
            </a:r>
            <a:r>
              <a:rPr lang="en-US" sz="950" dirty="0">
                <a:solidFill>
                  <a:srgbClr val="F8FAFC"/>
                </a:solidFill>
                <a:latin typeface="Fira Code" pitchFamily="34" charset="0"/>
                <a:ea typeface="Fira Code" pitchFamily="34" charset="-122"/>
                <a:cs typeface="Fira Code" pitchFamily="34" charset="-120"/>
              </a:rPr>
              <a:t>
</a:t>
            </a:r>
            <a:r>
              <a:rPr lang="en-US" sz="900" b="1" dirty="0">
                <a:solidFill>
                  <a:srgbClr val="059669"/>
                </a:solidFill>
                <a:latin typeface="Fira Code Medium" pitchFamily="34" charset="0"/>
                <a:ea typeface="Fira Code Medium" pitchFamily="34" charset="-122"/>
                <a:cs typeface="Fira Code Medium" pitchFamily="34" charset="-120"/>
              </a:rPr>
              <a:t>ON</a:t>
            </a:r>
            <a:r>
              <a:rPr lang="en-US" sz="950" dirty="0">
                <a:solidFill>
                  <a:srgbClr val="F8FAFC"/>
                </a:solidFill>
                <a:latin typeface="Fira Code" pitchFamily="34" charset="0"/>
                <a:ea typeface="Fira Code" pitchFamily="34" charset="-122"/>
                <a:cs typeface="Fira Code" pitchFamily="34" charset="-120"/>
              </a:rPr>
              <a:t> s.customer_id = d.customer_id</a:t>
            </a:r>
            <a:r>
              <a:rPr lang="en-US" sz="950" dirty="0">
                <a:solidFill>
                  <a:srgbClr val="F8FAFC"/>
                </a:solidFill>
                <a:latin typeface="Fira Code" pitchFamily="34" charset="0"/>
                <a:ea typeface="Fira Code" pitchFamily="34" charset="-122"/>
                <a:cs typeface="Fira Code" pitchFamily="34" charset="-120"/>
              </a:rPr>
              <a:t>
</a:t>
            </a:r>
            <a:r>
              <a:rPr lang="en-US" sz="900" b="1" dirty="0">
                <a:solidFill>
                  <a:srgbClr val="059669"/>
                </a:solidFill>
                <a:latin typeface="Fira Code Medium" pitchFamily="34" charset="0"/>
                <a:ea typeface="Fira Code Medium" pitchFamily="34" charset="-122"/>
                <a:cs typeface="Fira Code Medium" pitchFamily="34" charset="-120"/>
              </a:rPr>
              <a:t>AND</a:t>
            </a:r>
            <a:r>
              <a:rPr lang="en-US" sz="950" dirty="0">
                <a:solidFill>
                  <a:srgbClr val="F8FAFC"/>
                </a:solidFill>
                <a:latin typeface="Fira Code" pitchFamily="34" charset="0"/>
                <a:ea typeface="Fira Code" pitchFamily="34" charset="-122"/>
                <a:cs typeface="Fira Code" pitchFamily="34" charset="-120"/>
              </a:rPr>
              <a:t> d.is_current = </a:t>
            </a:r>
            <a:r>
              <a:rPr lang="en-US" sz="900" b="1" dirty="0">
                <a:solidFill>
                  <a:srgbClr val="059669"/>
                </a:solidFill>
                <a:latin typeface="Fira Code Medium" pitchFamily="34" charset="0"/>
                <a:ea typeface="Fira Code Medium" pitchFamily="34" charset="-122"/>
                <a:cs typeface="Fira Code Medium" pitchFamily="34" charset="-120"/>
              </a:rPr>
              <a:t>TRUE</a:t>
            </a:r>
            <a:r>
              <a:rPr lang="en-US" sz="950" dirty="0">
                <a:solidFill>
                  <a:srgbClr val="F8FAFC"/>
                </a:solidFill>
                <a:latin typeface="Fira Code" pitchFamily="34" charset="0"/>
                <a:ea typeface="Fira Code" pitchFamily="34" charset="-122"/>
                <a:cs typeface="Fira Code" pitchFamily="34" charset="-120"/>
              </a:rPr>
              <a:t>
</a:t>
            </a:r>
            <a:r>
              <a:rPr lang="en-US" sz="900" b="1" dirty="0">
                <a:solidFill>
                  <a:srgbClr val="059669"/>
                </a:solidFill>
                <a:latin typeface="Fira Code Medium" pitchFamily="34" charset="0"/>
                <a:ea typeface="Fira Code Medium" pitchFamily="34" charset="-122"/>
                <a:cs typeface="Fira Code Medium" pitchFamily="34" charset="-120"/>
              </a:rPr>
              <a:t>WHERE</a:t>
            </a:r>
            <a:r>
              <a:rPr lang="en-US" sz="950" dirty="0">
                <a:solidFill>
                  <a:srgbClr val="F8FAFC"/>
                </a:solidFill>
                <a:latin typeface="Fira Code" pitchFamily="34" charset="0"/>
                <a:ea typeface="Fira Code" pitchFamily="34" charset="-122"/>
                <a:cs typeface="Fira Code" pitchFamily="34" charset="-120"/>
              </a:rPr>
              <a:t> s.row_hash &lt;&gt; d.row_hash </a:t>
            </a:r>
            <a:r>
              <a:rPr lang="en-US" sz="950" dirty="0">
                <a:solidFill>
                  <a:srgbClr val="64748B"/>
                </a:solidFill>
                <a:latin typeface="Fira Code" pitchFamily="34" charset="0"/>
                <a:ea typeface="Fira Code" pitchFamily="34" charset="-122"/>
                <a:cs typeface="Fira Code" pitchFamily="34" charset="-120"/>
              </a:rPr>
              <a:t>-- Change </a:t>
            </a:r>
            <a:r>
              <a:rPr lang="en-US" sz="950" dirty="0">
                <a:solidFill>
                  <a:srgbClr val="64748B"/>
                </a:solidFill>
                <a:latin typeface="Fira Code" pitchFamily="34" charset="0"/>
                <a:ea typeface="Fira Code" pitchFamily="34" charset="-122"/>
                <a:cs typeface="Fira Code" pitchFamily="34" charset="-120"/>
              </a:rPr>
              <a:t>detected</a:t>
            </a:r>
            <a:endParaRPr lang="en-US" sz="950" dirty="0"/>
          </a:p>
        </p:txBody>
      </p:sp>
      <p:sp>
        <p:nvSpPr>
          <p:cNvPr id="16" name="Shape 9"/>
          <p:cNvSpPr/>
          <p:nvPr/>
        </p:nvSpPr>
        <p:spPr>
          <a:xfrm>
            <a:off x="4471988" y="4775764"/>
            <a:ext cx="4243388" cy="550069"/>
          </a:xfrm>
          <a:prstGeom prst="rect">
            <a:avLst/>
          </a:prstGeom>
          <a:solidFill>
            <a:srgbClr val="F1F5F9"/>
          </a:solidFill>
          <a:ln/>
        </p:spPr>
      </p:sp>
      <p:sp>
        <p:nvSpPr>
          <p:cNvPr id="17" name="Shape 10"/>
          <p:cNvSpPr/>
          <p:nvPr/>
        </p:nvSpPr>
        <p:spPr>
          <a:xfrm>
            <a:off x="4471988" y="4775764"/>
            <a:ext cx="4243388" cy="7144"/>
          </a:xfrm>
          <a:prstGeom prst="rect">
            <a:avLst/>
          </a:prstGeom>
          <a:solidFill>
            <a:srgbClr val="E2E8F0"/>
          </a:solidFill>
          <a:ln/>
        </p:spPr>
      </p:sp>
      <p:sp>
        <p:nvSpPr>
          <p:cNvPr id="18" name="Text 11"/>
          <p:cNvSpPr/>
          <p:nvPr/>
        </p:nvSpPr>
        <p:spPr>
          <a:xfrm>
            <a:off x="4614863" y="4990077"/>
            <a:ext cx="435769" cy="139303"/>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475569"/>
                </a:solidFill>
                <a:latin typeface="Inter Bold" pitchFamily="34" charset="0"/>
                <a:ea typeface="Inter Bold" pitchFamily="34" charset="-122"/>
                <a:cs typeface="Inter Bold" pitchFamily="34" charset="-120"/>
              </a:rPr>
              <a:t>Pro Tip:</a:t>
            </a:r>
            <a:endParaRPr lang="en-US" sz="800" dirty="0"/>
          </a:p>
        </p:txBody>
      </p:sp>
      <p:sp>
        <p:nvSpPr>
          <p:cNvPr id="19" name="Text 12"/>
          <p:cNvSpPr/>
          <p:nvPr/>
        </p:nvSpPr>
        <p:spPr>
          <a:xfrm>
            <a:off x="5050631" y="4990077"/>
            <a:ext cx="2093119" cy="139303"/>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Use MD5 or SHA-256 to generate the</a:t>
            </a:r>
            <a:endParaRPr lang="en-US" sz="850" dirty="0"/>
          </a:p>
        </p:txBody>
      </p:sp>
      <p:sp>
        <p:nvSpPr>
          <p:cNvPr id="20" name="Text 13"/>
          <p:cNvSpPr/>
          <p:nvPr/>
        </p:nvSpPr>
        <p:spPr>
          <a:xfrm>
            <a:off x="7143750" y="4982933"/>
            <a:ext cx="548673" cy="153591"/>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monospace" pitchFamily="34" charset="0"/>
                <a:ea typeface="monospace" pitchFamily="34" charset="-122"/>
                <a:cs typeface="monospace" pitchFamily="34" charset="-120"/>
              </a:rPr>
              <a:t>row_hash</a:t>
            </a:r>
            <a:endParaRPr lang="en-US" sz="850" dirty="0"/>
          </a:p>
        </p:txBody>
      </p:sp>
      <p:sp>
        <p:nvSpPr>
          <p:cNvPr id="21" name="Text 14"/>
          <p:cNvSpPr/>
          <p:nvPr/>
        </p:nvSpPr>
        <p:spPr>
          <a:xfrm>
            <a:off x="7692423" y="4990077"/>
            <a:ext cx="832247" cy="139303"/>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in your staging</a:t>
            </a:r>
            <a:endParaRPr lang="en-US" sz="850" dirty="0"/>
          </a:p>
        </p:txBody>
      </p:sp>
      <p:sp>
        <p:nvSpPr>
          <p:cNvPr id="22" name="Text 15"/>
          <p:cNvSpPr/>
          <p:nvPr/>
        </p:nvSpPr>
        <p:spPr>
          <a:xfrm>
            <a:off x="4614863" y="5161527"/>
            <a:ext cx="3475434" cy="139303"/>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layer. This makes your ETL logic cleaner and more maintainable.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70353"/>
            <a:ext cx="8286750" cy="411435"/>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Applying a Type 2 Change is Always Two Statements</a:t>
            </a:r>
            <a:endParaRPr lang="en-US" sz="2450" dirty="0"/>
          </a:p>
        </p:txBody>
      </p:sp>
      <p:sp>
        <p:nvSpPr>
          <p:cNvPr id="5" name="Text 1"/>
          <p:cNvSpPr/>
          <p:nvPr/>
        </p:nvSpPr>
        <p:spPr>
          <a:xfrm>
            <a:off x="428625" y="1353238"/>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Atomic transactions are non-negotiable to prevent broken joins and data gaps.</a:t>
            </a:r>
            <a:endParaRPr lang="en-US" sz="1200" dirty="0"/>
          </a:p>
        </p:txBody>
      </p:sp>
      <p:sp>
        <p:nvSpPr>
          <p:cNvPr id="6" name="Text 2"/>
          <p:cNvSpPr/>
          <p:nvPr/>
        </p:nvSpPr>
        <p:spPr>
          <a:xfrm>
            <a:off x="600075" y="1921166"/>
            <a:ext cx="2971800"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Step 1: Close the Old Row</a:t>
            </a:r>
            <a:endParaRPr lang="en-US" sz="1000" dirty="0"/>
          </a:p>
        </p:txBody>
      </p:sp>
      <p:sp>
        <p:nvSpPr>
          <p:cNvPr id="7" name="Text 3"/>
          <p:cNvSpPr/>
          <p:nvPr/>
        </p:nvSpPr>
        <p:spPr>
          <a:xfrm>
            <a:off x="600075" y="2153338"/>
            <a:ext cx="2971800"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Update the existing "current" record to mark it as historical. Set the end date to today.</a:t>
            </a:r>
            <a:endParaRPr lang="en-US" sz="850" dirty="0"/>
          </a:p>
        </p:txBody>
      </p:sp>
      <p:sp>
        <p:nvSpPr>
          <p:cNvPr id="8" name="Text 4"/>
          <p:cNvSpPr/>
          <p:nvPr/>
        </p:nvSpPr>
        <p:spPr>
          <a:xfrm>
            <a:off x="600075" y="2724838"/>
            <a:ext cx="2971800"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Step 2: Insert the New Version</a:t>
            </a:r>
            <a:endParaRPr lang="en-US" sz="1000" dirty="0"/>
          </a:p>
        </p:txBody>
      </p:sp>
      <p:sp>
        <p:nvSpPr>
          <p:cNvPr id="9" name="Text 5"/>
          <p:cNvSpPr/>
          <p:nvPr/>
        </p:nvSpPr>
        <p:spPr>
          <a:xfrm>
            <a:off x="600075" y="2957010"/>
            <a:ext cx="2971800"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475569"/>
                </a:solidFill>
                <a:latin typeface="Inter" pitchFamily="34" charset="0"/>
                <a:ea typeface="Inter" pitchFamily="34" charset="-122"/>
                <a:cs typeface="Inter" pitchFamily="34" charset="-120"/>
              </a:rPr>
              <a:t>Add a fresh row with the updated attributes, a new surrogate key, and an open-ended end date.</a:t>
            </a:r>
            <a:endParaRPr lang="en-US" sz="850" dirty="0"/>
          </a:p>
        </p:txBody>
      </p:sp>
      <p:sp>
        <p:nvSpPr>
          <p:cNvPr id="10" name="Shape 6"/>
          <p:cNvSpPr/>
          <p:nvPr/>
        </p:nvSpPr>
        <p:spPr>
          <a:xfrm>
            <a:off x="428625" y="3585660"/>
            <a:ext cx="3143250" cy="946547"/>
          </a:xfrm>
          <a:prstGeom prst="rect">
            <a:avLst/>
          </a:prstGeom>
          <a:solidFill>
            <a:srgbClr val="FEF2F2"/>
          </a:solidFill>
          <a:ln w="9144">
            <a:solidFill>
              <a:srgbClr val="FCA5A5"/>
            </a:solidFill>
            <a:prstDash val="solid"/>
          </a:ln>
        </p:spPr>
      </p:sp>
      <p:pic>
        <p:nvPicPr>
          <p:cNvPr id="11" name="Image 1" descr="preencoded.png">    </p:cNvPr>
          <p:cNvPicPr>
            <a:picLocks noChangeAspect="1"/>
          </p:cNvPicPr>
          <p:nvPr/>
        </p:nvPicPr>
        <p:blipFill>
          <a:blip r:embed="rId2"/>
          <a:stretch>
            <a:fillRect/>
          </a:stretch>
        </p:blipFill>
        <p:spPr>
          <a:xfrm>
            <a:off x="571500" y="3741037"/>
            <a:ext cx="114300" cy="114300"/>
          </a:xfrm>
          <a:prstGeom prst="rect">
            <a:avLst/>
          </a:prstGeom>
        </p:spPr>
      </p:pic>
      <p:sp>
        <p:nvSpPr>
          <p:cNvPr id="12" name="Text 7"/>
          <p:cNvSpPr/>
          <p:nvPr/>
        </p:nvSpPr>
        <p:spPr>
          <a:xfrm>
            <a:off x="757238" y="3728535"/>
            <a:ext cx="1121569" cy="139303"/>
          </a:xfrm>
          <a:prstGeom prst="rect">
            <a:avLst/>
          </a:prstGeom>
          <a:noFill/>
          <a:ln/>
        </p:spPr>
        <p:txBody>
          <a:bodyPr wrap="none" lIns="0" tIns="0" rIns="0" bIns="0" rtlCol="0" anchor="t">
            <a:spAutoFit/>
          </a:bodyPr>
          <a:lstStyle/>
          <a:p>
            <a:pPr algn="l" indent="0" marL="0">
              <a:buNone/>
            </a:pPr>
            <a:r>
              <a:rPr lang="en-US" sz="800" b="1" dirty="0">
                <a:solidFill>
                  <a:srgbClr val="B91C1C"/>
                </a:solidFill>
                <a:latin typeface="Inter Bold" pitchFamily="34" charset="0"/>
                <a:ea typeface="Inter Bold" pitchFamily="34" charset="-122"/>
                <a:cs typeface="Inter Bold" pitchFamily="34" charset="-120"/>
              </a:rPr>
              <a:t>CRITICAL WARNING</a:t>
            </a:r>
            <a:endParaRPr lang="en-US" sz="800" dirty="0"/>
          </a:p>
        </p:txBody>
      </p:sp>
      <p:sp>
        <p:nvSpPr>
          <p:cNvPr id="13" name="Text 8"/>
          <p:cNvSpPr/>
          <p:nvPr/>
        </p:nvSpPr>
        <p:spPr>
          <a:xfrm>
            <a:off x="571500" y="3967851"/>
            <a:ext cx="2857500" cy="450056"/>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7F1D1D"/>
                </a:solidFill>
                <a:latin typeface="Inter" pitchFamily="34" charset="0"/>
                <a:ea typeface="Inter" pitchFamily="34" charset="-122"/>
                <a:cs typeface="Inter" pitchFamily="34" charset="-120"/>
              </a:rPr>
              <a:t>These must run in the </a:t>
            </a:r>
            <a:r>
              <a:rPr lang="en-US" sz="700" b="1" dirty="0">
                <a:solidFill>
                  <a:srgbClr val="7F1D1D"/>
                </a:solidFill>
                <a:latin typeface="Inter Bold" pitchFamily="34" charset="0"/>
                <a:ea typeface="Inter Bold" pitchFamily="34" charset="-122"/>
                <a:cs typeface="Inter Bold" pitchFamily="34" charset="-120"/>
              </a:rPr>
              <a:t>same transaction</a:t>
            </a:r>
            <a:r>
              <a:rPr lang="en-US" sz="750" dirty="0">
                <a:solidFill>
                  <a:srgbClr val="7F1D1D"/>
                </a:solidFill>
                <a:latin typeface="Inter" pitchFamily="34" charset="0"/>
                <a:ea typeface="Inter" pitchFamily="34" charset="-122"/>
                <a:cs typeface="Inter" pitchFamily="34" charset="-120"/>
              </a:rPr>
              <a:t>. Failure in Step 2 </a:t>
            </a:r>
            <a:r>
              <a:rPr lang="en-US" sz="750" dirty="0">
                <a:solidFill>
                  <a:srgbClr val="7F1D1D"/>
                </a:solidFill>
                <a:latin typeface="Inter" pitchFamily="34" charset="0"/>
                <a:ea typeface="Inter" pitchFamily="34" charset="-122"/>
                <a:cs typeface="Inter" pitchFamily="34" charset="-120"/>
              </a:rPr>
              <a:t>after Step 1 succeeds leaves a customer with zero current </a:t>
            </a:r>
            <a:r>
              <a:rPr lang="en-US" sz="750" dirty="0">
                <a:solidFill>
                  <a:srgbClr val="7F1D1D"/>
                </a:solidFill>
                <a:latin typeface="Inter" pitchFamily="34" charset="0"/>
                <a:ea typeface="Inter" pitchFamily="34" charset="-122"/>
                <a:cs typeface="Inter" pitchFamily="34" charset="-120"/>
              </a:rPr>
              <a:t>rows, breaking every future join.</a:t>
            </a:r>
            <a:endParaRPr lang="en-US" sz="750" dirty="0"/>
          </a:p>
        </p:txBody>
      </p:sp>
      <p:sp>
        <p:nvSpPr>
          <p:cNvPr id="14" name="Text 9"/>
          <p:cNvSpPr/>
          <p:nvPr/>
        </p:nvSpPr>
        <p:spPr>
          <a:xfrm>
            <a:off x="4000500" y="1921166"/>
            <a:ext cx="4714875" cy="103584"/>
          </a:xfrm>
          <a:prstGeom prst="rect">
            <a:avLst/>
          </a:prstGeom>
          <a:noFill/>
          <a:ln/>
        </p:spPr>
        <p:txBody>
          <a:bodyPr wrap="square" lIns="0" tIns="0" rIns="0" bIns="0" rtlCol="0" anchor="t">
            <a:spAutoFit/>
          </a:bodyPr>
          <a:lstStyle/>
          <a:p>
            <a:pPr algn="l" indent="0" marL="0">
              <a:buNone/>
            </a:pPr>
            <a:r>
              <a:rPr lang="en-US" sz="600" b="1" spc="1" kern="0" dirty="0">
                <a:solidFill>
                  <a:srgbClr val="94A3B8"/>
                </a:solidFill>
                <a:latin typeface="Inter Bold" pitchFamily="34" charset="0"/>
                <a:ea typeface="Inter Bold" pitchFamily="34" charset="-122"/>
                <a:cs typeface="Inter Bold" pitchFamily="34" charset="-120"/>
              </a:rPr>
              <a:t>STEP 1: CLOSE OLD ROW</a:t>
            </a:r>
            <a:endParaRPr lang="en-US" sz="600" dirty="0"/>
          </a:p>
        </p:txBody>
      </p:sp>
      <p:sp>
        <p:nvSpPr>
          <p:cNvPr id="15" name="Shape 10"/>
          <p:cNvSpPr/>
          <p:nvPr/>
        </p:nvSpPr>
        <p:spPr>
          <a:xfrm>
            <a:off x="4000500" y="2081901"/>
            <a:ext cx="4714875" cy="942919"/>
          </a:xfrm>
          <a:prstGeom prst="rect">
            <a:avLst/>
          </a:prstGeom>
          <a:solidFill>
            <a:srgbClr val="1E293B"/>
          </a:solidFill>
          <a:ln/>
        </p:spPr>
      </p:sp>
      <p:sp>
        <p:nvSpPr>
          <p:cNvPr id="16" name="Shape 11"/>
          <p:cNvSpPr/>
          <p:nvPr/>
        </p:nvSpPr>
        <p:spPr>
          <a:xfrm>
            <a:off x="4000500" y="2081901"/>
            <a:ext cx="28575" cy="942919"/>
          </a:xfrm>
          <a:prstGeom prst="rect">
            <a:avLst/>
          </a:prstGeom>
          <a:solidFill>
            <a:srgbClr val="059669"/>
          </a:solidFill>
          <a:ln/>
        </p:spPr>
      </p:sp>
      <p:sp>
        <p:nvSpPr>
          <p:cNvPr id="17" name="Text 12"/>
          <p:cNvSpPr/>
          <p:nvPr/>
        </p:nvSpPr>
        <p:spPr>
          <a:xfrm>
            <a:off x="4000500" y="2081901"/>
            <a:ext cx="4714875" cy="942919"/>
          </a:xfrm>
          <a:prstGeom prst="rect">
            <a:avLst/>
          </a:prstGeom>
          <a:noFill/>
          <a:ln/>
        </p:spPr>
        <p:txBody>
          <a:bodyPr wrap="square" lIns="204089" tIns="170053" rIns="204089" bIns="0" rtlCol="0" anchor="t">
            <a:spAutoFit/>
          </a:bodyPr>
          <a:lstStyle/>
          <a:p>
            <a:pPr algn="l" indent="0" marL="0">
              <a:lnSpc>
                <a:spcPct val="128000"/>
              </a:lnSpc>
              <a:buNone/>
            </a:pPr>
            <a:r>
              <a:rPr lang="en-US" sz="700" b="1" dirty="0">
                <a:solidFill>
                  <a:srgbClr val="059669"/>
                </a:solidFill>
                <a:latin typeface="Fira Code Medium" pitchFamily="34" charset="0"/>
                <a:ea typeface="Fira Code Medium" pitchFamily="34" charset="-122"/>
                <a:cs typeface="Fira Code Medium" pitchFamily="34" charset="-120"/>
              </a:rPr>
              <a:t>UPDATE</a:t>
            </a:r>
            <a:r>
              <a:rPr lang="en-US" sz="750" dirty="0">
                <a:solidFill>
                  <a:srgbClr val="F8FAFC"/>
                </a:solidFill>
                <a:latin typeface="Fira Code" pitchFamily="34" charset="0"/>
                <a:ea typeface="Fira Code" pitchFamily="34" charset="-122"/>
                <a:cs typeface="Fira Code" pitchFamily="34" charset="-120"/>
              </a:rPr>
              <a:t> dim_customer</a:t>
            </a:r>
            <a:r>
              <a:rPr lang="en-US" sz="750" dirty="0">
                <a:solidFill>
                  <a:srgbClr val="F8FAFC"/>
                </a:solidFill>
                <a:latin typeface="Fira Code" pitchFamily="34" charset="0"/>
                <a:ea typeface="Fira Code" pitchFamily="34" charset="-122"/>
                <a:cs typeface="Fira Code" pitchFamily="34" charset="-120"/>
              </a:rPr>
              <a:t>
</a:t>
            </a:r>
            <a:r>
              <a:rPr lang="en-US" sz="700" b="1" dirty="0">
                <a:solidFill>
                  <a:srgbClr val="059669"/>
                </a:solidFill>
                <a:latin typeface="Fira Code Medium" pitchFamily="34" charset="0"/>
                <a:ea typeface="Fira Code Medium" pitchFamily="34" charset="-122"/>
                <a:cs typeface="Fira Code Medium" pitchFamily="34" charset="-120"/>
              </a:rPr>
              <a:t>SET</a:t>
            </a:r>
            <a:r>
              <a:rPr lang="en-US" sz="750" dirty="0">
                <a:solidFill>
                  <a:srgbClr val="F8FAFC"/>
                </a:solidFill>
                <a:latin typeface="Fira Code" pitchFamily="34" charset="0"/>
                <a:ea typeface="Fira Code" pitchFamily="34" charset="-122"/>
                <a:cs typeface="Fira Code" pitchFamily="34" charset="-120"/>
              </a:rPr>
              <a:t> effective_end_date = </a:t>
            </a:r>
            <a:r>
              <a:rPr lang="en-US" sz="700" b="1" dirty="0">
                <a:solidFill>
                  <a:srgbClr val="059669"/>
                </a:solidFill>
                <a:latin typeface="Fira Code Medium" pitchFamily="34" charset="0"/>
                <a:ea typeface="Fira Code Medium" pitchFamily="34" charset="-122"/>
                <a:cs typeface="Fira Code Medium" pitchFamily="34" charset="-120"/>
              </a:rPr>
              <a:t>CURRENT_DATE</a:t>
            </a:r>
            <a:r>
              <a:rPr lang="en-US" sz="750" dirty="0">
                <a:solidFill>
                  <a:srgbClr val="F8FAFC"/>
                </a:solidFill>
                <a:latin typeface="Fira Code" pitchFamily="34" charset="0"/>
                <a:ea typeface="Fira Code" pitchFamily="34" charset="-122"/>
                <a:cs typeface="Fira Code" pitchFamily="34" charset="-120"/>
              </a:rPr>
              <a:t>,</a:t>
            </a:r>
            <a:r>
              <a:rPr lang="en-US" sz="750" dirty="0">
                <a:solidFill>
                  <a:srgbClr val="F8FAFC"/>
                </a:solidFill>
                <a:latin typeface="Fira Code" pitchFamily="34" charset="0"/>
                <a:ea typeface="Fira Code" pitchFamily="34" charset="-122"/>
                <a:cs typeface="Fira Code" pitchFamily="34" charset="-120"/>
              </a:rPr>
              <a:t>
</a:t>
            </a:r>
            <a:r>
              <a:rPr lang="en-US" sz="750" dirty="0">
                <a:solidFill>
                  <a:srgbClr val="F8FAFC"/>
                </a:solidFill>
                <a:latin typeface="Fira Code" pitchFamily="34" charset="0"/>
                <a:ea typeface="Fira Code" pitchFamily="34" charset="-122"/>
                <a:cs typeface="Fira Code" pitchFamily="34" charset="-120"/>
              </a:rPr>
              <a:t>is_current = </a:t>
            </a:r>
            <a:r>
              <a:rPr lang="en-US" sz="700" b="1" dirty="0">
                <a:solidFill>
                  <a:srgbClr val="059669"/>
                </a:solidFill>
                <a:latin typeface="Fira Code Medium" pitchFamily="34" charset="0"/>
                <a:ea typeface="Fira Code Medium" pitchFamily="34" charset="-122"/>
                <a:cs typeface="Fira Code Medium" pitchFamily="34" charset="-120"/>
              </a:rPr>
              <a:t>FALSE</a:t>
            </a:r>
            <a:r>
              <a:rPr lang="en-US" sz="750" dirty="0">
                <a:solidFill>
                  <a:srgbClr val="F8FAFC"/>
                </a:solidFill>
                <a:latin typeface="Fira Code" pitchFamily="34" charset="0"/>
                <a:ea typeface="Fira Code" pitchFamily="34" charset="-122"/>
                <a:cs typeface="Fira Code" pitchFamily="34" charset="-120"/>
              </a:rPr>
              <a:t>
</a:t>
            </a:r>
            <a:r>
              <a:rPr lang="en-US" sz="700" b="1" dirty="0">
                <a:solidFill>
                  <a:srgbClr val="059669"/>
                </a:solidFill>
                <a:latin typeface="Fira Code Medium" pitchFamily="34" charset="0"/>
                <a:ea typeface="Fira Code Medium" pitchFamily="34" charset="-122"/>
                <a:cs typeface="Fira Code Medium" pitchFamily="34" charset="-120"/>
              </a:rPr>
              <a:t>WHERE</a:t>
            </a:r>
            <a:r>
              <a:rPr lang="en-US" sz="750" dirty="0">
                <a:solidFill>
                  <a:srgbClr val="F8FAFC"/>
                </a:solidFill>
                <a:latin typeface="Fira Code" pitchFamily="34" charset="0"/>
                <a:ea typeface="Fira Code" pitchFamily="34" charset="-122"/>
                <a:cs typeface="Fira Code" pitchFamily="34" charset="-120"/>
              </a:rPr>
              <a:t> customer_id = :changed_id</a:t>
            </a:r>
            <a:r>
              <a:rPr lang="en-US" sz="750" dirty="0">
                <a:solidFill>
                  <a:srgbClr val="F8FAFC"/>
                </a:solidFill>
                <a:latin typeface="Fira Code" pitchFamily="34" charset="0"/>
                <a:ea typeface="Fira Code" pitchFamily="34" charset="-122"/>
                <a:cs typeface="Fira Code" pitchFamily="34" charset="-120"/>
              </a:rPr>
              <a:t>
</a:t>
            </a:r>
            <a:r>
              <a:rPr lang="en-US" sz="700" b="1" dirty="0">
                <a:solidFill>
                  <a:srgbClr val="059669"/>
                </a:solidFill>
                <a:latin typeface="Fira Code Medium" pitchFamily="34" charset="0"/>
                <a:ea typeface="Fira Code Medium" pitchFamily="34" charset="-122"/>
                <a:cs typeface="Fira Code Medium" pitchFamily="34" charset="-120"/>
              </a:rPr>
              <a:t>AND</a:t>
            </a:r>
            <a:r>
              <a:rPr lang="en-US" sz="750" dirty="0">
                <a:solidFill>
                  <a:srgbClr val="F8FAFC"/>
                </a:solidFill>
                <a:latin typeface="Fira Code" pitchFamily="34" charset="0"/>
                <a:ea typeface="Fira Code" pitchFamily="34" charset="-122"/>
                <a:cs typeface="Fira Code" pitchFamily="34" charset="-120"/>
              </a:rPr>
              <a:t> is_current = </a:t>
            </a:r>
            <a:r>
              <a:rPr lang="en-US" sz="700" b="1" dirty="0">
                <a:solidFill>
                  <a:srgbClr val="059669"/>
                </a:solidFill>
                <a:latin typeface="Fira Code Medium" pitchFamily="34" charset="0"/>
                <a:ea typeface="Fira Code Medium" pitchFamily="34" charset="-122"/>
                <a:cs typeface="Fira Code Medium" pitchFamily="34" charset="-120"/>
              </a:rPr>
              <a:t>TRUE</a:t>
            </a:r>
            <a:r>
              <a:rPr lang="en-US" sz="750" dirty="0">
                <a:solidFill>
                  <a:srgbClr val="F8FAFC"/>
                </a:solidFill>
                <a:latin typeface="Fira Code" pitchFamily="34" charset="0"/>
                <a:ea typeface="Fira Code" pitchFamily="34" charset="-122"/>
                <a:cs typeface="Fira Code" pitchFamily="34" charset="-120"/>
              </a:rPr>
              <a:t>;</a:t>
            </a:r>
            <a:endParaRPr lang="en-US" sz="750" dirty="0"/>
          </a:p>
        </p:txBody>
      </p:sp>
      <p:sp>
        <p:nvSpPr>
          <p:cNvPr id="18" name="Text 13"/>
          <p:cNvSpPr/>
          <p:nvPr/>
        </p:nvSpPr>
        <p:spPr>
          <a:xfrm>
            <a:off x="4000500" y="3196270"/>
            <a:ext cx="4714875" cy="103584"/>
          </a:xfrm>
          <a:prstGeom prst="rect">
            <a:avLst/>
          </a:prstGeom>
          <a:noFill/>
          <a:ln/>
        </p:spPr>
        <p:txBody>
          <a:bodyPr wrap="square" lIns="0" tIns="0" rIns="0" bIns="0" rtlCol="0" anchor="t">
            <a:spAutoFit/>
          </a:bodyPr>
          <a:lstStyle/>
          <a:p>
            <a:pPr algn="l" indent="0" marL="0">
              <a:buNone/>
            </a:pPr>
            <a:r>
              <a:rPr lang="en-US" sz="600" b="1" spc="1" kern="0" dirty="0">
                <a:solidFill>
                  <a:srgbClr val="94A3B8"/>
                </a:solidFill>
                <a:latin typeface="Inter Bold" pitchFamily="34" charset="0"/>
                <a:ea typeface="Inter Bold" pitchFamily="34" charset="-122"/>
                <a:cs typeface="Inter Bold" pitchFamily="34" charset="-120"/>
              </a:rPr>
              <a:t>STEP 2: INSERT NEW VERSION</a:t>
            </a:r>
            <a:endParaRPr lang="en-US" sz="600" dirty="0"/>
          </a:p>
        </p:txBody>
      </p:sp>
      <p:sp>
        <p:nvSpPr>
          <p:cNvPr id="19" name="Shape 14"/>
          <p:cNvSpPr/>
          <p:nvPr/>
        </p:nvSpPr>
        <p:spPr>
          <a:xfrm>
            <a:off x="4000500" y="3357004"/>
            <a:ext cx="4714875" cy="1102928"/>
          </a:xfrm>
          <a:prstGeom prst="rect">
            <a:avLst/>
          </a:prstGeom>
          <a:solidFill>
            <a:srgbClr val="1E293B"/>
          </a:solidFill>
          <a:ln/>
        </p:spPr>
      </p:sp>
      <p:sp>
        <p:nvSpPr>
          <p:cNvPr id="20" name="Shape 15"/>
          <p:cNvSpPr/>
          <p:nvPr/>
        </p:nvSpPr>
        <p:spPr>
          <a:xfrm>
            <a:off x="4000500" y="3357004"/>
            <a:ext cx="28575" cy="1102928"/>
          </a:xfrm>
          <a:prstGeom prst="rect">
            <a:avLst/>
          </a:prstGeom>
          <a:solidFill>
            <a:srgbClr val="059669"/>
          </a:solidFill>
          <a:ln/>
        </p:spPr>
      </p:sp>
      <p:sp>
        <p:nvSpPr>
          <p:cNvPr id="21" name="Text 16"/>
          <p:cNvSpPr/>
          <p:nvPr/>
        </p:nvSpPr>
        <p:spPr>
          <a:xfrm>
            <a:off x="4000500" y="3357004"/>
            <a:ext cx="4714875" cy="1102928"/>
          </a:xfrm>
          <a:prstGeom prst="rect">
            <a:avLst/>
          </a:prstGeom>
          <a:noFill/>
          <a:ln/>
        </p:spPr>
        <p:txBody>
          <a:bodyPr wrap="square" lIns="204089" tIns="170053" rIns="204089" bIns="0" rtlCol="0" anchor="t">
            <a:spAutoFit/>
          </a:bodyPr>
          <a:lstStyle/>
          <a:p>
            <a:pPr algn="l" indent="0" marL="0">
              <a:lnSpc>
                <a:spcPct val="128000"/>
              </a:lnSpc>
              <a:buNone/>
            </a:pPr>
            <a:r>
              <a:rPr lang="en-US" sz="700" b="1" dirty="0">
                <a:solidFill>
                  <a:srgbClr val="059669"/>
                </a:solidFill>
                <a:latin typeface="Fira Code Medium" pitchFamily="34" charset="0"/>
                <a:ea typeface="Fira Code Medium" pitchFamily="34" charset="-122"/>
                <a:cs typeface="Fira Code Medium" pitchFamily="34" charset="-120"/>
              </a:rPr>
              <a:t>INSERT INTO</a:t>
            </a:r>
            <a:r>
              <a:rPr lang="en-US" sz="750" dirty="0">
                <a:solidFill>
                  <a:srgbClr val="F8FAFC"/>
                </a:solidFill>
                <a:latin typeface="Fira Code" pitchFamily="34" charset="0"/>
                <a:ea typeface="Fira Code" pitchFamily="34" charset="-122"/>
                <a:cs typeface="Fira Code" pitchFamily="34" charset="-120"/>
              </a:rPr>
              <a:t> dim_customer</a:t>
            </a:r>
            <a:r>
              <a:rPr lang="en-US" sz="750" dirty="0">
                <a:solidFill>
                  <a:srgbClr val="F8FAFC"/>
                </a:solidFill>
                <a:latin typeface="Fira Code" pitchFamily="34" charset="0"/>
                <a:ea typeface="Fira Code" pitchFamily="34" charset="-122"/>
                <a:cs typeface="Fira Code" pitchFamily="34" charset="-120"/>
              </a:rPr>
              <a:t>
</a:t>
            </a:r>
            <a:r>
              <a:rPr lang="en-US" sz="750" dirty="0">
                <a:solidFill>
                  <a:srgbClr val="F8FAFC"/>
                </a:solidFill>
                <a:latin typeface="Fira Code" pitchFamily="34" charset="0"/>
                <a:ea typeface="Fira Code" pitchFamily="34" charset="-122"/>
                <a:cs typeface="Fira Code" pitchFamily="34" charset="-120"/>
              </a:rPr>
              <a:t>(customer_id, city, tier, effective_start_date,</a:t>
            </a:r>
            <a:r>
              <a:rPr lang="en-US" sz="750" dirty="0">
                <a:solidFill>
                  <a:srgbClr val="F8FAFC"/>
                </a:solidFill>
                <a:latin typeface="Fira Code" pitchFamily="34" charset="0"/>
                <a:ea typeface="Fira Code" pitchFamily="34" charset="-122"/>
                <a:cs typeface="Fira Code" pitchFamily="34" charset="-120"/>
              </a:rPr>
              <a:t>
</a:t>
            </a:r>
            <a:r>
              <a:rPr lang="en-US" sz="750" dirty="0">
                <a:solidFill>
                  <a:srgbClr val="F8FAFC"/>
                </a:solidFill>
                <a:latin typeface="Fira Code" pitchFamily="34" charset="0"/>
                <a:ea typeface="Fira Code" pitchFamily="34" charset="-122"/>
                <a:cs typeface="Fira Code" pitchFamily="34" charset="-120"/>
              </a:rPr>
              <a:t>effective_end_date, is_current)</a:t>
            </a:r>
            <a:r>
              <a:rPr lang="en-US" sz="750" dirty="0">
                <a:solidFill>
                  <a:srgbClr val="F8FAFC"/>
                </a:solidFill>
                <a:latin typeface="Fira Code" pitchFamily="34" charset="0"/>
                <a:ea typeface="Fira Code" pitchFamily="34" charset="-122"/>
                <a:cs typeface="Fira Code" pitchFamily="34" charset="-120"/>
              </a:rPr>
              <a:t>
</a:t>
            </a:r>
            <a:r>
              <a:rPr lang="en-US" sz="700" b="1" dirty="0">
                <a:solidFill>
                  <a:srgbClr val="059669"/>
                </a:solidFill>
                <a:latin typeface="Fira Code Medium" pitchFamily="34" charset="0"/>
                <a:ea typeface="Fira Code Medium" pitchFamily="34" charset="-122"/>
                <a:cs typeface="Fira Code Medium" pitchFamily="34" charset="-120"/>
              </a:rPr>
              <a:t>VALUES</a:t>
            </a:r>
            <a:r>
              <a:rPr lang="en-US" sz="750" dirty="0">
                <a:solidFill>
                  <a:srgbClr val="F8FAFC"/>
                </a:solidFill>
                <a:latin typeface="Fira Code" pitchFamily="34" charset="0"/>
                <a:ea typeface="Fira Code" pitchFamily="34" charset="-122"/>
                <a:cs typeface="Fira Code" pitchFamily="34" charset="-120"/>
              </a:rPr>
              <a:t>
</a:t>
            </a:r>
            <a:r>
              <a:rPr lang="en-US" sz="750" dirty="0">
                <a:solidFill>
                  <a:srgbClr val="F8FAFC"/>
                </a:solidFill>
                <a:latin typeface="Fira Code" pitchFamily="34" charset="0"/>
                <a:ea typeface="Fira Code" pitchFamily="34" charset="-122"/>
                <a:cs typeface="Fira Code" pitchFamily="34" charset="-120"/>
              </a:rPr>
              <a:t>(:changed_id, :new_city, :new_tier, </a:t>
            </a:r>
            <a:r>
              <a:rPr lang="en-US" sz="700" b="1" dirty="0">
                <a:solidFill>
                  <a:srgbClr val="059669"/>
                </a:solidFill>
                <a:latin typeface="Fira Code Medium" pitchFamily="34" charset="0"/>
                <a:ea typeface="Fira Code Medium" pitchFamily="34" charset="-122"/>
                <a:cs typeface="Fira Code Medium" pitchFamily="34" charset="-120"/>
              </a:rPr>
              <a:t>CURRENT_DATE</a:t>
            </a:r>
            <a:r>
              <a:rPr lang="en-US" sz="750" dirty="0">
                <a:solidFill>
                  <a:srgbClr val="F8FAFC"/>
                </a:solidFill>
                <a:latin typeface="Fira Code" pitchFamily="34" charset="0"/>
                <a:ea typeface="Fira Code" pitchFamily="34" charset="-122"/>
                <a:cs typeface="Fira Code" pitchFamily="34" charset="-120"/>
              </a:rPr>
              <a:t>,</a:t>
            </a:r>
            <a:r>
              <a:rPr lang="en-US" sz="750" dirty="0">
                <a:solidFill>
                  <a:srgbClr val="F8FAFC"/>
                </a:solidFill>
                <a:latin typeface="Fira Code" pitchFamily="34" charset="0"/>
                <a:ea typeface="Fira Code" pitchFamily="34" charset="-122"/>
                <a:cs typeface="Fira Code" pitchFamily="34" charset="-120"/>
              </a:rPr>
              <a:t>
</a:t>
            </a:r>
            <a:r>
              <a:rPr lang="en-US" sz="750" dirty="0">
                <a:solidFill>
                  <a:srgbClr val="FCD34D"/>
                </a:solidFill>
                <a:latin typeface="Fira Code" pitchFamily="34" charset="0"/>
                <a:ea typeface="Fira Code" pitchFamily="34" charset="-122"/>
                <a:cs typeface="Fira Code" pitchFamily="34" charset="-120"/>
              </a:rPr>
              <a:t>'9999-12-31'</a:t>
            </a:r>
            <a:r>
              <a:rPr lang="en-US" sz="750" dirty="0">
                <a:solidFill>
                  <a:srgbClr val="F8FAFC"/>
                </a:solidFill>
                <a:latin typeface="Fira Code" pitchFamily="34" charset="0"/>
                <a:ea typeface="Fira Code" pitchFamily="34" charset="-122"/>
                <a:cs typeface="Fira Code" pitchFamily="34" charset="-120"/>
              </a:rPr>
              <a:t>, </a:t>
            </a:r>
            <a:r>
              <a:rPr lang="en-US" sz="700" b="1" dirty="0">
                <a:solidFill>
                  <a:srgbClr val="059669"/>
                </a:solidFill>
                <a:latin typeface="Fira Code Medium" pitchFamily="34" charset="0"/>
                <a:ea typeface="Fira Code Medium" pitchFamily="34" charset="-122"/>
                <a:cs typeface="Fira Code Medium" pitchFamily="34" charset="-120"/>
              </a:rPr>
              <a:t>TRUE</a:t>
            </a:r>
            <a:r>
              <a:rPr lang="en-US" sz="750" dirty="0">
                <a:solidFill>
                  <a:srgbClr val="F8FAFC"/>
                </a:solidFill>
                <a:latin typeface="Fira Code" pitchFamily="34" charset="0"/>
                <a:ea typeface="Fira Code" pitchFamily="34" charset="-122"/>
                <a:cs typeface="Fira Code" pitchFamily="34" charset="-120"/>
              </a:rPr>
              <a:t>);</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66252"/>
          </a:xfrm>
          <a:prstGeom prst="rect">
            <a:avLst/>
          </a:prstGeom>
        </p:spPr>
      </p:pic>
      <p:sp>
        <p:nvSpPr>
          <p:cNvPr id="4" name="Text 0"/>
          <p:cNvSpPr/>
          <p:nvPr/>
        </p:nvSpPr>
        <p:spPr>
          <a:xfrm>
            <a:off x="428625" y="770353"/>
            <a:ext cx="8286750" cy="822871"/>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In PySpark, MERGE Replaces Both Statements at Once</a:t>
            </a:r>
            <a:endParaRPr lang="en-US" sz="2450" dirty="0"/>
          </a:p>
        </p:txBody>
      </p:sp>
      <p:sp>
        <p:nvSpPr>
          <p:cNvPr id="5" name="Text 1"/>
          <p:cNvSpPr/>
          <p:nvPr/>
        </p:nvSpPr>
        <p:spPr>
          <a:xfrm>
            <a:off x="428625" y="1764674"/>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Delta Lake's MERGE INTO provides an atomic, high-performance way to handle SCD Type 2.</a:t>
            </a:r>
            <a:endParaRPr lang="en-US" sz="1200" dirty="0"/>
          </a:p>
        </p:txBody>
      </p:sp>
      <p:sp>
        <p:nvSpPr>
          <p:cNvPr id="6" name="Text 2"/>
          <p:cNvSpPr/>
          <p:nvPr/>
        </p:nvSpPr>
        <p:spPr>
          <a:xfrm>
            <a:off x="285750" y="2304027"/>
            <a:ext cx="3371850"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THE DELTA ADVANTAGE</a:t>
            </a:r>
            <a:endParaRPr lang="en-US" sz="1000" dirty="0"/>
          </a:p>
        </p:txBody>
      </p:sp>
      <p:sp>
        <p:nvSpPr>
          <p:cNvPr id="7" name="Text 3"/>
          <p:cNvSpPr/>
          <p:nvPr/>
        </p:nvSpPr>
        <p:spPr>
          <a:xfrm>
            <a:off x="285750" y="2632639"/>
            <a:ext cx="778669" cy="157163"/>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Delta Lake's</a:t>
            </a:r>
            <a:endParaRPr lang="en-US" sz="950" dirty="0"/>
          </a:p>
        </p:txBody>
      </p:sp>
      <p:sp>
        <p:nvSpPr>
          <p:cNvPr id="8" name="Text 4"/>
          <p:cNvSpPr/>
          <p:nvPr/>
        </p:nvSpPr>
        <p:spPr>
          <a:xfrm>
            <a:off x="1064419" y="2621924"/>
            <a:ext cx="771581" cy="175022"/>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475569"/>
                </a:solidFill>
                <a:latin typeface="monospace" pitchFamily="34" charset="0"/>
                <a:ea typeface="monospace" pitchFamily="34" charset="-122"/>
                <a:cs typeface="monospace" pitchFamily="34" charset="-120"/>
              </a:rPr>
              <a:t>MERGE INTO</a:t>
            </a:r>
            <a:endParaRPr lang="en-US" sz="950" dirty="0"/>
          </a:p>
        </p:txBody>
      </p:sp>
      <p:sp>
        <p:nvSpPr>
          <p:cNvPr id="9" name="Text 5"/>
          <p:cNvSpPr/>
          <p:nvPr/>
        </p:nvSpPr>
        <p:spPr>
          <a:xfrm>
            <a:off x="1836000" y="2632639"/>
            <a:ext cx="1671638" cy="157163"/>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lets you express "close old</a:t>
            </a:r>
            <a:endParaRPr lang="en-US" sz="950" dirty="0"/>
          </a:p>
        </p:txBody>
      </p:sp>
      <p:sp>
        <p:nvSpPr>
          <p:cNvPr id="10" name="Text 6"/>
          <p:cNvSpPr/>
          <p:nvPr/>
        </p:nvSpPr>
        <p:spPr>
          <a:xfrm>
            <a:off x="285750" y="2838357"/>
            <a:ext cx="3118247" cy="157163"/>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475569"/>
                </a:solidFill>
                <a:latin typeface="Inter" pitchFamily="34" charset="0"/>
                <a:ea typeface="Inter" pitchFamily="34" charset="-122"/>
                <a:cs typeface="Inter" pitchFamily="34" charset="-120"/>
              </a:rPr>
              <a:t>row + insert new row" as a single atomic operation.</a:t>
            </a:r>
            <a:endParaRPr lang="en-US" sz="950" dirty="0"/>
          </a:p>
        </p:txBody>
      </p:sp>
      <p:pic>
        <p:nvPicPr>
          <p:cNvPr id="11" name="Image 1" descr="preencoded.png">    </p:cNvPr>
          <p:cNvPicPr>
            <a:picLocks noChangeAspect="1"/>
          </p:cNvPicPr>
          <p:nvPr/>
        </p:nvPicPr>
        <p:blipFill>
          <a:blip r:embed="rId2"/>
          <a:stretch>
            <a:fillRect/>
          </a:stretch>
        </p:blipFill>
        <p:spPr>
          <a:xfrm>
            <a:off x="285750" y="3151231"/>
            <a:ext cx="128588" cy="157163"/>
          </a:xfrm>
          <a:prstGeom prst="rect">
            <a:avLst/>
          </a:prstGeom>
        </p:spPr>
      </p:pic>
      <p:sp>
        <p:nvSpPr>
          <p:cNvPr id="12" name="Text 7"/>
          <p:cNvSpPr/>
          <p:nvPr/>
        </p:nvSpPr>
        <p:spPr>
          <a:xfrm>
            <a:off x="500063" y="3151231"/>
            <a:ext cx="3157538" cy="314325"/>
          </a:xfrm>
          <a:prstGeom prst="rect">
            <a:avLst/>
          </a:prstGeom>
          <a:noFill/>
          <a:ln/>
        </p:spPr>
        <p:txBody>
          <a:bodyPr wrap="square" lIns="0" tIns="0" rIns="0" bIns="0" rtlCol="0" anchor="t">
            <a:spAutoFit/>
          </a:bodyPr>
          <a:lstStyle/>
          <a:p>
            <a:pPr algn="l" indent="0" marL="0">
              <a:buNone/>
            </a:pPr>
            <a:r>
              <a:rPr lang="en-US" sz="900" b="1" dirty="0">
                <a:solidFill>
                  <a:srgbClr val="475569"/>
                </a:solidFill>
                <a:latin typeface="Inter Bold" pitchFamily="34" charset="0"/>
                <a:ea typeface="Inter Bold" pitchFamily="34" charset="-122"/>
                <a:cs typeface="Inter Bold" pitchFamily="34" charset="-120"/>
              </a:rPr>
              <a:t>Atomicity:</a:t>
            </a:r>
            <a:r>
              <a:rPr lang="en-US" sz="950" dirty="0">
                <a:solidFill>
                  <a:srgbClr val="475569"/>
                </a:solidFill>
                <a:latin typeface="Inter" pitchFamily="34" charset="0"/>
                <a:ea typeface="Inter" pitchFamily="34" charset="-122"/>
                <a:cs typeface="Inter" pitchFamily="34" charset="-120"/>
              </a:rPr>
              <a:t> No partial-failure risk between update </a:t>
            </a:r>
            <a:r>
              <a:rPr lang="en-US" sz="950" dirty="0">
                <a:solidFill>
                  <a:srgbClr val="475569"/>
                </a:solidFill>
                <a:latin typeface="Inter" pitchFamily="34" charset="0"/>
                <a:ea typeface="Inter" pitchFamily="34" charset="-122"/>
                <a:cs typeface="Inter" pitchFamily="34" charset="-120"/>
              </a:rPr>
              <a:t>and insert.</a:t>
            </a:r>
            <a:endParaRPr lang="en-US" sz="900" dirty="0"/>
          </a:p>
        </p:txBody>
      </p:sp>
      <p:pic>
        <p:nvPicPr>
          <p:cNvPr id="13" name="Image 2" descr="preencoded.png">    </p:cNvPr>
          <p:cNvPicPr>
            <a:picLocks noChangeAspect="1"/>
          </p:cNvPicPr>
          <p:nvPr/>
        </p:nvPicPr>
        <p:blipFill>
          <a:blip r:embed="rId3"/>
          <a:stretch>
            <a:fillRect/>
          </a:stretch>
        </p:blipFill>
        <p:spPr>
          <a:xfrm>
            <a:off x="285750" y="3536993"/>
            <a:ext cx="146447" cy="157163"/>
          </a:xfrm>
          <a:prstGeom prst="rect">
            <a:avLst/>
          </a:prstGeom>
        </p:spPr>
      </p:pic>
      <p:sp>
        <p:nvSpPr>
          <p:cNvPr id="14" name="Text 8"/>
          <p:cNvSpPr/>
          <p:nvPr/>
        </p:nvSpPr>
        <p:spPr>
          <a:xfrm>
            <a:off x="517922" y="3536993"/>
            <a:ext cx="3139678" cy="314325"/>
          </a:xfrm>
          <a:prstGeom prst="rect">
            <a:avLst/>
          </a:prstGeom>
          <a:noFill/>
          <a:ln/>
        </p:spPr>
        <p:txBody>
          <a:bodyPr wrap="square" lIns="0" tIns="0" rIns="0" bIns="0" rtlCol="0" anchor="t">
            <a:spAutoFit/>
          </a:bodyPr>
          <a:lstStyle/>
          <a:p>
            <a:pPr algn="l" indent="0" marL="0">
              <a:buNone/>
            </a:pPr>
            <a:r>
              <a:rPr lang="en-US" sz="900" b="1" dirty="0">
                <a:solidFill>
                  <a:srgbClr val="475569"/>
                </a:solidFill>
                <a:latin typeface="Inter Bold" pitchFamily="34" charset="0"/>
                <a:ea typeface="Inter Bold" pitchFamily="34" charset="-122"/>
                <a:cs typeface="Inter Bold" pitchFamily="34" charset="-120"/>
              </a:rPr>
              <a:t>Performance:</a:t>
            </a:r>
            <a:r>
              <a:rPr lang="en-US" sz="950" dirty="0">
                <a:solidFill>
                  <a:srgbClr val="475569"/>
                </a:solidFill>
                <a:latin typeface="Inter" pitchFamily="34" charset="0"/>
                <a:ea typeface="Inter" pitchFamily="34" charset="-122"/>
                <a:cs typeface="Inter" pitchFamily="34" charset="-120"/>
              </a:rPr>
              <a:t> Optimized for distributed big data </a:t>
            </a:r>
            <a:r>
              <a:rPr lang="en-US" sz="950" dirty="0">
                <a:solidFill>
                  <a:srgbClr val="475569"/>
                </a:solidFill>
                <a:latin typeface="Inter" pitchFamily="34" charset="0"/>
                <a:ea typeface="Inter" pitchFamily="34" charset="-122"/>
                <a:cs typeface="Inter" pitchFamily="34" charset="-120"/>
              </a:rPr>
              <a:t>workloads.</a:t>
            </a:r>
            <a:endParaRPr lang="en-US" sz="900" dirty="0"/>
          </a:p>
        </p:txBody>
      </p:sp>
      <p:pic>
        <p:nvPicPr>
          <p:cNvPr id="15" name="Image 3" descr="preencoded.png">    </p:cNvPr>
          <p:cNvPicPr>
            <a:picLocks noChangeAspect="1"/>
          </p:cNvPicPr>
          <p:nvPr/>
        </p:nvPicPr>
        <p:blipFill>
          <a:blip r:embed="rId4"/>
          <a:stretch>
            <a:fillRect/>
          </a:stretch>
        </p:blipFill>
        <p:spPr>
          <a:xfrm>
            <a:off x="285750" y="3922756"/>
            <a:ext cx="160734" cy="157163"/>
          </a:xfrm>
          <a:prstGeom prst="rect">
            <a:avLst/>
          </a:prstGeom>
        </p:spPr>
      </p:pic>
      <p:sp>
        <p:nvSpPr>
          <p:cNvPr id="16" name="Text 9"/>
          <p:cNvSpPr/>
          <p:nvPr/>
        </p:nvSpPr>
        <p:spPr>
          <a:xfrm>
            <a:off x="532209" y="3922756"/>
            <a:ext cx="3125391" cy="314325"/>
          </a:xfrm>
          <a:prstGeom prst="rect">
            <a:avLst/>
          </a:prstGeom>
          <a:noFill/>
          <a:ln/>
        </p:spPr>
        <p:txBody>
          <a:bodyPr wrap="square" lIns="0" tIns="0" rIns="0" bIns="0" rtlCol="0" anchor="t">
            <a:spAutoFit/>
          </a:bodyPr>
          <a:lstStyle/>
          <a:p>
            <a:pPr algn="l" indent="0" marL="0">
              <a:buNone/>
            </a:pPr>
            <a:r>
              <a:rPr lang="en-US" sz="900" b="1" dirty="0">
                <a:solidFill>
                  <a:srgbClr val="475569"/>
                </a:solidFill>
                <a:latin typeface="Inter Bold" pitchFamily="34" charset="0"/>
                <a:ea typeface="Inter Bold" pitchFamily="34" charset="-122"/>
                <a:cs typeface="Inter Bold" pitchFamily="34" charset="-120"/>
              </a:rPr>
              <a:t>Declarative:</a:t>
            </a:r>
            <a:r>
              <a:rPr lang="en-US" sz="950" dirty="0">
                <a:solidFill>
                  <a:srgbClr val="475569"/>
                </a:solidFill>
                <a:latin typeface="Inter" pitchFamily="34" charset="0"/>
                <a:ea typeface="Inter" pitchFamily="34" charset="-122"/>
                <a:cs typeface="Inter" pitchFamily="34" charset="-120"/>
              </a:rPr>
              <a:t> Express logic clearly without manual </a:t>
            </a:r>
            <a:r>
              <a:rPr lang="en-US" sz="950" dirty="0">
                <a:solidFill>
                  <a:srgbClr val="475569"/>
                </a:solidFill>
                <a:latin typeface="Inter" pitchFamily="34" charset="0"/>
                <a:ea typeface="Inter" pitchFamily="34" charset="-122"/>
                <a:cs typeface="Inter" pitchFamily="34" charset="-120"/>
              </a:rPr>
              <a:t>transaction management.</a:t>
            </a:r>
            <a:endParaRPr lang="en-US" sz="900" dirty="0"/>
          </a:p>
        </p:txBody>
      </p:sp>
      <p:sp>
        <p:nvSpPr>
          <p:cNvPr id="17" name="Text 10"/>
          <p:cNvSpPr/>
          <p:nvPr/>
        </p:nvSpPr>
        <p:spPr>
          <a:xfrm>
            <a:off x="285750" y="4308518"/>
            <a:ext cx="3371850" cy="485775"/>
          </a:xfrm>
          <a:prstGeom prst="rect">
            <a:avLst/>
          </a:prstGeom>
          <a:noFill/>
          <a:ln/>
        </p:spPr>
        <p:txBody>
          <a:bodyPr wrap="square" lIns="68072" tIns="0" rIns="0" bIns="0" rtlCol="0" anchor="t">
            <a:spAutoFit/>
          </a:bodyPr>
          <a:lstStyle/>
          <a:p>
            <a:pPr algn="l" indent="0" marL="0">
              <a:buNone/>
            </a:pPr>
            <a:r>
              <a:rPr lang="en-US" sz="750" i="1" dirty="0">
                <a:solidFill>
                  <a:srgbClr val="64748B"/>
                </a:solidFill>
                <a:latin typeface="Inter" pitchFamily="34" charset="0"/>
                <a:ea typeface="Inter" pitchFamily="34" charset="-122"/>
                <a:cs typeface="Inter" pitchFamily="34" charset="-120"/>
              </a:rPr>
              <a:t>Note: This closes the changed row in one pass. New-version rows still need a second insert-only pass (or a union staging trick) since one MERGE can't close AND insert the same logical customer in a single matched branch.</a:t>
            </a:r>
            <a:endParaRPr lang="en-US" sz="750" dirty="0"/>
          </a:p>
        </p:txBody>
      </p:sp>
      <p:sp>
        <p:nvSpPr>
          <p:cNvPr id="18" name="Shape 11"/>
          <p:cNvSpPr/>
          <p:nvPr/>
        </p:nvSpPr>
        <p:spPr>
          <a:xfrm>
            <a:off x="3800475" y="2189727"/>
            <a:ext cx="5057775" cy="3276526"/>
          </a:xfrm>
          <a:prstGeom prst="rect">
            <a:avLst/>
          </a:prstGeom>
          <a:solidFill>
            <a:srgbClr val="1E293B"/>
          </a:solidFill>
          <a:ln/>
        </p:spPr>
      </p:sp>
      <p:sp>
        <p:nvSpPr>
          <p:cNvPr id="19" name="Text 12"/>
          <p:cNvSpPr/>
          <p:nvPr/>
        </p:nvSpPr>
        <p:spPr>
          <a:xfrm>
            <a:off x="3886200" y="2246877"/>
            <a:ext cx="4886325" cy="321937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from delta.tables import DeltaTable</a:t>
            </a:r>
            <a:endParaRPr lang="en-US" sz="750" dirty="0"/>
          </a:p>
          <a:p>
            <a:pPr algn="l" indent="0" marL="0">
              <a:lnSpc>
                <a:spcPct val="112000"/>
              </a:lnSpc>
              <a:buNone/>
            </a:pP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target = DeltaTable.forName(spark, "dim_customer")</a:t>
            </a:r>
            <a:endParaRPr lang="en-US" sz="750" dirty="0"/>
          </a:p>
          <a:p>
            <a:pPr algn="l" indent="0" marL="0">
              <a:lnSpc>
                <a:spcPct val="112000"/>
              </a:lnSpc>
              <a:buNone/>
            </a:pP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(target.alias("t")</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.merge(staging_df.alias("s"), "t.id = s.id AND t.is_current = true")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.whenMatchedUpdate(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condition="t.row_hash &lt;&gt; s.row_hash",</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set={</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"is_current": "false",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"effective_end_date": current_date()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.whenNotMatchedInsert(values={</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"customer_id": "s.customer_id",</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"city": "s.city",</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"row_hash": "s.row_hash",</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"effective_start_date": current_date(),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"effective_end_date": '9999-12-31',</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"is_current": "true"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  .execute()</a:t>
            </a:r>
            <a:endParaRPr lang="en-US" sz="750" dirty="0"/>
          </a:p>
          <a:p>
            <a:pPr algn="l" indent="0" marL="0">
              <a:lnSpc>
                <a:spcPct val="112000"/>
              </a:lnSpc>
              <a:buNone/>
            </a:pPr>
            <a:r>
              <a:rPr lang="en-US" sz="750" dirty="0">
                <a:solidFill>
                  <a:srgbClr val="E2E8F0"/>
                </a:solidFill>
                <a:latin typeface="monospace" pitchFamily="34" charset="0"/>
                <a:ea typeface="monospace" pitchFamily="34" charset="-122"/>
                <a:cs typeface="monospace" pitchFamily="34" charset="-120"/>
              </a:rPr>
              <a:t>)</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
            <a:ext cx="3028950" cy="5086350"/>
          </a:xfrm>
          <a:prstGeom prst="rect">
            <a:avLst/>
          </a:prstGeom>
          <a:solidFill>
            <a:srgbClr val="F1F5F9"/>
          </a:solidFill>
          <a:ln/>
        </p:spPr>
      </p:sp>
      <p:sp>
        <p:nvSpPr>
          <p:cNvPr id="5" name="Text 1"/>
          <p:cNvSpPr/>
          <p:nvPr/>
        </p:nvSpPr>
        <p:spPr>
          <a:xfrm>
            <a:off x="428625" y="746633"/>
            <a:ext cx="2314575" cy="1131503"/>
          </a:xfrm>
          <a:prstGeom prst="rect">
            <a:avLst/>
          </a:prstGeom>
          <a:noFill/>
          <a:ln/>
        </p:spPr>
        <p:txBody>
          <a:bodyPr wrap="square" lIns="0" tIns="0" rIns="0" bIns="0" rtlCol="0" anchor="t">
            <a:spAutoFit/>
          </a:bodyPr>
          <a:lstStyle/>
          <a:p>
            <a:pPr algn="l" indent="0" marL="0">
              <a:lnSpc>
                <a:spcPct val="96000"/>
              </a:lnSpc>
              <a:buNone/>
            </a:pPr>
            <a:r>
              <a:rPr lang="en-US" sz="2250" b="1" dirty="0">
                <a:solidFill>
                  <a:srgbClr val="1E293B"/>
                </a:solidFill>
                <a:latin typeface="Playfair Display ExtraBold" pitchFamily="34" charset="0"/>
                <a:ea typeface="Playfair Display ExtraBold" pitchFamily="34" charset="-122"/>
                <a:cs typeface="Playfair Display ExtraBold" pitchFamily="34" charset="-120"/>
              </a:rPr>
              <a:t>Avoid These Five Common SCD Mistakes</a:t>
            </a:r>
            <a:endParaRPr lang="en-US" sz="2250" dirty="0"/>
          </a:p>
        </p:txBody>
      </p:sp>
      <p:sp>
        <p:nvSpPr>
          <p:cNvPr id="6" name="Text 2"/>
          <p:cNvSpPr/>
          <p:nvPr/>
        </p:nvSpPr>
        <p:spPr>
          <a:xfrm>
            <a:off x="428625" y="2049587"/>
            <a:ext cx="2314575" cy="660016"/>
          </a:xfrm>
          <a:prstGeom prst="rect">
            <a:avLst/>
          </a:prstGeom>
          <a:noFill/>
          <a:ln/>
        </p:spPr>
        <p:txBody>
          <a:bodyPr wrap="square" lIns="0" tIns="0" rIns="0" bIns="0" rtlCol="0" anchor="t">
            <a:spAutoFit/>
          </a:bodyPr>
          <a:lstStyle/>
          <a:p>
            <a:pPr algn="l" indent="0" marL="0">
              <a:lnSpc>
                <a:spcPct val="112000"/>
              </a:lnSpc>
              <a:buNone/>
            </a:pPr>
            <a:r>
              <a:rPr lang="en-US" sz="1100" b="1" dirty="0">
                <a:solidFill>
                  <a:srgbClr val="EF4444"/>
                </a:solidFill>
                <a:latin typeface="Inter SemiBold" pitchFamily="34" charset="0"/>
                <a:ea typeface="Inter SemiBold" pitchFamily="34" charset="-122"/>
                <a:cs typeface="Inter SemiBold" pitchFamily="34" charset="-120"/>
              </a:rPr>
              <a:t>Most failures stem from implementation shortcuts taken under pressure.</a:t>
            </a:r>
            <a:endParaRPr lang="en-US" sz="1100" dirty="0"/>
          </a:p>
        </p:txBody>
      </p:sp>
      <p:pic>
        <p:nvPicPr>
          <p:cNvPr id="7" name="Image 1" descr="preencoded.png">    </p:cNvPr>
          <p:cNvPicPr>
            <a:picLocks noChangeAspect="1"/>
          </p:cNvPicPr>
          <p:nvPr/>
        </p:nvPicPr>
        <p:blipFill>
          <a:blip r:embed="rId2">
            <a:alphaModFix amt="10000"/>
          </a:blip>
          <a:stretch>
            <a:fillRect/>
          </a:stretch>
        </p:blipFill>
        <p:spPr>
          <a:xfrm>
            <a:off x="1371600" y="3281102"/>
            <a:ext cx="428625" cy="428625"/>
          </a:xfrm>
          <a:prstGeom prst="rect">
            <a:avLst/>
          </a:prstGeom>
        </p:spPr>
      </p:pic>
      <p:sp>
        <p:nvSpPr>
          <p:cNvPr id="8" name="Text 3"/>
          <p:cNvSpPr/>
          <p:nvPr/>
        </p:nvSpPr>
        <p:spPr>
          <a:xfrm>
            <a:off x="3314700" y="614363"/>
            <a:ext cx="2628900"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Natural Key as PK</a:t>
            </a:r>
            <a:endParaRPr lang="en-US" sz="900" dirty="0"/>
          </a:p>
        </p:txBody>
      </p:sp>
      <p:sp>
        <p:nvSpPr>
          <p:cNvPr id="9" name="Text 4"/>
          <p:cNvSpPr/>
          <p:nvPr/>
        </p:nvSpPr>
        <p:spPr>
          <a:xfrm>
            <a:off x="3314700" y="814388"/>
            <a:ext cx="2628900"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64748B"/>
                </a:solidFill>
                <a:latin typeface="Inter" pitchFamily="34" charset="0"/>
                <a:ea typeface="Inter" pitchFamily="34" charset="-122"/>
                <a:cs typeface="Inter" pitchFamily="34" charset="-120"/>
              </a:rPr>
              <a:t>Breaks Type 2 immediately. Entities need multiple rows with unique keys. Always use Surrogate Keys.</a:t>
            </a:r>
            <a:endParaRPr lang="en-US" sz="750" dirty="0"/>
          </a:p>
        </p:txBody>
      </p:sp>
      <p:sp>
        <p:nvSpPr>
          <p:cNvPr id="10" name="Text 5"/>
          <p:cNvSpPr/>
          <p:nvPr/>
        </p:nvSpPr>
        <p:spPr>
          <a:xfrm>
            <a:off x="6086475" y="614363"/>
            <a:ext cx="2628900"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Forgetting to Close Rows</a:t>
            </a:r>
            <a:endParaRPr lang="en-US" sz="900" dirty="0"/>
          </a:p>
        </p:txBody>
      </p:sp>
      <p:sp>
        <p:nvSpPr>
          <p:cNvPr id="11" name="Text 6"/>
          <p:cNvSpPr/>
          <p:nvPr/>
        </p:nvSpPr>
        <p:spPr>
          <a:xfrm>
            <a:off x="6086475" y="814388"/>
            <a:ext cx="2628900"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64748B"/>
                </a:solidFill>
                <a:latin typeface="Inter" pitchFamily="34" charset="0"/>
                <a:ea typeface="Inter" pitchFamily="34" charset="-122"/>
                <a:cs typeface="Inter" pitchFamily="34" charset="-120"/>
              </a:rPr>
              <a:t>Leaves two "current" rows for one customer, causing fan-out joins and duplicated facts.</a:t>
            </a:r>
            <a:endParaRPr lang="en-US" sz="750" dirty="0"/>
          </a:p>
        </p:txBody>
      </p:sp>
      <p:sp>
        <p:nvSpPr>
          <p:cNvPr id="12" name="Text 7"/>
          <p:cNvSpPr/>
          <p:nvPr/>
        </p:nvSpPr>
        <p:spPr>
          <a:xfrm>
            <a:off x="3314700" y="2214563"/>
            <a:ext cx="2628900"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Hashing Audit Columns</a:t>
            </a:r>
            <a:endParaRPr lang="en-US" sz="900" dirty="0"/>
          </a:p>
        </p:txBody>
      </p:sp>
      <p:sp>
        <p:nvSpPr>
          <p:cNvPr id="13" name="Text 8"/>
          <p:cNvSpPr/>
          <p:nvPr/>
        </p:nvSpPr>
        <p:spPr>
          <a:xfrm>
            <a:off x="3314700" y="2414588"/>
            <a:ext cx="2628900"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64748B"/>
                </a:solidFill>
                <a:latin typeface="Inter" pitchFamily="34" charset="0"/>
                <a:ea typeface="Inter" pitchFamily="34" charset="-122"/>
                <a:cs typeface="Inter" pitchFamily="34" charset="-120"/>
              </a:rPr>
              <a:t>Including load_timestamp triggers false positives on every load, even with no business change.</a:t>
            </a:r>
            <a:endParaRPr lang="en-US" sz="750" dirty="0"/>
          </a:p>
        </p:txBody>
      </p:sp>
      <p:sp>
        <p:nvSpPr>
          <p:cNvPr id="14" name="Text 9"/>
          <p:cNvSpPr/>
          <p:nvPr/>
        </p:nvSpPr>
        <p:spPr>
          <a:xfrm>
            <a:off x="6086475" y="2214563"/>
            <a:ext cx="2628900"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Type 2 on Everything</a:t>
            </a:r>
            <a:endParaRPr lang="en-US" sz="900" dirty="0"/>
          </a:p>
        </p:txBody>
      </p:sp>
      <p:sp>
        <p:nvSpPr>
          <p:cNvPr id="15" name="Text 10"/>
          <p:cNvSpPr/>
          <p:nvPr/>
        </p:nvSpPr>
        <p:spPr>
          <a:xfrm>
            <a:off x="6086475" y="2414588"/>
            <a:ext cx="2628900"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64748B"/>
                </a:solidFill>
                <a:latin typeface="Inter" pitchFamily="34" charset="0"/>
                <a:ea typeface="Inter" pitchFamily="34" charset="-122"/>
                <a:cs typeface="Inter" pitchFamily="34" charset="-120"/>
              </a:rPr>
              <a:t>Not every column needs history. Over-tracking bloats the dimension and slows every query.</a:t>
            </a:r>
            <a:endParaRPr lang="en-US" sz="750" dirty="0"/>
          </a:p>
        </p:txBody>
      </p:sp>
      <p:sp>
        <p:nvSpPr>
          <p:cNvPr id="16" name="Text 11"/>
          <p:cNvSpPr/>
          <p:nvPr/>
        </p:nvSpPr>
        <p:spPr>
          <a:xfrm>
            <a:off x="3314700" y="3814763"/>
            <a:ext cx="5400675" cy="157163"/>
          </a:xfrm>
          <a:prstGeom prst="rect">
            <a:avLst/>
          </a:prstGeom>
          <a:noFill/>
          <a:ln/>
        </p:spPr>
        <p:txBody>
          <a:bodyPr wrap="square" lIns="0" tIns="0" rIns="0" bIns="0" rtlCol="0" anchor="t">
            <a:spAutoFit/>
          </a:bodyPr>
          <a:lstStyle/>
          <a:p>
            <a:pPr algn="l" indent="0" marL="0">
              <a:buNone/>
            </a:pPr>
            <a:r>
              <a:rPr lang="en-US" sz="900" b="1" dirty="0">
                <a:solidFill>
                  <a:srgbClr val="1E293B"/>
                </a:solidFill>
                <a:latin typeface="Inter Bold" pitchFamily="34" charset="0"/>
                <a:ea typeface="Inter Bold" pitchFamily="34" charset="-122"/>
                <a:cs typeface="Inter Bold" pitchFamily="34" charset="-120"/>
              </a:rPr>
              <a:t>Using Type 3 for Ongoing Change</a:t>
            </a:r>
            <a:endParaRPr lang="en-US" sz="900" dirty="0"/>
          </a:p>
        </p:txBody>
      </p:sp>
      <p:sp>
        <p:nvSpPr>
          <p:cNvPr id="17" name="Text 12"/>
          <p:cNvSpPr/>
          <p:nvPr/>
        </p:nvSpPr>
        <p:spPr>
          <a:xfrm>
            <a:off x="3314700" y="4014788"/>
            <a:ext cx="5400675" cy="279946"/>
          </a:xfrm>
          <a:prstGeom prst="rect">
            <a:avLst/>
          </a:prstGeom>
          <a:noFill/>
          <a:ln/>
        </p:spPr>
        <p:txBody>
          <a:bodyPr wrap="square" lIns="0" tIns="0" rIns="0" bIns="0" rtlCol="0" anchor="t">
            <a:spAutoFit/>
          </a:bodyPr>
          <a:lstStyle/>
          <a:p>
            <a:pPr algn="l" indent="0" marL="0">
              <a:lnSpc>
                <a:spcPct val="112000"/>
              </a:lnSpc>
              <a:buNone/>
            </a:pPr>
            <a:r>
              <a:rPr lang="en-US" sz="750" dirty="0">
                <a:solidFill>
                  <a:srgbClr val="64748B"/>
                </a:solidFill>
                <a:latin typeface="Inter" pitchFamily="34" charset="0"/>
                <a:ea typeface="Inter" pitchFamily="34" charset="-122"/>
                <a:cs typeface="Inter" pitchFamily="34" charset="-120"/>
              </a:rPr>
              <a:t>Fine for a one-time reorg. Breaks down fast if the attribute keeps changing - you lose everything before the "previous" value.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770353"/>
            <a:ext cx="8286750" cy="411435"/>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E293B"/>
                </a:solidFill>
                <a:latin typeface="Playfair Display ExtraBold" pitchFamily="34" charset="0"/>
                <a:ea typeface="Playfair Display ExtraBold" pitchFamily="34" charset="-122"/>
                <a:cs typeface="Playfair Display ExtraBold" pitchFamily="34" charset="-120"/>
              </a:rPr>
              <a:t>Five Rules to Master SCDs</a:t>
            </a:r>
            <a:endParaRPr lang="en-US" sz="2450" dirty="0"/>
          </a:p>
        </p:txBody>
      </p:sp>
      <p:sp>
        <p:nvSpPr>
          <p:cNvPr id="5" name="Text 1"/>
          <p:cNvSpPr/>
          <p:nvPr/>
        </p:nvSpPr>
        <p:spPr>
          <a:xfrm>
            <a:off x="428625" y="1353238"/>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Consistency and technical rigor prevent the most expensive data warehouse bugs.</a:t>
            </a:r>
            <a:endParaRPr lang="en-US" sz="1200" dirty="0"/>
          </a:p>
        </p:txBody>
      </p:sp>
      <p:sp>
        <p:nvSpPr>
          <p:cNvPr id="6" name="Text 2"/>
          <p:cNvSpPr/>
          <p:nvPr/>
        </p:nvSpPr>
        <p:spPr>
          <a:xfrm>
            <a:off x="2597925" y="1949741"/>
            <a:ext cx="450056" cy="571500"/>
          </a:xfrm>
          <a:prstGeom prst="rect">
            <a:avLst/>
          </a:prstGeom>
          <a:noFill/>
          <a:ln/>
        </p:spPr>
        <p:txBody>
          <a:bodyPr wrap="none" lIns="0" tIns="0" rIns="0" bIns="0" rtlCol="0" anchor="t">
            <a:spAutoFit/>
          </a:bodyPr>
          <a:lstStyle/>
          <a:p>
            <a:pPr algn="l" indent="0" marL="0">
              <a:buNone/>
            </a:pPr>
            <a:r>
              <a:rPr lang="en-US" sz="31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01</a:t>
            </a:r>
            <a:endParaRPr lang="en-US" sz="3100" dirty="0"/>
          </a:p>
        </p:txBody>
      </p:sp>
      <p:sp>
        <p:nvSpPr>
          <p:cNvPr id="7" name="Text 3"/>
          <p:cNvSpPr/>
          <p:nvPr/>
        </p:nvSpPr>
        <p:spPr>
          <a:xfrm>
            <a:off x="428625" y="2021179"/>
            <a:ext cx="2619356"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Detect Before You Apply</a:t>
            </a:r>
            <a:endParaRPr lang="en-US" sz="1000" dirty="0"/>
          </a:p>
        </p:txBody>
      </p:sp>
      <p:sp>
        <p:nvSpPr>
          <p:cNvPr id="8" name="Text 4"/>
          <p:cNvSpPr/>
          <p:nvPr/>
        </p:nvSpPr>
        <p:spPr>
          <a:xfrm>
            <a:off x="428625" y="2281926"/>
            <a:ext cx="2619356"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Inter" pitchFamily="34" charset="0"/>
                <a:ea typeface="Inter" pitchFamily="34" charset="-122"/>
                <a:cs typeface="Inter" pitchFamily="34" charset="-120"/>
              </a:rPr>
              <a:t>Never write a change you haven't first confirmed with a hash or column comparison. Avoid redundant updates.</a:t>
            </a:r>
            <a:endParaRPr lang="en-US" sz="850" dirty="0"/>
          </a:p>
        </p:txBody>
      </p:sp>
      <p:sp>
        <p:nvSpPr>
          <p:cNvPr id="9" name="Text 5"/>
          <p:cNvSpPr/>
          <p:nvPr/>
        </p:nvSpPr>
        <p:spPr>
          <a:xfrm>
            <a:off x="5367300" y="1949741"/>
            <a:ext cx="514350" cy="571500"/>
          </a:xfrm>
          <a:prstGeom prst="rect">
            <a:avLst/>
          </a:prstGeom>
          <a:noFill/>
          <a:ln/>
        </p:spPr>
        <p:txBody>
          <a:bodyPr wrap="none" lIns="0" tIns="0" rIns="0" bIns="0" rtlCol="0" anchor="t">
            <a:spAutoFit/>
          </a:bodyPr>
          <a:lstStyle/>
          <a:p>
            <a:pPr algn="l" indent="0" marL="0">
              <a:buNone/>
            </a:pPr>
            <a:r>
              <a:rPr lang="en-US" sz="31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02</a:t>
            </a:r>
            <a:endParaRPr lang="en-US" sz="3100" dirty="0"/>
          </a:p>
        </p:txBody>
      </p:sp>
      <p:sp>
        <p:nvSpPr>
          <p:cNvPr id="10" name="Text 6"/>
          <p:cNvSpPr/>
          <p:nvPr/>
        </p:nvSpPr>
        <p:spPr>
          <a:xfrm>
            <a:off x="3262294" y="2021179"/>
            <a:ext cx="2619356"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One Transaction, Two Statements</a:t>
            </a:r>
            <a:endParaRPr lang="en-US" sz="1000" dirty="0"/>
          </a:p>
        </p:txBody>
      </p:sp>
      <p:sp>
        <p:nvSpPr>
          <p:cNvPr id="11" name="Text 7"/>
          <p:cNvSpPr/>
          <p:nvPr/>
        </p:nvSpPr>
        <p:spPr>
          <a:xfrm>
            <a:off x="3262294" y="2281926"/>
            <a:ext cx="2619356"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Inter" pitchFamily="34" charset="0"/>
                <a:ea typeface="Inter" pitchFamily="34" charset="-122"/>
                <a:cs typeface="Inter" pitchFamily="34" charset="-120"/>
              </a:rPr>
              <a:t>Close and insert together, or not at all. Atomic operations are the only way to guarantee data integrity.</a:t>
            </a:r>
            <a:endParaRPr lang="en-US" sz="850" dirty="0"/>
          </a:p>
        </p:txBody>
      </p:sp>
      <p:sp>
        <p:nvSpPr>
          <p:cNvPr id="12" name="Text 8"/>
          <p:cNvSpPr/>
          <p:nvPr/>
        </p:nvSpPr>
        <p:spPr>
          <a:xfrm>
            <a:off x="8218829" y="1949741"/>
            <a:ext cx="496491" cy="571500"/>
          </a:xfrm>
          <a:prstGeom prst="rect">
            <a:avLst/>
          </a:prstGeom>
          <a:noFill/>
          <a:ln/>
        </p:spPr>
        <p:txBody>
          <a:bodyPr wrap="none" lIns="0" tIns="0" rIns="0" bIns="0" rtlCol="0" anchor="t">
            <a:spAutoFit/>
          </a:bodyPr>
          <a:lstStyle/>
          <a:p>
            <a:pPr algn="l" indent="0" marL="0">
              <a:buNone/>
            </a:pPr>
            <a:r>
              <a:rPr lang="en-US" sz="31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03</a:t>
            </a:r>
            <a:endParaRPr lang="en-US" sz="3100" dirty="0"/>
          </a:p>
        </p:txBody>
      </p:sp>
      <p:sp>
        <p:nvSpPr>
          <p:cNvPr id="13" name="Text 9"/>
          <p:cNvSpPr/>
          <p:nvPr/>
        </p:nvSpPr>
        <p:spPr>
          <a:xfrm>
            <a:off x="6095963" y="2021179"/>
            <a:ext cx="2619356"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Surrogate Keys are Non-Negotiable</a:t>
            </a:r>
            <a:endParaRPr lang="en-US" sz="1000" dirty="0"/>
          </a:p>
        </p:txBody>
      </p:sp>
      <p:sp>
        <p:nvSpPr>
          <p:cNvPr id="14" name="Text 10"/>
          <p:cNvSpPr/>
          <p:nvPr/>
        </p:nvSpPr>
        <p:spPr>
          <a:xfrm>
            <a:off x="6095963" y="2281926"/>
            <a:ext cx="2619356"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Inter" pitchFamily="34" charset="0"/>
                <a:ea typeface="Inter" pitchFamily="34" charset="-122"/>
                <a:cs typeface="Inter" pitchFamily="34" charset="-120"/>
              </a:rPr>
              <a:t>The natural key identifies the entity; the surrogate key identifies the version. You cannot track Type 2 without them.</a:t>
            </a:r>
            <a:endParaRPr lang="en-US" sz="850" dirty="0"/>
          </a:p>
        </p:txBody>
      </p:sp>
      <p:sp>
        <p:nvSpPr>
          <p:cNvPr id="15" name="Text 11"/>
          <p:cNvSpPr/>
          <p:nvPr/>
        </p:nvSpPr>
        <p:spPr>
          <a:xfrm>
            <a:off x="2537203" y="3346568"/>
            <a:ext cx="510778" cy="571500"/>
          </a:xfrm>
          <a:prstGeom prst="rect">
            <a:avLst/>
          </a:prstGeom>
          <a:noFill/>
          <a:ln/>
        </p:spPr>
        <p:txBody>
          <a:bodyPr wrap="none" lIns="0" tIns="0" rIns="0" bIns="0" rtlCol="0" anchor="t">
            <a:spAutoFit/>
          </a:bodyPr>
          <a:lstStyle/>
          <a:p>
            <a:pPr algn="l" indent="0" marL="0">
              <a:buNone/>
            </a:pPr>
            <a:r>
              <a:rPr lang="en-US" sz="31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04</a:t>
            </a:r>
            <a:endParaRPr lang="en-US" sz="3100" dirty="0"/>
          </a:p>
        </p:txBody>
      </p:sp>
      <p:sp>
        <p:nvSpPr>
          <p:cNvPr id="16" name="Text 12"/>
          <p:cNvSpPr/>
          <p:nvPr/>
        </p:nvSpPr>
        <p:spPr>
          <a:xfrm>
            <a:off x="428625" y="3418005"/>
            <a:ext cx="2619356"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Match the Type to the Business</a:t>
            </a:r>
            <a:endParaRPr lang="en-US" sz="1000" dirty="0"/>
          </a:p>
        </p:txBody>
      </p:sp>
      <p:sp>
        <p:nvSpPr>
          <p:cNvPr id="17" name="Text 13"/>
          <p:cNvSpPr/>
          <p:nvPr/>
        </p:nvSpPr>
        <p:spPr>
          <a:xfrm>
            <a:off x="428625" y="3678752"/>
            <a:ext cx="2619356"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Inter" pitchFamily="34" charset="0"/>
                <a:ea typeface="Inter" pitchFamily="34" charset="-122"/>
                <a:cs typeface="Inter" pitchFamily="34" charset="-120"/>
              </a:rPr>
              <a:t>One hop of history? Type 3. Full timeline? Type 2. Choose the method that matches the analytical requirement.</a:t>
            </a:r>
            <a:endParaRPr lang="en-US" sz="850" dirty="0"/>
          </a:p>
        </p:txBody>
      </p:sp>
      <p:sp>
        <p:nvSpPr>
          <p:cNvPr id="18" name="Text 14"/>
          <p:cNvSpPr/>
          <p:nvPr/>
        </p:nvSpPr>
        <p:spPr>
          <a:xfrm>
            <a:off x="5395875" y="3346568"/>
            <a:ext cx="485775" cy="571500"/>
          </a:xfrm>
          <a:prstGeom prst="rect">
            <a:avLst/>
          </a:prstGeom>
          <a:noFill/>
          <a:ln/>
        </p:spPr>
        <p:txBody>
          <a:bodyPr wrap="none" lIns="0" tIns="0" rIns="0" bIns="0" rtlCol="0" anchor="t">
            <a:spAutoFit/>
          </a:bodyPr>
          <a:lstStyle/>
          <a:p>
            <a:pPr algn="l" indent="0" marL="0">
              <a:buNone/>
            </a:pPr>
            <a:r>
              <a:rPr lang="en-US" sz="3100" b="1" dirty="0">
                <a:solidFill>
                  <a:srgbClr val="059669">
                    <a:alpha val="10000"/>
                  </a:srgbClr>
                </a:solidFill>
                <a:latin typeface="Playfair Display ExtraBold" pitchFamily="34" charset="0"/>
                <a:ea typeface="Playfair Display ExtraBold" pitchFamily="34" charset="-122"/>
                <a:cs typeface="Playfair Display ExtraBold" pitchFamily="34" charset="-120"/>
              </a:rPr>
              <a:t>05</a:t>
            </a:r>
            <a:endParaRPr lang="en-US" sz="3100" dirty="0"/>
          </a:p>
        </p:txBody>
      </p:sp>
      <p:sp>
        <p:nvSpPr>
          <p:cNvPr id="19" name="Text 15"/>
          <p:cNvSpPr/>
          <p:nvPr/>
        </p:nvSpPr>
        <p:spPr>
          <a:xfrm>
            <a:off x="3262294" y="3418005"/>
            <a:ext cx="2619356" cy="175022"/>
          </a:xfrm>
          <a:prstGeom prst="rect">
            <a:avLst/>
          </a:prstGeom>
          <a:noFill/>
          <a:ln/>
        </p:spPr>
        <p:txBody>
          <a:bodyPr wrap="square" lIns="0" tIns="0" rIns="0" bIns="0" rtlCol="0" anchor="t">
            <a:spAutoFit/>
          </a:bodyPr>
          <a:lstStyle/>
          <a:p>
            <a:pPr algn="l" indent="0" marL="0">
              <a:buNone/>
            </a:pPr>
            <a:r>
              <a:rPr lang="en-US" sz="1000" b="1" dirty="0">
                <a:solidFill>
                  <a:srgbClr val="1E293B"/>
                </a:solidFill>
                <a:latin typeface="Inter Bold" pitchFamily="34" charset="0"/>
                <a:ea typeface="Inter Bold" pitchFamily="34" charset="-122"/>
                <a:cs typeface="Inter Bold" pitchFamily="34" charset="-120"/>
              </a:rPr>
              <a:t>MERGE is a Tool, Not a Shortcut</a:t>
            </a:r>
            <a:endParaRPr lang="en-US" sz="1000" dirty="0"/>
          </a:p>
        </p:txBody>
      </p:sp>
      <p:sp>
        <p:nvSpPr>
          <p:cNvPr id="20" name="Text 16"/>
          <p:cNvSpPr/>
          <p:nvPr/>
        </p:nvSpPr>
        <p:spPr>
          <a:xfrm>
            <a:off x="3262294" y="3678752"/>
            <a:ext cx="2619356" cy="51435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64748B"/>
                </a:solidFill>
                <a:latin typeface="Inter" pitchFamily="34" charset="0"/>
                <a:ea typeface="Inter" pitchFamily="34" charset="-122"/>
                <a:cs typeface="Inter" pitchFamily="34" charset="-120"/>
              </a:rPr>
              <a:t>It removes race conditions, but you still need to design the close/insert logic correctly for your specific engine.</a:t>
            </a:r>
            <a:endParaRPr lang="en-US" sz="850" dirty="0"/>
          </a:p>
        </p:txBody>
      </p:sp>
      <p:sp>
        <p:nvSpPr>
          <p:cNvPr id="21" name="Shape 17"/>
          <p:cNvSpPr/>
          <p:nvPr/>
        </p:nvSpPr>
        <p:spPr>
          <a:xfrm>
            <a:off x="0" y="4429125"/>
            <a:ext cx="9144000" cy="714375"/>
          </a:xfrm>
          <a:prstGeom prst="rect">
            <a:avLst/>
          </a:prstGeom>
          <a:solidFill>
            <a:srgbClr val="1E293B"/>
          </a:solidFill>
          <a:ln/>
        </p:spPr>
      </p:sp>
      <p:sp>
        <p:nvSpPr>
          <p:cNvPr id="22" name="Text 18"/>
          <p:cNvSpPr/>
          <p:nvPr/>
        </p:nvSpPr>
        <p:spPr>
          <a:xfrm>
            <a:off x="428625" y="4779169"/>
            <a:ext cx="5457825" cy="157163"/>
          </a:xfrm>
          <a:prstGeom prst="rect">
            <a:avLst/>
          </a:prstGeom>
          <a:noFill/>
          <a:ln/>
        </p:spPr>
        <p:txBody>
          <a:bodyPr wrap="square" lIns="0" tIns="0" rIns="0" bIns="0" rtlCol="0" anchor="t">
            <a:spAutoFit/>
          </a:bodyPr>
          <a:lstStyle/>
          <a:p>
            <a:pPr algn="l" indent="0" marL="0">
              <a:buNone/>
            </a:pPr>
            <a:r>
              <a:rPr lang="en-US" sz="900" b="1" dirty="0">
                <a:solidFill>
                  <a:srgbClr val="059669"/>
                </a:solidFill>
                <a:latin typeface="Inter Bold" pitchFamily="34" charset="0"/>
                <a:ea typeface="Inter Bold" pitchFamily="34" charset="-122"/>
                <a:cs typeface="Inter Bold" pitchFamily="34" charset="-120"/>
              </a:rPr>
              <a:t>THE RESULT:</a:t>
            </a:r>
            <a:r>
              <a:rPr lang="en-US" sz="950" dirty="0">
                <a:solidFill>
                  <a:srgbClr val="F8FAFC"/>
                </a:solidFill>
                <a:latin typeface="Inter Medium" pitchFamily="34" charset="0"/>
                <a:ea typeface="Inter Medium" pitchFamily="34" charset="-122"/>
                <a:cs typeface="Inter Medium" pitchFamily="34" charset="-120"/>
              </a:rPr>
              <a:t> These rules prevent duplicated current rows and silently rewritten history.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896652"/>
            <a:ext cx="8286750" cy="880021"/>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F8FAFC"/>
                </a:solidFill>
                <a:latin typeface="Playfair Display ExtraBold" pitchFamily="34" charset="0"/>
                <a:ea typeface="Playfair Display ExtraBold" pitchFamily="34" charset="-122"/>
                <a:cs typeface="Playfair Display ExtraBold" pitchFamily="34" charset="-120"/>
              </a:rPr>
              <a:t>Advance Your Skills with Kimball's Methodology</a:t>
            </a:r>
            <a:endParaRPr lang="en-US" sz="2850" dirty="0"/>
          </a:p>
        </p:txBody>
      </p:sp>
      <p:sp>
        <p:nvSpPr>
          <p:cNvPr id="5" name="Text 1"/>
          <p:cNvSpPr/>
          <p:nvPr/>
        </p:nvSpPr>
        <p:spPr>
          <a:xfrm>
            <a:off x="428625" y="1948123"/>
            <a:ext cx="8286750" cy="210741"/>
          </a:xfrm>
          <a:prstGeom prst="rect">
            <a:avLst/>
          </a:prstGeom>
          <a:noFill/>
          <a:ln/>
        </p:spPr>
        <p:txBody>
          <a:bodyPr wrap="square" lIns="0" tIns="0" rIns="0" bIns="0" rtlCol="0" anchor="t">
            <a:spAutoFit/>
          </a:bodyPr>
          <a:lstStyle/>
          <a:p>
            <a:pPr algn="l" indent="0" marL="0">
              <a:buNone/>
            </a:pPr>
            <a:r>
              <a:rPr lang="en-US" sz="1200" b="1" dirty="0">
                <a:solidFill>
                  <a:srgbClr val="059669"/>
                </a:solidFill>
                <a:latin typeface="Inter SemiBold" pitchFamily="34" charset="0"/>
                <a:ea typeface="Inter SemiBold" pitchFamily="34" charset="-122"/>
                <a:cs typeface="Inter SemiBold" pitchFamily="34" charset="-120"/>
              </a:rPr>
              <a:t>Real-world modeling requires continuous practice and learning.</a:t>
            </a:r>
            <a:endParaRPr lang="en-US" sz="1200" dirty="0"/>
          </a:p>
        </p:txBody>
      </p:sp>
      <p:sp>
        <p:nvSpPr>
          <p:cNvPr id="6" name="Text 2"/>
          <p:cNvSpPr/>
          <p:nvPr/>
        </p:nvSpPr>
        <p:spPr>
          <a:xfrm>
            <a:off x="428625" y="2358889"/>
            <a:ext cx="4000500" cy="221456"/>
          </a:xfrm>
          <a:prstGeom prst="rect">
            <a:avLst/>
          </a:prstGeom>
          <a:noFill/>
          <a:ln/>
        </p:spPr>
        <p:txBody>
          <a:bodyPr wrap="square" lIns="0" tIns="0" rIns="0" bIns="68072" rtlCol="0" anchor="t">
            <a:spAutoFit/>
          </a:bodyPr>
          <a:lstStyle/>
          <a:p>
            <a:pPr algn="l" indent="0" marL="0">
              <a:buNone/>
            </a:pPr>
            <a:r>
              <a:rPr lang="en-US" sz="900" b="1" spc="2" kern="0" dirty="0">
                <a:solidFill>
                  <a:srgbClr val="059669"/>
                </a:solidFill>
                <a:latin typeface="Inter Bold" pitchFamily="34" charset="0"/>
                <a:ea typeface="Inter Bold" pitchFamily="34" charset="-122"/>
                <a:cs typeface="Inter Bold" pitchFamily="34" charset="-120"/>
              </a:rPr>
              <a:t>ESSENTIAL READING &amp; PRACTICE</a:t>
            </a:r>
            <a:endParaRPr lang="en-US" sz="900" dirty="0"/>
          </a:p>
        </p:txBody>
      </p:sp>
      <p:pic>
        <p:nvPicPr>
          <p:cNvPr id="7" name="Image 1" descr="preencoded.png">    </p:cNvPr>
          <p:cNvPicPr>
            <a:picLocks noChangeAspect="1"/>
          </p:cNvPicPr>
          <p:nvPr/>
        </p:nvPicPr>
        <p:blipFill>
          <a:blip r:embed="rId2"/>
          <a:stretch>
            <a:fillRect/>
          </a:stretch>
        </p:blipFill>
        <p:spPr>
          <a:xfrm>
            <a:off x="428625" y="2666070"/>
            <a:ext cx="150019" cy="200025"/>
          </a:xfrm>
          <a:prstGeom prst="rect">
            <a:avLst/>
          </a:prstGeom>
        </p:spPr>
      </p:pic>
      <p:sp>
        <p:nvSpPr>
          <p:cNvPr id="8" name="Text 3"/>
          <p:cNvSpPr/>
          <p:nvPr/>
        </p:nvSpPr>
        <p:spPr>
          <a:xfrm>
            <a:off x="692944" y="2666070"/>
            <a:ext cx="3439716" cy="411435"/>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8FAFC"/>
                </a:solidFill>
                <a:latin typeface="Inter Bold" pitchFamily="34" charset="0"/>
                <a:ea typeface="Inter Bold" pitchFamily="34" charset="-122"/>
                <a:cs typeface="Inter Bold" pitchFamily="34" charset="-120"/>
              </a:rPr>
              <a:t>The Data Warehouse Toolkit</a:t>
            </a:r>
            <a:r>
              <a:rPr lang="en-US" sz="950" dirty="0">
                <a:solidFill>
                  <a:srgbClr val="CBD5E1"/>
                </a:solidFill>
                <a:latin typeface="Inter" pitchFamily="34" charset="0"/>
                <a:ea typeface="Inter" pitchFamily="34" charset="-122"/>
                <a:cs typeface="Inter" pitchFamily="34" charset="-120"/>
              </a:rPr>
              <a:t>
</a:t>
            </a:r>
            <a:r>
              <a:rPr lang="en-US" sz="950" dirty="0">
                <a:solidFill>
                  <a:srgbClr val="CBD5E1"/>
                </a:solidFill>
                <a:latin typeface="Inter" pitchFamily="34" charset="0"/>
                <a:ea typeface="Inter" pitchFamily="34" charset="-122"/>
                <a:cs typeface="Inter" pitchFamily="34" charset="-120"/>
              </a:rPr>
              <a:t>Ralph Kimball (Chapter 5 - Slowly Changing Dimensions)</a:t>
            </a:r>
            <a:endParaRPr lang="en-US" sz="950" dirty="0"/>
          </a:p>
        </p:txBody>
      </p:sp>
      <p:pic>
        <p:nvPicPr>
          <p:cNvPr id="9" name="Image 2" descr="preencoded.png">    </p:cNvPr>
          <p:cNvPicPr>
            <a:picLocks noChangeAspect="1"/>
          </p:cNvPicPr>
          <p:nvPr/>
        </p:nvPicPr>
        <p:blipFill>
          <a:blip r:embed="rId3"/>
          <a:stretch>
            <a:fillRect/>
          </a:stretch>
        </p:blipFill>
        <p:spPr>
          <a:xfrm>
            <a:off x="428625" y="3206093"/>
            <a:ext cx="214313" cy="200025"/>
          </a:xfrm>
          <a:prstGeom prst="rect">
            <a:avLst/>
          </a:prstGeom>
        </p:spPr>
      </p:pic>
      <p:sp>
        <p:nvSpPr>
          <p:cNvPr id="10" name="Text 4"/>
          <p:cNvSpPr/>
          <p:nvPr/>
        </p:nvSpPr>
        <p:spPr>
          <a:xfrm>
            <a:off x="757238" y="3206093"/>
            <a:ext cx="3671888"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8FAFC"/>
                </a:solidFill>
                <a:latin typeface="Inter Bold" pitchFamily="34" charset="0"/>
                <a:ea typeface="Inter Bold" pitchFamily="34" charset="-122"/>
                <a:cs typeface="Inter Bold" pitchFamily="34" charset="-120"/>
              </a:rPr>
              <a:t>Immediate Practice:</a:t>
            </a:r>
            <a:r>
              <a:rPr lang="en-US" sz="950" dirty="0">
                <a:solidFill>
                  <a:srgbClr val="CBD5E1"/>
                </a:solidFill>
                <a:latin typeface="Inter" pitchFamily="34" charset="0"/>
                <a:ea typeface="Inter" pitchFamily="34" charset="-122"/>
                <a:cs typeface="Inter" pitchFamily="34" charset="-120"/>
              </a:rPr>
              <a:t>
</a:t>
            </a:r>
            <a:r>
              <a:rPr lang="en-US" sz="950" dirty="0">
                <a:solidFill>
                  <a:srgbClr val="CBD5E1"/>
                </a:solidFill>
                <a:latin typeface="Inter" pitchFamily="34" charset="0"/>
                <a:ea typeface="Inter" pitchFamily="34" charset="-122"/>
                <a:cs typeface="Inter" pitchFamily="34" charset="-120"/>
              </a:rPr>
              <a:t>Redesign a Session 1 dimension as Type 2 and write the </a:t>
            </a:r>
            <a:r>
              <a:rPr lang="en-US" sz="950" dirty="0">
                <a:solidFill>
                  <a:srgbClr val="CBD5E1"/>
                </a:solidFill>
                <a:latin typeface="Inter" pitchFamily="34" charset="0"/>
                <a:ea typeface="Inter" pitchFamily="34" charset="-122"/>
                <a:cs typeface="Inter" pitchFamily="34" charset="-120"/>
              </a:rPr>
              <a:t>hash-based change-detection query.</a:t>
            </a:r>
            <a:endParaRPr lang="en-US" sz="950" dirty="0"/>
          </a:p>
        </p:txBody>
      </p:sp>
      <p:sp>
        <p:nvSpPr>
          <p:cNvPr id="11" name="Text 5"/>
          <p:cNvSpPr/>
          <p:nvPr/>
        </p:nvSpPr>
        <p:spPr>
          <a:xfrm>
            <a:off x="4714875" y="2358889"/>
            <a:ext cx="4000500" cy="221456"/>
          </a:xfrm>
          <a:prstGeom prst="rect">
            <a:avLst/>
          </a:prstGeom>
          <a:noFill/>
          <a:ln/>
        </p:spPr>
        <p:txBody>
          <a:bodyPr wrap="square" lIns="0" tIns="0" rIns="0" bIns="68072" rtlCol="0" anchor="t">
            <a:spAutoFit/>
          </a:bodyPr>
          <a:lstStyle/>
          <a:p>
            <a:pPr algn="l" indent="0" marL="0">
              <a:buNone/>
            </a:pPr>
            <a:r>
              <a:rPr lang="en-US" sz="900" b="1" spc="2" kern="0" dirty="0">
                <a:solidFill>
                  <a:srgbClr val="059669"/>
                </a:solidFill>
                <a:latin typeface="Inter Bold" pitchFamily="34" charset="0"/>
                <a:ea typeface="Inter Bold" pitchFamily="34" charset="-122"/>
                <a:cs typeface="Inter Bold" pitchFamily="34" charset="-120"/>
              </a:rPr>
              <a:t>NEXT TOPICS &amp; CONTACT</a:t>
            </a:r>
            <a:endParaRPr lang="en-US" sz="900" dirty="0"/>
          </a:p>
        </p:txBody>
      </p:sp>
      <p:pic>
        <p:nvPicPr>
          <p:cNvPr id="12" name="Image 3" descr="preencoded.png">    </p:cNvPr>
          <p:cNvPicPr>
            <a:picLocks noChangeAspect="1"/>
          </p:cNvPicPr>
          <p:nvPr/>
        </p:nvPicPr>
        <p:blipFill>
          <a:blip r:embed="rId4"/>
          <a:stretch>
            <a:fillRect/>
          </a:stretch>
        </p:blipFill>
        <p:spPr>
          <a:xfrm>
            <a:off x="4714875" y="2666070"/>
            <a:ext cx="150019" cy="200025"/>
          </a:xfrm>
          <a:prstGeom prst="rect">
            <a:avLst/>
          </a:prstGeom>
        </p:spPr>
      </p:pic>
      <p:sp>
        <p:nvSpPr>
          <p:cNvPr id="13" name="Text 6"/>
          <p:cNvSpPr/>
          <p:nvPr/>
        </p:nvSpPr>
        <p:spPr>
          <a:xfrm>
            <a:off x="4979194" y="2666070"/>
            <a:ext cx="3736181"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8FAFC"/>
                </a:solidFill>
                <a:latin typeface="Inter Bold" pitchFamily="34" charset="0"/>
                <a:ea typeface="Inter Bold" pitchFamily="34" charset="-122"/>
                <a:cs typeface="Inter Bold" pitchFamily="34" charset="-120"/>
              </a:rPr>
              <a:t>Coming Up:</a:t>
            </a:r>
            <a:r>
              <a:rPr lang="en-US" sz="950" dirty="0">
                <a:solidFill>
                  <a:srgbClr val="CBD5E1"/>
                </a:solidFill>
                <a:latin typeface="Inter" pitchFamily="34" charset="0"/>
                <a:ea typeface="Inter" pitchFamily="34" charset="-122"/>
                <a:cs typeface="Inter" pitchFamily="34" charset="-120"/>
              </a:rPr>
              <a:t>
</a:t>
            </a:r>
            <a:r>
              <a:rPr lang="en-US" sz="950" dirty="0">
                <a:solidFill>
                  <a:srgbClr val="CBD5E1"/>
                </a:solidFill>
                <a:latin typeface="Inter" pitchFamily="34" charset="0"/>
                <a:ea typeface="Inter" pitchFamily="34" charset="-122"/>
                <a:cs typeface="Inter" pitchFamily="34" charset="-120"/>
              </a:rPr>
              <a:t>Fact Table Pattern Selection,Grain Changes, Conformed </a:t>
            </a:r>
            <a:r>
              <a:rPr lang="en-US" sz="950" dirty="0">
                <a:solidFill>
                  <a:srgbClr val="CBD5E1"/>
                </a:solidFill>
                <a:latin typeface="Inter" pitchFamily="34" charset="0"/>
                <a:ea typeface="Inter" pitchFamily="34" charset="-122"/>
                <a:cs typeface="Inter" pitchFamily="34" charset="-120"/>
              </a:rPr>
              <a:t>Dimensions &amp; Bus Architecture.</a:t>
            </a:r>
            <a:endParaRPr lang="en-US" sz="900" dirty="0"/>
          </a:p>
        </p:txBody>
      </p:sp>
      <p:pic>
        <p:nvPicPr>
          <p:cNvPr id="14" name="Image 4" descr="preencoded.png">    </p:cNvPr>
          <p:cNvPicPr>
            <a:picLocks noChangeAspect="1"/>
          </p:cNvPicPr>
          <p:nvPr/>
        </p:nvPicPr>
        <p:blipFill>
          <a:blip r:embed="rId5"/>
          <a:stretch>
            <a:fillRect/>
          </a:stretch>
        </p:blipFill>
        <p:spPr>
          <a:xfrm>
            <a:off x="4714875" y="3411810"/>
            <a:ext cx="171450" cy="200025"/>
          </a:xfrm>
          <a:prstGeom prst="rect">
            <a:avLst/>
          </a:prstGeom>
        </p:spPr>
      </p:pic>
      <p:sp>
        <p:nvSpPr>
          <p:cNvPr id="15" name="Text 7"/>
          <p:cNvSpPr/>
          <p:nvPr/>
        </p:nvSpPr>
        <p:spPr>
          <a:xfrm>
            <a:off x="5000625" y="3411810"/>
            <a:ext cx="1775222"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F8FAFC"/>
                </a:solidFill>
                <a:latin typeface="Inter Bold" pitchFamily="34" charset="0"/>
                <a:ea typeface="Inter Bold" pitchFamily="34" charset="-122"/>
                <a:cs typeface="Inter Bold" pitchFamily="34" charset="-120"/>
              </a:rPr>
              <a:t>Get in Touch:</a:t>
            </a:r>
            <a:r>
              <a:rPr lang="en-US" sz="950" dirty="0">
                <a:solidFill>
                  <a:srgbClr val="CBD5E1"/>
                </a:solidFill>
                <a:latin typeface="Inter" pitchFamily="34" charset="0"/>
                <a:ea typeface="Inter" pitchFamily="34" charset="-122"/>
                <a:cs typeface="Inter" pitchFamily="34" charset="-120"/>
              </a:rPr>
              <a:t>
</a:t>
            </a:r>
            <a:r>
              <a:rPr lang="en-US" sz="950" dirty="0">
                <a:solidFill>
                  <a:srgbClr val="CBD5E1"/>
                </a:solidFill>
                <a:latin typeface="Inter" pitchFamily="34" charset="0"/>
                <a:ea typeface="Inter" pitchFamily="34" charset="-122"/>
                <a:cs typeface="Inter" pitchFamily="34" charset="-120"/>
              </a:rPr>
              <a:t>linkedin.com/in/milan-gabriel</a:t>
            </a:r>
            <a:r>
              <a:rPr lang="en-US" sz="950" dirty="0">
                <a:solidFill>
                  <a:srgbClr val="CBD5E1"/>
                </a:solidFill>
                <a:latin typeface="Inter" pitchFamily="34" charset="0"/>
                <a:ea typeface="Inter" pitchFamily="34" charset="-122"/>
                <a:cs typeface="Inter" pitchFamily="34" charset="-120"/>
              </a:rPr>
              <a:t>
</a:t>
            </a:r>
            <a:r>
              <a:rPr lang="en-US" sz="950" dirty="0">
                <a:solidFill>
                  <a:srgbClr val="CBD5E1"/>
                </a:solidFill>
                <a:latin typeface="Inter" pitchFamily="34" charset="0"/>
                <a:ea typeface="Inter" pitchFamily="34" charset="-122"/>
                <a:cs typeface="Inter" pitchFamily="34" charset="-120"/>
              </a:rPr>
              <a:t>bit.ly/the1onwrongway</a:t>
            </a:r>
            <a:endParaRPr lang="en-US" sz="950" dirty="0"/>
          </a:p>
        </p:txBody>
      </p:sp>
      <p:sp>
        <p:nvSpPr>
          <p:cNvPr id="16" name="Shape 8"/>
          <p:cNvSpPr/>
          <p:nvPr/>
        </p:nvSpPr>
        <p:spPr>
          <a:xfrm>
            <a:off x="0" y="4157551"/>
            <a:ext cx="9144000" cy="800100"/>
          </a:xfrm>
          <a:prstGeom prst="rect">
            <a:avLst/>
          </a:prstGeom>
          <a:solidFill>
            <a:srgbClr val="059669"/>
          </a:solidFill>
          <a:ln/>
        </p:spPr>
      </p:sp>
      <p:sp>
        <p:nvSpPr>
          <p:cNvPr id="17" name="Text 9"/>
          <p:cNvSpPr/>
          <p:nvPr/>
        </p:nvSpPr>
        <p:spPr>
          <a:xfrm>
            <a:off x="0" y="4157551"/>
            <a:ext cx="9144000" cy="800100"/>
          </a:xfrm>
          <a:prstGeom prst="rect">
            <a:avLst/>
          </a:prstGeom>
          <a:noFill/>
          <a:ln/>
        </p:spPr>
        <p:txBody>
          <a:bodyPr wrap="square" lIns="510286" tIns="136017" rIns="510286" bIns="136017" rtlCol="0" anchor="t">
            <a:spAutoFit/>
          </a:bodyPr>
          <a:lstStyle/>
          <a:p>
            <a:pPr algn="l" indent="0" marL="0">
              <a:buNone/>
            </a:pPr>
            <a:r>
              <a:rPr lang="en-US" sz="1400" b="1" i="1" dirty="0">
                <a:solidFill>
                  <a:srgbClr val="F8FAFC"/>
                </a:solidFill>
                <a:latin typeface="Playfair Display ExtraBold" pitchFamily="34" charset="0"/>
                <a:ea typeface="Playfair Display ExtraBold" pitchFamily="34" charset="-122"/>
                <a:cs typeface="Playfair Display ExtraBold" pitchFamily="34" charset="-120"/>
              </a:rPr>
              <a:t>Go forth and never lose a row of history.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2026-07-16T16:10:40Z</dcterms:created>
  <dcterms:modified xsi:type="dcterms:W3CDTF">2026-07-16T16:10:40Z</dcterms:modified>
</cp:coreProperties>
</file>