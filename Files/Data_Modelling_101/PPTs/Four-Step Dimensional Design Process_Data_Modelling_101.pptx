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embeddedFontLs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Inter Medium" panose="02000503000000020004" pitchFamily="2" charset="0"/>
      <p:regular r:id="rId20"/>
      <p:bold r:id="rId21"/>
      <p:italic r:id="rId22"/>
      <p:boldItalic r:id="rId23"/>
    </p:embeddedFont>
    <p:embeddedFont>
      <p:font typeface="Playfair Display ExtraBold" pitchFamily="2" charset="77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/FTlDYhSDGCM59tnAyB0BZ1U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12"/>
    <p:restoredTop sz="75958"/>
  </p:normalViewPr>
  <p:slideViewPr>
    <p:cSldViewPr snapToGrid="0">
      <p:cViewPr varScale="1">
        <p:scale>
          <a:sx n="87" d="100"/>
          <a:sy n="87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85750" y="1507080"/>
            <a:ext cx="5143500" cy="150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300"/>
              <a:buFont typeface="Playfair Display ExtraBold"/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The Four-Step</a:t>
            </a:r>
            <a:b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</a:br>
            <a: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Dimensional Design Process</a:t>
            </a:r>
            <a:endParaRPr sz="3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85750" y="3387282"/>
            <a:ext cx="514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Inter Medium"/>
              <a:buNone/>
            </a:pPr>
            <a:r>
              <a:rPr lang="en-US" sz="17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Building robust </a:t>
            </a:r>
            <a:r>
              <a:rPr lang="en-US" sz="16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analytics</a:t>
            </a:r>
            <a:r>
              <a:rPr lang="en-US" sz="17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 systems that actually work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3830" y="4112372"/>
            <a:ext cx="51435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Based on Ralph Kimball's Data Warehouse Toolkit</a:t>
            </a:r>
            <a:endParaRPr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200650" y="57150"/>
            <a:ext cx="394335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2231" y="857250"/>
            <a:ext cx="1500188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805191" y="3222974"/>
            <a:ext cx="362455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Data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dirty="0">
                <a:solidFill>
                  <a:srgbClr val="F8FAFC"/>
                </a:solidFill>
                <a:latin typeface="Playfair Display ExtraBold"/>
                <a:ea typeface="Calibri"/>
                <a:cs typeface="Calibri"/>
                <a:sym typeface="Playfair Display ExtraBold"/>
              </a:rPr>
              <a:t>Modelling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layfair Display ExtraBold"/>
                <a:ea typeface="Calibri"/>
                <a:cs typeface="Calibri"/>
                <a:sym typeface="Playfair Display ExtraBold"/>
              </a:rPr>
              <a:t>101 (1)</a:t>
            </a:r>
          </a:p>
        </p:txBody>
      </p:sp>
      <p:sp>
        <p:nvSpPr>
          <p:cNvPr id="2" name="Google Shape;19;p1">
            <a:extLst>
              <a:ext uri="{FF2B5EF4-FFF2-40B4-BE49-F238E27FC236}">
                <a16:creationId xmlns:a16="http://schemas.microsoft.com/office/drawing/2014/main" id="{0F8CC67C-CE39-AA0D-AAA5-C18D81B98541}"/>
              </a:ext>
            </a:extLst>
          </p:cNvPr>
          <p:cNvSpPr/>
          <p:nvPr/>
        </p:nvSpPr>
        <p:spPr>
          <a:xfrm>
            <a:off x="163830" y="4361304"/>
            <a:ext cx="5143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Milan Gabriel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Senior Data Engineer</a:t>
            </a:r>
            <a:endParaRPr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770381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OLTP vs. OLAP: The Two Worlds of Data</a:t>
            </a:r>
            <a:endParaRPr lang="en-US" sz="2450" dirty="0"/>
          </a:p>
        </p:txBody>
      </p:sp>
      <p:sp>
        <p:nvSpPr>
          <p:cNvPr id="5" name="Shape 1"/>
          <p:cNvSpPr/>
          <p:nvPr/>
        </p:nvSpPr>
        <p:spPr>
          <a:xfrm>
            <a:off x="4329113" y="2328863"/>
            <a:ext cx="485775" cy="485775"/>
          </a:xfrm>
          <a:prstGeom prst="ellipse">
            <a:avLst/>
          </a:prstGeom>
          <a:solidFill>
            <a:srgbClr val="1E293B"/>
          </a:solidFill>
          <a:ln w="27432">
            <a:solidFill>
              <a:srgbClr val="F8FAF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329113" y="2328863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0" y="1439019"/>
            <a:ext cx="4579144" cy="370448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4"/>
          <p:cNvSpPr/>
          <p:nvPr/>
        </p:nvSpPr>
        <p:spPr>
          <a:xfrm>
            <a:off x="4564856" y="1439019"/>
            <a:ext cx="14288" cy="370448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688" y="1492597"/>
            <a:ext cx="428625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9528" y="2273052"/>
            <a:ext cx="6929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OLTP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27882" y="2687389"/>
            <a:ext cx="13162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1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TRANSACTIONAL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85750" y="318209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1885950" y="318209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Operational efficiency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285750" y="354106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885950" y="354106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 Reads &amp; Writes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85750" y="3900041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State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885950" y="3900041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Current, granular data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285750" y="425901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Schema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885950" y="425901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Normalized (3NF)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85750" y="461798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Question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885950" y="461798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"What is happening now?"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0" y="1439019"/>
            <a:ext cx="4572000" cy="370448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31" y="1492597"/>
            <a:ext cx="642938" cy="5715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05277" y="2273052"/>
            <a:ext cx="7054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OLAP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370439" y="2687389"/>
            <a:ext cx="9751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1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ANALYTICAL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857750" y="318209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457950" y="318209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4857750" y="354106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57950" y="354106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Complex, long reads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4857750" y="3900041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State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457950" y="3900041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Historical, aggregated data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4857750" y="425901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Schema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57950" y="425901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Denormalized (Star Schema)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4857750" y="461798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Question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457950" y="461798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"What happened in the past?"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428625" y="756093"/>
            <a:ext cx="4000500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Operational Schemas (OLTP) Are Not Built for Analytics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8625" y="2161933"/>
            <a:ext cx="40005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Normalized structures cause join complexity and performance bottlenecks in reporting.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28625" y="2727685"/>
            <a:ext cx="4000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OLTP Focus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28625" y="2959857"/>
            <a:ext cx="4000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Optimized for fast writes, data integrity, and highly normalized 3rd Normal Form (3NF) structures.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8625" y="3457017"/>
            <a:ext cx="4000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The Analytical Challenge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8625" y="3689189"/>
            <a:ext cx="4000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business questions require multiple table joins, making SQL unmaintainable for non-experts.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0" y="42863"/>
            <a:ext cx="4572000" cy="510063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814888" y="257175"/>
            <a:ext cx="38004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OPERATIONAL (OLTP)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4888" y="48934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4943475" y="476845"/>
            <a:ext cx="201632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Efficient Transaction Processing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4888" y="69506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943475" y="682563"/>
            <a:ext cx="1314450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Minimal Redundancy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4888" y="90078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943475" y="888281"/>
            <a:ext cx="135552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Complex Query Logic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14888" y="1226158"/>
            <a:ext cx="38004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THE RESULT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14888" y="1420825"/>
            <a:ext cx="380047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Metric Drift: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Different departments reporting different numbers for the same KPI due to query complexity.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656" y="1946560"/>
            <a:ext cx="642938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0" y="57150"/>
            <a:ext cx="3429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85875" y="2171700"/>
            <a:ext cx="857250" cy="857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8775" y="238869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1531441" y="2674441"/>
            <a:ext cx="366117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FACTS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5032" y="1514475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1600200" y="1735931"/>
            <a:ext cx="257175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5032" y="3343275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1484114" y="3564731"/>
            <a:ext cx="489347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3843" y="2443163"/>
            <a:ext cx="11251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635794" y="2664619"/>
            <a:ext cx="3286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STORE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85145" y="2443163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2345829" y="2664619"/>
            <a:ext cx="56614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714750" y="770381"/>
            <a:ext cx="5143500" cy="82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The Star Schema Optimizes for Read Performance and Clarity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714750" y="1764757"/>
            <a:ext cx="51435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Denormalizing data into facts and dimensions simplifies business logic.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714750" y="2416234"/>
            <a:ext cx="24574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714750" y="2648406"/>
            <a:ext cx="2457450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Central tables containing numeric measurements (e.g., Sales Amount) and foreign keys to dimensions.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0" y="2416234"/>
            <a:ext cx="24574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 Tables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0" y="2648406"/>
            <a:ext cx="2457450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Surrounding tables providing descriptive context (e.g., Product, Store) for filtering and grouping.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714750" y="3408434"/>
            <a:ext cx="5143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Key Benefit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714750" y="3640606"/>
            <a:ext cx="5143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Queries read like English and execute significantly faster than normalized equivalents.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0"/>
            <a:ext cx="9144000" cy="52149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0" y="114300"/>
            <a:ext cx="4150520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42900" y="970406"/>
            <a:ext cx="3664744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Kimball’s Four-Step Process Ensures Design Consistency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42900" y="2376246"/>
            <a:ext cx="3664744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Following a sequential methodology prevents 90% of modeling failures.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42900" y="3199172"/>
            <a:ext cx="366474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ORDER MATTERS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42900" y="3515283"/>
            <a:ext cx="3664744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The sequence is the framework. Each decision builds upon the previous one to ensure a robust, scalable model.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93394" y="400050"/>
            <a:ext cx="898327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320308" y="485775"/>
            <a:ext cx="2936081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the Business Process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320308" y="721519"/>
            <a:ext cx="293608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operational activity to be measured.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293394" y="1022181"/>
            <a:ext cx="1026914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6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313164" y="1036469"/>
            <a:ext cx="34575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Declare the Grain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313164" y="1272213"/>
            <a:ext cx="345757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Define exactly what one row in the fact table represents.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286250" y="1581183"/>
            <a:ext cx="994767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13164" y="1625830"/>
            <a:ext cx="3111103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Dimensions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13164" y="1861573"/>
            <a:ext cx="311110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Determine the context (Who, What, Where, When).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286250" y="2164812"/>
            <a:ext cx="1019770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13164" y="2263987"/>
            <a:ext cx="3403997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Facts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13164" y="2499731"/>
            <a:ext cx="340399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the numeric measurements that match the grain.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428625" y="713231"/>
            <a:ext cx="4400550" cy="82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Focus on Measurable Activities, Not Departments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8625" y="1707607"/>
            <a:ext cx="44005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 business process is a verb-based event that generates metrics.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28625" y="2273359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28625" y="2505531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An operational activity that captures performance metrics, such as "Selling," "Shipping," or "Registering."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28625" y="2977018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Why it Matters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8625" y="3209190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 should mirror real-world events, not organizational silos, to ensure data remains relevant as structures change.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28625" y="3680678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Key Characteristic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8625" y="3912850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It is always a </a:t>
            </a:r>
            <a:r>
              <a:rPr lang="en-US" sz="900" b="1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VERB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. If you can't describe it as an action, it's likely not a business process.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972050" y="0"/>
            <a:ext cx="417195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114925" y="628650"/>
            <a:ext cx="3600450" cy="266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layfair Display ExtraBold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Process vs. Department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114925" y="994767"/>
            <a:ext cx="2209233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0" tIns="102100" rIns="8500" bIns="85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Process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24158" y="994767"/>
            <a:ext cx="1391217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0" tIns="102100" rIns="8500" bIns="85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2069" y="137338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5307806" y="1360884"/>
            <a:ext cx="74116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Retail Sales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1301" y="1373386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7468819" y="1360884"/>
            <a:ext cx="65365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Marketing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2069" y="162877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307806" y="1616273"/>
            <a:ext cx="93583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Inventory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1301" y="1628775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7468819" y="1616273"/>
            <a:ext cx="58757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Logistics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22069" y="188416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5307806" y="1871663"/>
            <a:ext cx="105548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Order Fulfillment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1301" y="1884164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468819" y="1871663"/>
            <a:ext cx="71080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Operations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22069" y="213955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307806" y="2127052"/>
            <a:ext cx="116978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Claims Processing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31301" y="2139553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468819" y="2127052"/>
            <a:ext cx="64293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Insurance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5" descr="preencoded.png"/>
          <p:cNvPicPr preferRelativeResize="0"/>
          <p:nvPr/>
        </p:nvPicPr>
        <p:blipFill rotWithShape="1">
          <a:blip r:embed="rId12">
            <a:alphaModFix amt="30000"/>
          </a:blip>
          <a:srcRect/>
          <a:stretch/>
        </p:blipFill>
        <p:spPr>
          <a:xfrm>
            <a:off x="6540103" y="2368153"/>
            <a:ext cx="750094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428625" y="763237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Declaring the Grain is the Most Critical Design Decision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28625" y="2169077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The grain determines the maximum level of detail and flexibility of the model.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28625" y="2963428"/>
            <a:ext cx="385762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THE GOLDEN RULE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28625" y="319381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You must be able to state the grain in one clear sentence: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28625" y="3477778"/>
            <a:ext cx="3857625" cy="30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Playfair Display ExtraBold"/>
              <a:buNone/>
            </a:pPr>
            <a:r>
              <a:rPr lang="en-US" sz="1600" b="1" i="1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"One row represents ___________"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28625" y="3924263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Example: </a:t>
            </a:r>
            <a:r>
              <a:rPr lang="en-US" sz="9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"One row per product sold in one transaction at one store."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0" y="50006"/>
            <a:ext cx="4572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857750" y="478631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ATOMIC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857750" y="753666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The lowest level of detail captured by the business process. Provides maximum flexibility to aggregate up to any level.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57750" y="1307976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AGGREGATE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857750" y="1583010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Pre-summarized data (e.g., daily totals). Faster for specific queries but loses the ability to drill down into individual events.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0" y="450882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5000625" y="4494535"/>
            <a:ext cx="173057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The Risk of Mixed Grains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857750" y="4724921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Mixing levels of detail in a single fact table leads to double-counting and fundamentally broken metrics.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428625" y="770381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Dimensions Provide the Descriptive Context for Analysis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28625" y="2176221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Dimensions are the "Who, What, Where, and When" of the process.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28625" y="2870560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Attributes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28625" y="3117019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Wide, denormalized tables containing text-based descriptions (e.g., Brand, Category, Region) used for filtering and grouping.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28625" y="3699904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Surrogate Keys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28625" y="3946364"/>
            <a:ext cx="3857625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Warehouse-generated integers that serve as primary keys, protecting the model against changes in source system business keys.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0" y="57150"/>
            <a:ext cx="4572000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857750" y="685800"/>
            <a:ext cx="3857625" cy="266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layfair Display ExtraBold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Core Dimension Examples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57750" y="1373386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857750" y="1546622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Day, Month, Quarter, Year, Fiscal Period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858000" y="1373386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858000" y="1546622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SKU, Name, Brand, Category, Size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857750" y="2135981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STORE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57750" y="2309217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Name, City, State, Region, Manager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0" y="2135981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PROMOTION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858000" y="2309217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Type, Discount %, Start/End Dates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7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6357938" y="3595985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428625" y="770381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Facts are the Numeric Measurements of the Process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28625" y="2176221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Every fact in a table must strictly adhere to the declared grain.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28625" y="2992003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28625" y="3175955"/>
            <a:ext cx="385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 be summed across all dimensions (e.g., Sales Amount, Quantity).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28625" y="361172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SEMI-ADDITIVE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28625" y="3795675"/>
            <a:ext cx="3857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 be summed across some dimensions, but not time (e.g., Inventory Levels).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28625" y="440289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NON-ADDITIVE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28625" y="4586846"/>
            <a:ext cx="3857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Cannot be summed; usually ratios or percentages (e.g., Unit Price, Margin %).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0" y="57150"/>
            <a:ext cx="4572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014913" y="785813"/>
            <a:ext cx="354330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014913" y="1073348"/>
            <a:ext cx="3543300" cy="36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 are </a:t>
            </a:r>
            <a:r>
              <a:rPr lang="en-US" sz="800" b="1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"Narrow and Deep"</a:t>
            </a:r>
            <a:r>
              <a:rPr lang="en-US" sz="8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. They consist primarily of foreign keys to dimensions and numeric measurements.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57750" y="1953425"/>
            <a:ext cx="385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Playfair Display ExtraBold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Retail Sales Facts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0" y="2302576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5136356" y="2289181"/>
            <a:ext cx="175736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Sales Revenue (Gross &amp; Net)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0" y="2565109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5136356" y="2551714"/>
            <a:ext cx="127515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Quantity Sold (Units)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0" y="2827641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5136356" y="2814247"/>
            <a:ext cx="105906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Discount Amount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0" y="3090174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5136356" y="3076780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Cost of Goods Sold (COGS)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8" descr="preencoded.png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>
            <a:off x="6357938" y="3902078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4924604" y="736752"/>
            <a:ext cx="3790771" cy="72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Putting It Together: </a:t>
            </a: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Retail Sales Star Schema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24604" y="1630232"/>
            <a:ext cx="3315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 well-designed schema enables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P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owerful,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S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imple, and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ast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nalytics.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241727" y="4614863"/>
            <a:ext cx="347364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 Medium"/>
              <a:buNone/>
            </a:pPr>
            <a:r>
              <a:rPr lang="en-US" sz="700" b="1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FK</a:t>
            </a: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= Foreign Key | </a:t>
            </a:r>
            <a:r>
              <a:rPr lang="en-US" sz="700" b="1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PK</a:t>
            </a: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= Primary Key (Surrogate)</a:t>
            </a:r>
            <a:b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Center: Measurements at Declared Grain | Satellites: Descriptive Context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21EBFC-0433-CAD3-D2E4-01117BA1CE99}"/>
              </a:ext>
            </a:extLst>
          </p:cNvPr>
          <p:cNvGrpSpPr/>
          <p:nvPr/>
        </p:nvGrpSpPr>
        <p:grpSpPr>
          <a:xfrm>
            <a:off x="47596" y="755825"/>
            <a:ext cx="5469459" cy="4169851"/>
            <a:chOff x="1922116" y="837105"/>
            <a:chExt cx="5469459" cy="416985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2FBB45-EDC9-C3FA-3D45-6675D3B2B840}"/>
                </a:ext>
              </a:extLst>
            </p:cNvPr>
            <p:cNvGrpSpPr/>
            <p:nvPr/>
          </p:nvGrpSpPr>
          <p:grpSpPr>
            <a:xfrm>
              <a:off x="3601343" y="1896178"/>
              <a:ext cx="2143125" cy="2044251"/>
              <a:chOff x="3500438" y="2266131"/>
              <a:chExt cx="2143125" cy="2044251"/>
            </a:xfrm>
          </p:grpSpPr>
          <p:sp>
            <p:nvSpPr>
              <p:cNvPr id="213" name="Google Shape;213;p9"/>
              <p:cNvSpPr/>
              <p:nvPr/>
            </p:nvSpPr>
            <p:spPr>
              <a:xfrm>
                <a:off x="3557588" y="2266131"/>
                <a:ext cx="2028825" cy="2044251"/>
              </a:xfrm>
              <a:prstGeom prst="rect">
                <a:avLst/>
              </a:prstGeom>
              <a:solidFill>
                <a:srgbClr val="1E293B"/>
              </a:solidFill>
              <a:ln w="18275" cap="flat" cmpd="sng">
                <a:solidFill>
                  <a:srgbClr val="0596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133552" y="2423294"/>
                <a:ext cx="876895" cy="173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59669"/>
                  </a:buClr>
                  <a:buSzPts val="1000"/>
                  <a:buFont typeface="Inter Medium"/>
                  <a:buNone/>
                </a:pPr>
                <a:r>
                  <a:rPr lang="en-US" sz="1000" b="1" i="0" u="none" strike="noStrike" cap="none">
                    <a:solidFill>
                      <a:srgbClr val="0596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FACT_SALES</a:t>
                </a:r>
                <a:endParaRPr sz="1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500438" y="2703686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500438" y="2882280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500438" y="3060874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500438" y="3239467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promotion_key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3500438" y="3489499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quantity_sold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3500438" y="3668092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sales_amount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3500438" y="3846686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discount_amount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3500438" y="4025280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cost_amount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DF81F48-F198-5BE6-1FFD-3AA7F9ECB922}"/>
                </a:ext>
              </a:extLst>
            </p:cNvPr>
            <p:cNvGrpSpPr/>
            <p:nvPr/>
          </p:nvGrpSpPr>
          <p:grpSpPr>
            <a:xfrm>
              <a:off x="3857625" y="837105"/>
              <a:ext cx="1535906" cy="836042"/>
              <a:chOff x="3857625" y="1306329"/>
              <a:chExt cx="1535906" cy="836042"/>
            </a:xfrm>
          </p:grpSpPr>
          <p:sp>
            <p:nvSpPr>
              <p:cNvPr id="223" name="Google Shape;223;p9"/>
              <p:cNvSpPr/>
              <p:nvPr/>
            </p:nvSpPr>
            <p:spPr>
              <a:xfrm>
                <a:off x="3900487" y="1306329"/>
                <a:ext cx="1457325" cy="836042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4364831" y="1422415"/>
                <a:ext cx="521494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 dirty="0" err="1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Dim_Date</a:t>
                </a:r>
                <a:endParaRPr sz="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3857625" y="1631370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3857625" y="1765315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calendar_day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3857625" y="1899260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 dirty="0" err="1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fiscal_period</a:t>
                </a:r>
                <a:endParaRPr sz="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CCEADD-0665-F044-16FE-31FF926A0A62}"/>
                </a:ext>
              </a:extLst>
            </p:cNvPr>
            <p:cNvGrpSpPr/>
            <p:nvPr/>
          </p:nvGrpSpPr>
          <p:grpSpPr>
            <a:xfrm>
              <a:off x="1922116" y="2450240"/>
              <a:ext cx="1535906" cy="847899"/>
              <a:chOff x="660797" y="3274963"/>
              <a:chExt cx="1535906" cy="847899"/>
            </a:xfrm>
          </p:grpSpPr>
          <p:sp>
            <p:nvSpPr>
              <p:cNvPr id="228" name="Google Shape;228;p9"/>
              <p:cNvSpPr/>
              <p:nvPr/>
            </p:nvSpPr>
            <p:spPr>
              <a:xfrm>
                <a:off x="714375" y="3274963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1077813" y="3382119"/>
                <a:ext cx="701873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Dim_Product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660797" y="359107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660797" y="3725019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660797" y="385896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category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FBF7F5-CCFA-154F-8A7E-62DC3AFC121B}"/>
                </a:ext>
              </a:extLst>
            </p:cNvPr>
            <p:cNvGrpSpPr/>
            <p:nvPr/>
          </p:nvGrpSpPr>
          <p:grpSpPr>
            <a:xfrm>
              <a:off x="5855669" y="2480581"/>
              <a:ext cx="1535906" cy="847899"/>
              <a:chOff x="6947297" y="3274963"/>
              <a:chExt cx="1535906" cy="847899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6972300" y="3274963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7436644" y="3382119"/>
                <a:ext cx="557213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Dim_Store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6947297" y="359107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 dirty="0" err="1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store_key</a:t>
                </a:r>
                <a:r>
                  <a:rPr lang="en-US" sz="600" b="0" i="0" u="none" strike="noStrike" cap="none" dirty="0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(PK)</a:t>
                </a:r>
                <a:endParaRPr sz="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6947297" y="3725019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6947297" y="385896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region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68F138-139A-F2D0-6D45-B888070260F0}"/>
                </a:ext>
              </a:extLst>
            </p:cNvPr>
            <p:cNvGrpSpPr/>
            <p:nvPr/>
          </p:nvGrpSpPr>
          <p:grpSpPr>
            <a:xfrm>
              <a:off x="3844391" y="4159057"/>
              <a:ext cx="1535906" cy="847899"/>
              <a:chOff x="3804047" y="3864769"/>
              <a:chExt cx="1535906" cy="847899"/>
            </a:xfrm>
          </p:grpSpPr>
          <p:sp>
            <p:nvSpPr>
              <p:cNvPr id="238" name="Google Shape;238;p9"/>
              <p:cNvSpPr/>
              <p:nvPr/>
            </p:nvSpPr>
            <p:spPr>
              <a:xfrm>
                <a:off x="3857625" y="3864769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154984" y="3999259"/>
                <a:ext cx="834033" cy="136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 dirty="0" err="1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Dim_Promotion</a:t>
                </a:r>
                <a:endParaRPr sz="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3804047" y="4206304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promotion_key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3804047" y="4339024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3804047" y="4471745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promo_type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D951E3E7-0831-F5ED-C6A8-66891BE44D82}"/>
                </a:ext>
              </a:extLst>
            </p:cNvPr>
            <p:cNvSpPr/>
            <p:nvPr/>
          </p:nvSpPr>
          <p:spPr>
            <a:xfrm rot="5400000">
              <a:off x="5681881" y="2726586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9689B4A1-F0A9-B22B-78CF-F2DBEA8F3FAA}"/>
                </a:ext>
              </a:extLst>
            </p:cNvPr>
            <p:cNvSpPr/>
            <p:nvPr/>
          </p:nvSpPr>
          <p:spPr>
            <a:xfrm rot="16200000">
              <a:off x="3424457" y="2732444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Up Arrow 11">
              <a:extLst>
                <a:ext uri="{FF2B5EF4-FFF2-40B4-BE49-F238E27FC236}">
                  <a16:creationId xmlns:a16="http://schemas.microsoft.com/office/drawing/2014/main" id="{23FA4520-DFE5-3B83-38FC-6FC2D67284B3}"/>
                </a:ext>
              </a:extLst>
            </p:cNvPr>
            <p:cNvSpPr/>
            <p:nvPr/>
          </p:nvSpPr>
          <p:spPr>
            <a:xfrm>
              <a:off x="4492607" y="1634093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Up Arrow 12">
              <a:extLst>
                <a:ext uri="{FF2B5EF4-FFF2-40B4-BE49-F238E27FC236}">
                  <a16:creationId xmlns:a16="http://schemas.microsoft.com/office/drawing/2014/main" id="{C4589751-B48E-1DA2-C644-24E600B4A1AD}"/>
                </a:ext>
              </a:extLst>
            </p:cNvPr>
            <p:cNvSpPr/>
            <p:nvPr/>
          </p:nvSpPr>
          <p:spPr>
            <a:xfrm rot="10800000" flipH="1">
              <a:off x="4492606" y="3899935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0" y="57150"/>
            <a:ext cx="3800475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28625" y="913256"/>
            <a:ext cx="3086100" cy="164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Avoid These Four Common Dimensional Modeling Mistakes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28625" y="2730559"/>
            <a:ext cx="30861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Most failures stem from ignoring the four-step process or mixing grains.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0" descr="preencoded.png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1685925" y="37820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4086225" y="728663"/>
            <a:ext cx="748308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086225" y="8001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Unclear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086225" y="15405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Failing to define exactly what a row represents leads to ambiguity and inconsistent query results across developers.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543675" y="728663"/>
            <a:ext cx="85546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543675" y="8001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Mixed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43675" y="15405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Putting different levels of detail in one fact table (e.g., daily and transaction) causes massive double-counting errors.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086225" y="3128963"/>
            <a:ext cx="828675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086225" y="32004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Facts in Dimensions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086225" y="39408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Placing performance metrics in descriptive tables causes dimension bloat and breaks historical tracking (SCD) logic.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543675" y="3128963"/>
            <a:ext cx="85010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543675" y="32004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Premature Aggregation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543675" y="39408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Summarizing data too early to "save space" or "speed up" results in losing the ability to drill down into critical business details.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/>
          <p:nvPr/>
        </p:nvSpPr>
        <p:spPr>
          <a:xfrm>
            <a:off x="0" y="57150"/>
            <a:ext cx="3743325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28625" y="770381"/>
            <a:ext cx="3028950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Master the Process to Build Scalable Data Models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28625" y="2176221"/>
            <a:ext cx="3028950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Consistency and atomic detail are the foundations of successful BI.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28625" y="3104908"/>
            <a:ext cx="3028950" cy="82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These five rules prevent 90% of modeling failures. Adhering to Kimball's framework ensures your data warehouse remains a single source of truth.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029075" y="200025"/>
            <a:ext cx="748308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872037" y="462559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Process First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872037" y="698303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Always follow the four steps in order: Process → Grain → Dimensions → Facts.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029075" y="935831"/>
            <a:ext cx="85546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872037" y="1198365"/>
            <a:ext cx="4227314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Atomic is Best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872037" y="1434109"/>
            <a:ext cx="4227314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Start at the lowest level of detail to ensure maximum future flexibility.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996929" y="1678785"/>
            <a:ext cx="828675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839891" y="1941319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One Grain per Table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839891" y="2177063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Never mix levels of detail in a single fact table to avoid broken metrics.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976525" y="2383876"/>
            <a:ext cx="85010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819487" y="2646410"/>
            <a:ext cx="4157663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Dimensions Describe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819487" y="2882153"/>
            <a:ext cx="4157663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Keep descriptive attributes in wide, denormalized dimension tables.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972543" y="3044754"/>
            <a:ext cx="81081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05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815505" y="3307288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Facts Measure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15505" y="3543031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Store numeric measurements in narrow, deep fact tables using surrogate keys.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44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0" y="57150"/>
            <a:ext cx="4121944" cy="518731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28625" y="770381"/>
            <a:ext cx="3407569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Advance Your Skills with Kimball's Methodology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28625" y="2347671"/>
            <a:ext cx="3407569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Real-world modeling requires continuous practice and learning.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2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1418034" y="3262071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428625" y="4960497"/>
            <a:ext cx="34075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Go forth and declare grain.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550569" y="485775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ESSENTIAL READING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0569" y="760809"/>
            <a:ext cx="11251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/>
          <p:nvPr/>
        </p:nvSpPr>
        <p:spPr>
          <a:xfrm>
            <a:off x="4748808" y="760809"/>
            <a:ext cx="1941314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 Medium"/>
              <a:buNone/>
            </a:pPr>
            <a:r>
              <a:rPr lang="en-US" sz="900" b="1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The Data Warehouse Toolkit</a:t>
            </a:r>
            <a:b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by Ralph Kimball (Chapters 1-3)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550569" y="1243013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IMMEDIATE PRACTICE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0569" y="1518047"/>
            <a:ext cx="12858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4764881" y="1518047"/>
            <a:ext cx="335934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Reverse-engineer an existing report: what is the grain?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0569" y="1760934"/>
            <a:ext cx="12858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4764881" y="1760934"/>
            <a:ext cx="340935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Redesign a legacy schema using the four-step process.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50569" y="2089547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NEXT TOPICS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0569" y="2364581"/>
            <a:ext cx="128588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50569" y="2607469"/>
            <a:ext cx="16073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/>
          <p:nvPr/>
        </p:nvSpPr>
        <p:spPr>
          <a:xfrm>
            <a:off x="4797028" y="2607469"/>
            <a:ext cx="276463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Conformed Dimensions and Bus Architecture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764881" y="2364581"/>
            <a:ext cx="297894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Slowly Changing Dimensions (SCD Types 1, 2, 3)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198C49-DBB7-3962-E48B-6DBBFA198C6E}"/>
              </a:ext>
            </a:extLst>
          </p:cNvPr>
          <p:cNvGrpSpPr/>
          <p:nvPr/>
        </p:nvGrpSpPr>
        <p:grpSpPr>
          <a:xfrm>
            <a:off x="4550569" y="3900487"/>
            <a:ext cx="4164806" cy="675085"/>
            <a:chOff x="4550569" y="2936081"/>
            <a:chExt cx="4164806" cy="675085"/>
          </a:xfrm>
        </p:grpSpPr>
        <p:sp>
          <p:nvSpPr>
            <p:cNvPr id="2" name="Google Shape;312;p12">
              <a:extLst>
                <a:ext uri="{FF2B5EF4-FFF2-40B4-BE49-F238E27FC236}">
                  <a16:creationId xmlns:a16="http://schemas.microsoft.com/office/drawing/2014/main" id="{87DF61B3-3833-76FB-AD10-6D550DAD1359}"/>
                </a:ext>
              </a:extLst>
            </p:cNvPr>
            <p:cNvSpPr/>
            <p:nvPr/>
          </p:nvSpPr>
          <p:spPr>
            <a:xfrm>
              <a:off x="4550569" y="2936081"/>
              <a:ext cx="4164806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1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 Medium"/>
                <a:buNone/>
              </a:pPr>
              <a:r>
                <a:rPr lang="en-US" sz="1100" b="1" i="0" u="none" strike="noStrike" cap="none" dirty="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GET IN TOUCH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" name="Google Shape;313;p12" descr="Employee badge with solid fill">
              <a:extLst>
                <a:ext uri="{FF2B5EF4-FFF2-40B4-BE49-F238E27FC236}">
                  <a16:creationId xmlns:a16="http://schemas.microsoft.com/office/drawing/2014/main" id="{E421835D-8501-DEAA-6F54-42B79989EDAB}"/>
                </a:ext>
              </a:extLst>
            </p:cNvPr>
            <p:cNvPicPr preferRelativeResize="0"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565452" y="3228721"/>
              <a:ext cx="128588" cy="1285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314;p12">
              <a:extLst>
                <a:ext uri="{FF2B5EF4-FFF2-40B4-BE49-F238E27FC236}">
                  <a16:creationId xmlns:a16="http://schemas.microsoft.com/office/drawing/2014/main" id="{DD771C10-D2D3-AC9C-C828-B5672C4B2E40}"/>
                </a:ext>
              </a:extLst>
            </p:cNvPr>
            <p:cNvSpPr/>
            <p:nvPr/>
          </p:nvSpPr>
          <p:spPr>
            <a:xfrm>
              <a:off x="4764881" y="3211115"/>
              <a:ext cx="2978944" cy="146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75569"/>
                </a:buClr>
                <a:buSzPts val="950"/>
              </a:pP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www.linkedin.com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/in/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milan-gabriel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</a:t>
              </a:r>
              <a:endParaRPr sz="9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315;p12" descr="Internet with solid fill">
              <a:extLst>
                <a:ext uri="{FF2B5EF4-FFF2-40B4-BE49-F238E27FC236}">
                  <a16:creationId xmlns:a16="http://schemas.microsoft.com/office/drawing/2014/main" id="{6F03DBDB-359E-A0A0-9A28-427D89090872}"/>
                </a:ext>
              </a:extLst>
            </p:cNvPr>
            <p:cNvPicPr preferRelativeResize="0"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552354" y="3454003"/>
              <a:ext cx="157163" cy="157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316;p12">
              <a:extLst>
                <a:ext uri="{FF2B5EF4-FFF2-40B4-BE49-F238E27FC236}">
                  <a16:creationId xmlns:a16="http://schemas.microsoft.com/office/drawing/2014/main" id="{332CCDC2-B0DE-821A-A1C5-70AAFC848037}"/>
                </a:ext>
              </a:extLst>
            </p:cNvPr>
            <p:cNvSpPr/>
            <p:nvPr/>
          </p:nvSpPr>
          <p:spPr>
            <a:xfrm>
              <a:off x="4797028" y="3454003"/>
              <a:ext cx="2764631" cy="146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75569"/>
                </a:buClr>
                <a:buSzPts val="950"/>
              </a:pP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bit.ly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/the1onwrongway</a:t>
              </a:r>
              <a:endParaRPr sz="9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1339</Words>
  <Application>Microsoft Macintosh PowerPoint</Application>
  <PresentationFormat>On-screen Show (16:9)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</vt:lpstr>
      <vt:lpstr>Playfair Display ExtraBold</vt:lpstr>
      <vt:lpstr>Calibri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Milan Gabriel</cp:lastModifiedBy>
  <cp:revision>2</cp:revision>
  <dcterms:created xsi:type="dcterms:W3CDTF">2026-06-13T04:56:01Z</dcterms:created>
  <dcterms:modified xsi:type="dcterms:W3CDTF">2026-06-14T09:12:43Z</dcterms:modified>
</cp:coreProperties>
</file>