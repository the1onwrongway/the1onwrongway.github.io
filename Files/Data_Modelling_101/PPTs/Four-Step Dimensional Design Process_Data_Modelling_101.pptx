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  <p:embeddedFont>
      <p:font typeface="Inter Medium" panose="02000503000000020004" pitchFamily="2" charset="0"/>
      <p:regular r:id="rId19"/>
      <p:bold r:id="rId20"/>
      <p:italic r:id="rId21"/>
      <p:boldItalic r:id="rId22"/>
    </p:embeddedFont>
    <p:embeddedFont>
      <p:font typeface="Playfair Display ExtraBold" pitchFamily="2" charset="77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i/FTlDYhSDGCM59tnAyB0BZ1UG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6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92"/>
    <p:restoredTop sz="94667"/>
  </p:normalViewPr>
  <p:slideViewPr>
    <p:cSldViewPr snapToGrid="0">
      <p:cViewPr>
        <p:scale>
          <a:sx n="71" d="100"/>
          <a:sy n="71" d="100"/>
        </p:scale>
        <p:origin x="1616" y="1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jp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5" Type="http://schemas.openxmlformats.org/officeDocument/2006/relationships/image" Target="../media/image42.png"/><Relationship Id="rId10" Type="http://schemas.openxmlformats.org/officeDocument/2006/relationships/image" Target="../media/image47.sv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285750" y="1507080"/>
            <a:ext cx="5143500" cy="1508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300"/>
              <a:buFont typeface="Playfair Display ExtraBold"/>
              <a:buNone/>
            </a:pPr>
            <a:r>
              <a:rPr lang="en-US" sz="330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The Four-Step</a:t>
            </a:r>
            <a:br>
              <a:rPr lang="en-US" sz="330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</a:br>
            <a:r>
              <a:rPr lang="en-US" sz="330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Dimensional Design Process</a:t>
            </a:r>
            <a:endParaRPr sz="3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85750" y="3387282"/>
            <a:ext cx="51435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700"/>
              <a:buFont typeface="Inter Medium"/>
              <a:buNone/>
            </a:pPr>
            <a:r>
              <a:rPr lang="en-US" sz="17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Building robust </a:t>
            </a:r>
            <a:r>
              <a:rPr lang="en-US" sz="16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analytics</a:t>
            </a:r>
            <a:r>
              <a:rPr lang="en-US" sz="17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 systems that actually work</a:t>
            </a:r>
            <a:endParaRPr sz="1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63830" y="4112372"/>
            <a:ext cx="514350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60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Inter Medium"/>
              <a:buNone/>
            </a:pPr>
            <a:r>
              <a:rPr lang="en-US" sz="1050" b="1" i="0" u="none" strike="noStrike" cap="none" dirty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Based on Ralph Kimball's Data Warehouse Toolkit</a:t>
            </a:r>
            <a:endParaRPr sz="105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200650" y="57150"/>
            <a:ext cx="3943350" cy="508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1;p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22231" y="857250"/>
            <a:ext cx="1500188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5805191" y="3222974"/>
            <a:ext cx="3624559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5200"/>
              <a:buFont typeface="Playfair Display ExtraBold"/>
              <a:buNone/>
            </a:pPr>
            <a:r>
              <a:rPr lang="en-US" sz="4800" b="1" i="0" u="none" strike="noStrike" cap="none" dirty="0">
                <a:solidFill>
                  <a:srgbClr val="F8FAFC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Data</a:t>
            </a: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5200"/>
              <a:buFont typeface="Playfair Display ExtraBold"/>
              <a:buNone/>
            </a:pPr>
            <a:r>
              <a:rPr lang="en-US" sz="4800" b="1" dirty="0">
                <a:solidFill>
                  <a:srgbClr val="F8FAFC"/>
                </a:solidFill>
                <a:latin typeface="Playfair Display ExtraBold"/>
                <a:ea typeface="Calibri"/>
                <a:cs typeface="Calibri"/>
                <a:sym typeface="Playfair Display ExtraBold"/>
              </a:rPr>
              <a:t>Modelling</a:t>
            </a: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5200"/>
              <a:buFont typeface="Playfair Display ExtraBold"/>
              <a:buNone/>
            </a:pPr>
            <a:r>
              <a:rPr lang="en-US" sz="4800" b="1" i="0" u="none" strike="noStrike" cap="none" dirty="0">
                <a:solidFill>
                  <a:srgbClr val="F8FAFC"/>
                </a:solidFill>
                <a:latin typeface="Playfair Display ExtraBold"/>
                <a:ea typeface="Calibri"/>
                <a:cs typeface="Calibri"/>
                <a:sym typeface="Playfair Display ExtraBold"/>
              </a:rPr>
              <a:t>101 (1)</a:t>
            </a:r>
          </a:p>
        </p:txBody>
      </p:sp>
      <p:sp>
        <p:nvSpPr>
          <p:cNvPr id="2" name="Google Shape;19;p1">
            <a:extLst>
              <a:ext uri="{FF2B5EF4-FFF2-40B4-BE49-F238E27FC236}">
                <a16:creationId xmlns:a16="http://schemas.microsoft.com/office/drawing/2014/main" id="{0F8CC67C-CE39-AA0D-AAA5-C18D81B98541}"/>
              </a:ext>
            </a:extLst>
          </p:cNvPr>
          <p:cNvSpPr/>
          <p:nvPr/>
        </p:nvSpPr>
        <p:spPr>
          <a:xfrm>
            <a:off x="163830" y="4361304"/>
            <a:ext cx="51435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60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Inter Medium"/>
              <a:buNone/>
            </a:pPr>
            <a:r>
              <a:rPr lang="en-US" sz="105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Milan Gabriel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Inter Medium"/>
              <a:buNone/>
            </a:pPr>
            <a:r>
              <a:rPr lang="en-US" sz="105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Senior Data Engineer</a:t>
            </a:r>
            <a:endParaRPr sz="105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428625" y="756093"/>
            <a:ext cx="4000500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Operational Schemas (OLTP) Are Not Built for Analytics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428625" y="2161933"/>
            <a:ext cx="4000500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Normalized structures cause join complexity and performance bottlenecks in reporting.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428625" y="2727685"/>
            <a:ext cx="40005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OLTP Focus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28625" y="2959857"/>
            <a:ext cx="4000500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Optimized for fast writes, data integrity, and highly normalized 3rd Normal Form (3NF) structures.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428625" y="3457017"/>
            <a:ext cx="40005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The Analytical Challenge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28625" y="3689189"/>
            <a:ext cx="4000500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Simple business questions require multiple table joins, making SQL unmaintainable for non-experts.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0" y="42863"/>
            <a:ext cx="4572000" cy="510063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4814888" y="257175"/>
            <a:ext cx="38004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OPERATIONAL (OLTP)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" name="Google Shape;38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14888" y="489347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2"/>
          <p:cNvSpPr/>
          <p:nvPr/>
        </p:nvSpPr>
        <p:spPr>
          <a:xfrm>
            <a:off x="4943475" y="476845"/>
            <a:ext cx="201632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Efficient Transaction Processing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14888" y="695065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2"/>
          <p:cNvSpPr/>
          <p:nvPr/>
        </p:nvSpPr>
        <p:spPr>
          <a:xfrm>
            <a:off x="4943475" y="682563"/>
            <a:ext cx="1314450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Minimal Redundancy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" name="Google Shape;42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14888" y="900782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4943475" y="888281"/>
            <a:ext cx="1355527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Complex Query Logic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4814888" y="1226158"/>
            <a:ext cx="38004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THE RESULT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814888" y="1420825"/>
            <a:ext cx="380047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Inter Medium"/>
              <a:buNone/>
            </a:pPr>
            <a:r>
              <a:rPr lang="en-US" sz="900" b="1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Metric Drift:</a:t>
            </a: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 Different departments reporting different numbers for the same KPI due to query complexity.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" name="Google Shape;46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3656" y="1946560"/>
            <a:ext cx="642938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0" y="57150"/>
            <a:ext cx="3429000" cy="508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"/>
          <p:cNvSpPr/>
          <p:nvPr/>
        </p:nvSpPr>
        <p:spPr>
          <a:xfrm>
            <a:off x="1285875" y="2171700"/>
            <a:ext cx="857250" cy="85725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28775" y="2388691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"/>
          <p:cNvSpPr/>
          <p:nvPr/>
        </p:nvSpPr>
        <p:spPr>
          <a:xfrm>
            <a:off x="1531441" y="2674441"/>
            <a:ext cx="366117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FACTS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Google Shape;57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85032" y="1514475"/>
            <a:ext cx="87511" cy="10001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1600200" y="1735931"/>
            <a:ext cx="257175" cy="12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700"/>
              <a:buFont typeface="Inter Medium"/>
              <a:buNone/>
            </a:pPr>
            <a:r>
              <a:rPr lang="en-US" sz="70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DATE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" name="Google Shape;59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85032" y="3343275"/>
            <a:ext cx="87511" cy="10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3"/>
          <p:cNvSpPr/>
          <p:nvPr/>
        </p:nvSpPr>
        <p:spPr>
          <a:xfrm>
            <a:off x="1484114" y="3564731"/>
            <a:ext cx="489347" cy="12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700"/>
              <a:buFont typeface="Inter Medium"/>
              <a:buNone/>
            </a:pPr>
            <a:r>
              <a:rPr lang="en-US" sz="70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PRODUCT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3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3843" y="2443163"/>
            <a:ext cx="112514" cy="10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3"/>
          <p:cNvSpPr/>
          <p:nvPr/>
        </p:nvSpPr>
        <p:spPr>
          <a:xfrm>
            <a:off x="635794" y="2664619"/>
            <a:ext cx="328613" cy="12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700"/>
              <a:buFont typeface="Inter Medium"/>
              <a:buNone/>
            </a:pPr>
            <a:r>
              <a:rPr lang="en-US" sz="70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STORE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3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585145" y="2443163"/>
            <a:ext cx="87511" cy="100013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2345829" y="2664619"/>
            <a:ext cx="566142" cy="12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700"/>
              <a:buFont typeface="Inter Medium"/>
              <a:buNone/>
            </a:pPr>
            <a:r>
              <a:rPr lang="en-US" sz="70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CUSTOMER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3714750" y="770381"/>
            <a:ext cx="5143500" cy="822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The Star Schema Optimizes for Read Performance and Clarity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714750" y="1764757"/>
            <a:ext cx="5143500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Denormalizing data into facts and dimensions simplifies business logic.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714750" y="2416234"/>
            <a:ext cx="245745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Fact Tables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3714750" y="2648406"/>
            <a:ext cx="2457450" cy="61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Central tables containing numeric measurements (e.g., Sales Amount) and foreign keys to dimensions.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6400800" y="2416234"/>
            <a:ext cx="245745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Dimension Tables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6400800" y="2648406"/>
            <a:ext cx="2457450" cy="61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Surrounding tables providing descriptive context (e.g., Product, Store) for filtering and grouping.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714750" y="3408434"/>
            <a:ext cx="51435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Key Benefit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3714750" y="3640606"/>
            <a:ext cx="5143500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Queries read like English and execute significantly faster than normalized equivalents.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4290"/>
            <a:ext cx="9144000" cy="521494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4"/>
          <p:cNvSpPr/>
          <p:nvPr/>
        </p:nvSpPr>
        <p:spPr>
          <a:xfrm>
            <a:off x="0" y="114300"/>
            <a:ext cx="4150520" cy="508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342900" y="970406"/>
            <a:ext cx="3664744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Kimball’s Four-Step Process Ensures Design Consistency</a:t>
            </a:r>
            <a:endParaRPr sz="2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342900" y="2376246"/>
            <a:ext cx="3664744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Following a sequential methodology prevents 90% of modeling failures.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42900" y="3199172"/>
            <a:ext cx="3664744" cy="173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ORDER MATTERS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342900" y="3515283"/>
            <a:ext cx="3664744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The sequence is the framework. Each decision builds upon the previous one to ensure a robust, scalable model.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4293394" y="400050"/>
            <a:ext cx="898327" cy="72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8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200"/>
              <a:buFont typeface="Playfair Display ExtraBold"/>
              <a:buNone/>
            </a:pPr>
            <a:r>
              <a:rPr lang="en-US" sz="6200" b="1" i="0" u="none" strike="noStrike" cap="none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01</a:t>
            </a:r>
            <a:endParaRPr sz="6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5320308" y="485775"/>
            <a:ext cx="2936081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Select the Business Process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5320308" y="721519"/>
            <a:ext cx="2936081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Identify the operational activity to be measured.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4293394" y="1022181"/>
            <a:ext cx="1026914" cy="72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8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200"/>
              <a:buFont typeface="Playfair Display ExtraBold"/>
              <a:buNone/>
            </a:pPr>
            <a:r>
              <a:rPr lang="en-US" sz="6200" b="1" i="0" u="none" strike="noStrike" cap="none" dirty="0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02</a:t>
            </a:r>
            <a:endParaRPr sz="6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5313164" y="1036469"/>
            <a:ext cx="3457575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Declare the Grain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5313164" y="1272213"/>
            <a:ext cx="345757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Define exactly what one row in the fact table represents.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4286250" y="1581183"/>
            <a:ext cx="994767" cy="72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8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200"/>
              <a:buFont typeface="Playfair Display ExtraBold"/>
              <a:buNone/>
            </a:pPr>
            <a:r>
              <a:rPr lang="en-US" sz="6200" b="1" i="0" u="none" strike="noStrike" cap="none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03</a:t>
            </a:r>
            <a:endParaRPr sz="6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313164" y="1625830"/>
            <a:ext cx="3111103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Identify the Dimensions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5313164" y="1861573"/>
            <a:ext cx="311110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Determine the context (Who, What, Where, When).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4286250" y="2164812"/>
            <a:ext cx="1019770" cy="72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8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6200"/>
              <a:buFont typeface="Playfair Display ExtraBold"/>
              <a:buNone/>
            </a:pPr>
            <a:r>
              <a:rPr lang="en-US" sz="6200" b="1" i="0" u="none" strike="noStrike" cap="none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04</a:t>
            </a:r>
            <a:endParaRPr sz="6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5313164" y="2263987"/>
            <a:ext cx="3403997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Identify the Facts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5313164" y="2499731"/>
            <a:ext cx="3403997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Select the numeric measurements that match the grain.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5"/>
          <p:cNvSpPr/>
          <p:nvPr/>
        </p:nvSpPr>
        <p:spPr>
          <a:xfrm>
            <a:off x="428625" y="713231"/>
            <a:ext cx="4400550" cy="822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Focus on Measurable Activities, Not Departments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428625" y="1707607"/>
            <a:ext cx="4400550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 business process is a verb-based event that generates metrics.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428625" y="2273359"/>
            <a:ext cx="440055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Definition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428625" y="2505531"/>
            <a:ext cx="4400550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An operational activity that captures performance metrics, such as "Selling," "Shipping," or "Registering."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428625" y="2977018"/>
            <a:ext cx="440055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Why it Matters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28625" y="3209190"/>
            <a:ext cx="4400550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Fact tables should mirror real-world events, not organizational silos, to ensure data remains relevant as structures change.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428625" y="3680678"/>
            <a:ext cx="440055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Key Characteristic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28625" y="3912850"/>
            <a:ext cx="4400550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It is always a </a:t>
            </a:r>
            <a:r>
              <a:rPr lang="en-US" sz="900" b="1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VERB</a:t>
            </a: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. If you can't describe it as an action, it's likely not a business process.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972050" y="0"/>
            <a:ext cx="4171950" cy="51435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5"/>
          <p:cNvSpPr/>
          <p:nvPr/>
        </p:nvSpPr>
        <p:spPr>
          <a:xfrm>
            <a:off x="5114925" y="628650"/>
            <a:ext cx="3600450" cy="266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Playfair Display ExtraBold"/>
              <a:buNone/>
            </a:pPr>
            <a:r>
              <a:rPr lang="en-US" sz="140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Process vs. Department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5114925" y="994767"/>
            <a:ext cx="2209233" cy="27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00" tIns="102100" rIns="8500" bIns="85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Business Process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7324158" y="994767"/>
            <a:ext cx="1391217" cy="27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00" tIns="102100" rIns="8500" bIns="85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Department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22069" y="1373386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/>
          <p:nvPr/>
        </p:nvSpPr>
        <p:spPr>
          <a:xfrm>
            <a:off x="5307806" y="1360884"/>
            <a:ext cx="741164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Retail Sales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31301" y="1373386"/>
            <a:ext cx="80367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5"/>
          <p:cNvSpPr/>
          <p:nvPr/>
        </p:nvSpPr>
        <p:spPr>
          <a:xfrm>
            <a:off x="7468819" y="1360884"/>
            <a:ext cx="65365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Marketing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122069" y="1628775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"/>
          <p:cNvSpPr/>
          <p:nvPr/>
        </p:nvSpPr>
        <p:spPr>
          <a:xfrm>
            <a:off x="5307806" y="1616273"/>
            <a:ext cx="935831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Inventory Flow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331301" y="1628775"/>
            <a:ext cx="80367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/>
          <p:nvPr/>
        </p:nvSpPr>
        <p:spPr>
          <a:xfrm>
            <a:off x="7468819" y="1616273"/>
            <a:ext cx="58757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Logistics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122069" y="1884164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5"/>
          <p:cNvSpPr/>
          <p:nvPr/>
        </p:nvSpPr>
        <p:spPr>
          <a:xfrm>
            <a:off x="5307806" y="1871663"/>
            <a:ext cx="1055489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Order Fulfillment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5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331301" y="1884164"/>
            <a:ext cx="80367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5"/>
          <p:cNvSpPr/>
          <p:nvPr/>
        </p:nvSpPr>
        <p:spPr>
          <a:xfrm>
            <a:off x="7468819" y="1871663"/>
            <a:ext cx="71080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Operations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5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122069" y="2139553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5"/>
          <p:cNvSpPr/>
          <p:nvPr/>
        </p:nvSpPr>
        <p:spPr>
          <a:xfrm>
            <a:off x="5307806" y="2127052"/>
            <a:ext cx="1169789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Claims Processing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5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331301" y="2139553"/>
            <a:ext cx="80367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/>
          <p:nvPr/>
        </p:nvSpPr>
        <p:spPr>
          <a:xfrm>
            <a:off x="7468819" y="2127052"/>
            <a:ext cx="64293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Insurance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5" descr="preencoded.png"/>
          <p:cNvPicPr preferRelativeResize="0"/>
          <p:nvPr/>
        </p:nvPicPr>
        <p:blipFill rotWithShape="1">
          <a:blip r:embed="rId12">
            <a:alphaModFix amt="30000"/>
          </a:blip>
          <a:srcRect/>
          <a:stretch/>
        </p:blipFill>
        <p:spPr>
          <a:xfrm>
            <a:off x="6540103" y="2368153"/>
            <a:ext cx="750094" cy="85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/>
          <p:nvPr/>
        </p:nvSpPr>
        <p:spPr>
          <a:xfrm>
            <a:off x="428625" y="763237"/>
            <a:ext cx="3857625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Declaring the Grain is the Most Critical Design Decision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428625" y="2169077"/>
            <a:ext cx="3857625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The grain determines the maximum level of detail and flexibility of the model.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28625" y="2963428"/>
            <a:ext cx="3857625" cy="173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THE GOLDEN RULE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/>
          <p:nvPr/>
        </p:nvSpPr>
        <p:spPr>
          <a:xfrm>
            <a:off x="428625" y="3193814"/>
            <a:ext cx="385762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You must be able to state the grain in one clear sentence: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428625" y="3477778"/>
            <a:ext cx="3857625" cy="303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Playfair Display ExtraBold"/>
              <a:buNone/>
            </a:pPr>
            <a:r>
              <a:rPr lang="en-US" sz="1600" b="1" i="1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"One row represents ___________"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428625" y="3924263"/>
            <a:ext cx="385762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Example: </a:t>
            </a:r>
            <a:r>
              <a:rPr lang="en-US" sz="950" b="0" i="1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"One row per product sold in one transaction at one store."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4572000" y="50006"/>
            <a:ext cx="4572000" cy="508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4857750" y="478631"/>
            <a:ext cx="3857625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ATOMIC GRAIN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/>
          <p:nvPr/>
        </p:nvSpPr>
        <p:spPr>
          <a:xfrm>
            <a:off x="4857750" y="753666"/>
            <a:ext cx="385762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The lowest level of detail captured by the business process. Provides maximum flexibility to aggregate up to any level.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4857750" y="1307976"/>
            <a:ext cx="3857625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AGGREGATE GRAIN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4857750" y="1583010"/>
            <a:ext cx="385762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Pre-summarized data (e.g., daily totals). Faster for specific queries but loses the ability to drill down into individual events.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7750" y="4508822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"/>
          <p:cNvSpPr/>
          <p:nvPr/>
        </p:nvSpPr>
        <p:spPr>
          <a:xfrm>
            <a:off x="5000625" y="4494535"/>
            <a:ext cx="1730573" cy="173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EF4444"/>
                </a:solidFill>
                <a:latin typeface="Inter Medium"/>
                <a:ea typeface="Inter Medium"/>
                <a:cs typeface="Inter Medium"/>
                <a:sym typeface="Inter Medium"/>
              </a:rPr>
              <a:t>The Risk of Mixed Grains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857750" y="4724921"/>
            <a:ext cx="385762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Mixing levels of detail in a single fact table leads to double-counting and fundamentally broken metrics.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/>
          <p:nvPr/>
        </p:nvSpPr>
        <p:spPr>
          <a:xfrm>
            <a:off x="428625" y="770381"/>
            <a:ext cx="3857625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Dimensions Provide the Descriptive Context for Analysis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428625" y="2176221"/>
            <a:ext cx="3857625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Dimensions are the "Who, What, Where, and When" of the process.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/>
          <p:nvPr/>
        </p:nvSpPr>
        <p:spPr>
          <a:xfrm>
            <a:off x="428625" y="2870560"/>
            <a:ext cx="3857625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Attributes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428625" y="3117019"/>
            <a:ext cx="3857625" cy="411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Wide, denormalized tables containing text-based descriptions (e.g., Brand, Category, Region) used for filtering and grouping.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428625" y="3699904"/>
            <a:ext cx="3857625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Surrogate Keys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428625" y="3946364"/>
            <a:ext cx="3857625" cy="61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Warehouse-generated integers that serve as primary keys, protecting the model against changes in source system business keys.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0" y="57150"/>
            <a:ext cx="4572000" cy="508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4857750" y="685800"/>
            <a:ext cx="3857625" cy="266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Playfair Display ExtraBold"/>
              <a:buNone/>
            </a:pPr>
            <a:r>
              <a:rPr lang="en-US" sz="140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Core Dimension Examples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4857750" y="1373386"/>
            <a:ext cx="18573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DATE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4857750" y="1546622"/>
            <a:ext cx="1857375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Day, Month, Quarter, Year, Fiscal Period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6858000" y="1373386"/>
            <a:ext cx="18573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PRODUCT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6858000" y="1546622"/>
            <a:ext cx="1857375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SKU, Name, Brand, Category, Size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4857750" y="2135981"/>
            <a:ext cx="18573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STORE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4857750" y="2309217"/>
            <a:ext cx="1857375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Name, City, State, Region, Manager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6858000" y="2135981"/>
            <a:ext cx="1857375" cy="137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800"/>
              <a:buFont typeface="Inter Medium"/>
              <a:buNone/>
            </a:pPr>
            <a:r>
              <a:rPr lang="en-US" sz="8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PROMOTION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858000" y="2309217"/>
            <a:ext cx="1857375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Type, Discount %, Start/End Dates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7" descr="preencoded.png"/>
          <p:cNvPicPr preferRelativeResize="0"/>
          <p:nvPr/>
        </p:nvPicPr>
        <p:blipFill rotWithShape="1">
          <a:blip r:embed="rId4">
            <a:alphaModFix amt="30000"/>
          </a:blip>
          <a:srcRect/>
          <a:stretch/>
        </p:blipFill>
        <p:spPr>
          <a:xfrm>
            <a:off x="6357938" y="3595985"/>
            <a:ext cx="857250" cy="85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/>
          <p:nvPr/>
        </p:nvSpPr>
        <p:spPr>
          <a:xfrm>
            <a:off x="428625" y="770381"/>
            <a:ext cx="3857625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Facts are the Numeric Measurements of the Process</a:t>
            </a:r>
            <a:endParaRPr sz="2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28625" y="2176221"/>
            <a:ext cx="3857625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Every fact in a table must strictly adhere to the declared grain.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428625" y="2992003"/>
            <a:ext cx="385762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Inter Medium"/>
              <a:buNone/>
            </a:pPr>
            <a:r>
              <a:rPr lang="en-US" sz="9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ADDITIVE FACTS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28625" y="3175955"/>
            <a:ext cx="38576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Can be summed across all dimensions (e.g., Sales Amount, Quantity).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28625" y="3611724"/>
            <a:ext cx="385762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Inter Medium"/>
              <a:buNone/>
            </a:pPr>
            <a:r>
              <a:rPr lang="en-US" sz="9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SEMI-ADDITIVE FACTS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28625" y="3795675"/>
            <a:ext cx="38576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Can be summed across some dimensions, but not time (e.g., Inventory Levels).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28625" y="4402894"/>
            <a:ext cx="385762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900"/>
              <a:buFont typeface="Inter Medium"/>
              <a:buNone/>
            </a:pPr>
            <a:r>
              <a:rPr lang="en-US" sz="9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NON-ADDITIVE FACTS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28625" y="4586846"/>
            <a:ext cx="38576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Cannot be summed; usually ratios or percentages (e.g., Unit Price, Margin %).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4572000" y="57150"/>
            <a:ext cx="4572000" cy="508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5014913" y="785813"/>
            <a:ext cx="3543300" cy="173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000"/>
              <a:buFont typeface="Inter Medium"/>
              <a:buNone/>
            </a:pPr>
            <a:r>
              <a:rPr lang="en-US" sz="1000" b="1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FACT TABLE STRUCTURE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5014913" y="1073348"/>
            <a:ext cx="3543300" cy="365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Fact tables are </a:t>
            </a:r>
            <a:r>
              <a:rPr lang="en-US" sz="800" b="1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"Narrow and Deep"</a:t>
            </a:r>
            <a:r>
              <a:rPr lang="en-US" sz="850" b="0" i="0" u="none" strike="noStrike" cap="none">
                <a:solidFill>
                  <a:srgbClr val="CBD5E1"/>
                </a:solidFill>
                <a:latin typeface="Inter Medium"/>
                <a:ea typeface="Inter Medium"/>
                <a:cs typeface="Inter Medium"/>
                <a:sym typeface="Inter Medium"/>
              </a:rPr>
              <a:t>. They consist primarily of foreign keys to dimensions and numeric measurements.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4857750" y="1953425"/>
            <a:ext cx="385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Playfair Display ExtraBold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Retail Sales Facts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57750" y="2302576"/>
            <a:ext cx="171450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8"/>
          <p:cNvSpPr/>
          <p:nvPr/>
        </p:nvSpPr>
        <p:spPr>
          <a:xfrm>
            <a:off x="5136356" y="2289181"/>
            <a:ext cx="1757363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Sales Revenue (Gross &amp; Net)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8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57750" y="2565109"/>
            <a:ext cx="171450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8"/>
          <p:cNvSpPr/>
          <p:nvPr/>
        </p:nvSpPr>
        <p:spPr>
          <a:xfrm>
            <a:off x="5136356" y="2551714"/>
            <a:ext cx="1275159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Quantity Sold (Units)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8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857750" y="2827641"/>
            <a:ext cx="171450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8"/>
          <p:cNvSpPr/>
          <p:nvPr/>
        </p:nvSpPr>
        <p:spPr>
          <a:xfrm>
            <a:off x="5136356" y="2814247"/>
            <a:ext cx="1059061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Discount Amount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8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857750" y="3090174"/>
            <a:ext cx="171450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8"/>
          <p:cNvSpPr/>
          <p:nvPr/>
        </p:nvSpPr>
        <p:spPr>
          <a:xfrm>
            <a:off x="5136356" y="3076780"/>
            <a:ext cx="1689497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Cost of Goods Sold (COGS)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8" descr="preencoded.png"/>
          <p:cNvPicPr preferRelativeResize="0"/>
          <p:nvPr/>
        </p:nvPicPr>
        <p:blipFill rotWithShape="1">
          <a:blip r:embed="rId8">
            <a:alphaModFix amt="20000"/>
          </a:blip>
          <a:srcRect/>
          <a:stretch/>
        </p:blipFill>
        <p:spPr>
          <a:xfrm>
            <a:off x="6357938" y="3902078"/>
            <a:ext cx="857250" cy="85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"/>
          <p:cNvSpPr/>
          <p:nvPr/>
        </p:nvSpPr>
        <p:spPr>
          <a:xfrm>
            <a:off x="4924604" y="736752"/>
            <a:ext cx="3790771" cy="72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Putting It Together: </a:t>
            </a:r>
          </a:p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 dirty="0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Retail Sales Star Schema</a:t>
            </a:r>
            <a:endParaRPr sz="24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4924604" y="1630232"/>
            <a:ext cx="33151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 well-designed schema enables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P</a:t>
            </a: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owerful, </a:t>
            </a:r>
            <a:r>
              <a:rPr lang="en-US" sz="1200" b="1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S</a:t>
            </a: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imple, and </a:t>
            </a:r>
            <a:r>
              <a:rPr lang="en-US" sz="1200" b="1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F</a:t>
            </a: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ast </a:t>
            </a:r>
            <a:r>
              <a:rPr lang="en-US" sz="1200" b="1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A</a:t>
            </a:r>
            <a:r>
              <a:rPr lang="en-US" sz="1200" b="0" i="0" u="none" strike="noStrike" cap="none" dirty="0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nalytics.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5241727" y="4614863"/>
            <a:ext cx="3473648" cy="242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Inter Medium"/>
              <a:buNone/>
            </a:pPr>
            <a:r>
              <a:rPr lang="en-US" sz="700" b="1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FK</a:t>
            </a:r>
            <a:r>
              <a:rPr lang="en-US" sz="7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 = Foreign Key | </a:t>
            </a:r>
            <a:r>
              <a:rPr lang="en-US" sz="700" b="1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PK</a:t>
            </a:r>
            <a:r>
              <a:rPr lang="en-US" sz="7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 = Primary Key (Surrogate)</a:t>
            </a:r>
            <a:br>
              <a:rPr lang="en-US" sz="7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en-US" sz="7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Center: Measurements at Declared Grain | Satellites: Descriptive Context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21EBFC-0433-CAD3-D2E4-01117BA1CE99}"/>
              </a:ext>
            </a:extLst>
          </p:cNvPr>
          <p:cNvGrpSpPr/>
          <p:nvPr/>
        </p:nvGrpSpPr>
        <p:grpSpPr>
          <a:xfrm>
            <a:off x="47596" y="755825"/>
            <a:ext cx="5469459" cy="4169851"/>
            <a:chOff x="1922116" y="837105"/>
            <a:chExt cx="5469459" cy="41698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B2FBB45-EDC9-C3FA-3D45-6675D3B2B840}"/>
                </a:ext>
              </a:extLst>
            </p:cNvPr>
            <p:cNvGrpSpPr/>
            <p:nvPr/>
          </p:nvGrpSpPr>
          <p:grpSpPr>
            <a:xfrm>
              <a:off x="3601343" y="1896178"/>
              <a:ext cx="2143125" cy="2044251"/>
              <a:chOff x="3500438" y="2266131"/>
              <a:chExt cx="2143125" cy="2044251"/>
            </a:xfrm>
          </p:grpSpPr>
          <p:sp>
            <p:nvSpPr>
              <p:cNvPr id="213" name="Google Shape;213;p9"/>
              <p:cNvSpPr/>
              <p:nvPr/>
            </p:nvSpPr>
            <p:spPr>
              <a:xfrm>
                <a:off x="3557588" y="2266131"/>
                <a:ext cx="2028825" cy="2044251"/>
              </a:xfrm>
              <a:prstGeom prst="rect">
                <a:avLst/>
              </a:prstGeom>
              <a:solidFill>
                <a:srgbClr val="1E293B"/>
              </a:solidFill>
              <a:ln w="18275" cap="flat" cmpd="sng">
                <a:solidFill>
                  <a:srgbClr val="05966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9"/>
              <p:cNvSpPr/>
              <p:nvPr/>
            </p:nvSpPr>
            <p:spPr>
              <a:xfrm>
                <a:off x="4133552" y="2423294"/>
                <a:ext cx="876895" cy="1732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59669"/>
                  </a:buClr>
                  <a:buSzPts val="1000"/>
                  <a:buFont typeface="Inter Medium"/>
                  <a:buNone/>
                </a:pPr>
                <a:r>
                  <a:rPr lang="en-US" sz="1000" b="1" i="0" u="none" strike="noStrike" cap="none">
                    <a:solidFill>
                      <a:srgbClr val="0596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FACT_SALES</a:t>
                </a:r>
                <a:endParaRPr sz="10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" name="Google Shape;215;p9"/>
              <p:cNvSpPr/>
              <p:nvPr/>
            </p:nvSpPr>
            <p:spPr>
              <a:xfrm>
                <a:off x="3500438" y="2703686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4A3B8"/>
                  </a:buClr>
                  <a:buSzPts val="750"/>
                  <a:buFont typeface="Inter Medium"/>
                  <a:buNone/>
                </a:pPr>
                <a:r>
                  <a:rPr lang="en-US" sz="750" b="0" i="0" u="none" strike="noStrike" cap="none">
                    <a:solidFill>
                      <a:srgbClr val="94A3B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date_key (FK)</a:t>
                </a:r>
                <a:endParaRPr sz="75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" name="Google Shape;216;p9"/>
              <p:cNvSpPr/>
              <p:nvPr/>
            </p:nvSpPr>
            <p:spPr>
              <a:xfrm>
                <a:off x="3500438" y="2882280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4A3B8"/>
                  </a:buClr>
                  <a:buSzPts val="750"/>
                  <a:buFont typeface="Inter Medium"/>
                  <a:buNone/>
                </a:pPr>
                <a:r>
                  <a:rPr lang="en-US" sz="750" b="0" i="0" u="none" strike="noStrike" cap="none">
                    <a:solidFill>
                      <a:srgbClr val="94A3B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product_key (FK)</a:t>
                </a:r>
                <a:endParaRPr sz="75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" name="Google Shape;217;p9"/>
              <p:cNvSpPr/>
              <p:nvPr/>
            </p:nvSpPr>
            <p:spPr>
              <a:xfrm>
                <a:off x="3500438" y="3060874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4A3B8"/>
                  </a:buClr>
                  <a:buSzPts val="750"/>
                  <a:buFont typeface="Inter Medium"/>
                  <a:buNone/>
                </a:pPr>
                <a:r>
                  <a:rPr lang="en-US" sz="750" b="0" i="0" u="none" strike="noStrike" cap="none">
                    <a:solidFill>
                      <a:srgbClr val="94A3B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store_key (FK)</a:t>
                </a:r>
                <a:endParaRPr sz="75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" name="Google Shape;218;p9"/>
              <p:cNvSpPr/>
              <p:nvPr/>
            </p:nvSpPr>
            <p:spPr>
              <a:xfrm>
                <a:off x="3500438" y="3239467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4A3B8"/>
                  </a:buClr>
                  <a:buSzPts val="750"/>
                  <a:buFont typeface="Inter Medium"/>
                  <a:buNone/>
                </a:pPr>
                <a:r>
                  <a:rPr lang="en-US" sz="750" b="0" i="0" u="none" strike="noStrike" cap="none">
                    <a:solidFill>
                      <a:srgbClr val="94A3B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promotion_key (FK)</a:t>
                </a:r>
                <a:endParaRPr sz="75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9" name="Google Shape;219;p9"/>
              <p:cNvSpPr/>
              <p:nvPr/>
            </p:nvSpPr>
            <p:spPr>
              <a:xfrm>
                <a:off x="3500438" y="3489499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F8FAFC"/>
                  </a:buClr>
                  <a:buSzPts val="700"/>
                  <a:buFont typeface="Inter Medium"/>
                  <a:buNone/>
                </a:pPr>
                <a:r>
                  <a:rPr lang="en-US" sz="700" b="0" i="0" u="none" strike="noStrike" cap="none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quantity_sold</a:t>
                </a:r>
                <a:endParaRPr sz="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0" name="Google Shape;220;p9"/>
              <p:cNvSpPr/>
              <p:nvPr/>
            </p:nvSpPr>
            <p:spPr>
              <a:xfrm>
                <a:off x="3500438" y="3668092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F8FAFC"/>
                  </a:buClr>
                  <a:buSzPts val="700"/>
                  <a:buFont typeface="Inter Medium"/>
                  <a:buNone/>
                </a:pPr>
                <a:r>
                  <a:rPr lang="en-US" sz="700" b="0" i="0" u="none" strike="noStrike" cap="none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sales_amount</a:t>
                </a:r>
                <a:endParaRPr sz="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1" name="Google Shape;221;p9"/>
              <p:cNvSpPr/>
              <p:nvPr/>
            </p:nvSpPr>
            <p:spPr>
              <a:xfrm>
                <a:off x="3500438" y="3846686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F8FAFC"/>
                  </a:buClr>
                  <a:buSzPts val="700"/>
                  <a:buFont typeface="Inter Medium"/>
                  <a:buNone/>
                </a:pPr>
                <a:r>
                  <a:rPr lang="en-US" sz="700" b="0" i="0" u="none" strike="noStrike" cap="none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discount_amount</a:t>
                </a:r>
                <a:endParaRPr sz="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2" name="Google Shape;222;p9"/>
              <p:cNvSpPr/>
              <p:nvPr/>
            </p:nvSpPr>
            <p:spPr>
              <a:xfrm>
                <a:off x="3500438" y="4025280"/>
                <a:ext cx="2143125" cy="121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7005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F8FAFC"/>
                  </a:buClr>
                  <a:buSzPts val="700"/>
                  <a:buFont typeface="Inter Medium"/>
                  <a:buNone/>
                </a:pPr>
                <a:r>
                  <a:rPr lang="en-US" sz="700" b="0" i="0" u="none" strike="noStrike" cap="none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cost_amount</a:t>
                </a:r>
                <a:endParaRPr sz="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F81F48-F198-5BE6-1FFD-3AA7F9ECB922}"/>
                </a:ext>
              </a:extLst>
            </p:cNvPr>
            <p:cNvGrpSpPr/>
            <p:nvPr/>
          </p:nvGrpSpPr>
          <p:grpSpPr>
            <a:xfrm>
              <a:off x="3857625" y="837105"/>
              <a:ext cx="1535906" cy="836042"/>
              <a:chOff x="3857625" y="1306329"/>
              <a:chExt cx="1535906" cy="836042"/>
            </a:xfrm>
          </p:grpSpPr>
          <p:sp>
            <p:nvSpPr>
              <p:cNvPr id="223" name="Google Shape;223;p9"/>
              <p:cNvSpPr/>
              <p:nvPr/>
            </p:nvSpPr>
            <p:spPr>
              <a:xfrm>
                <a:off x="3900487" y="1306329"/>
                <a:ext cx="1457325" cy="836042"/>
              </a:xfrm>
              <a:prstGeom prst="rect">
                <a:avLst/>
              </a:prstGeom>
              <a:solidFill>
                <a:srgbClr val="FFFFFF"/>
              </a:solidFill>
              <a:ln w="18275" cap="flat" cmpd="sng">
                <a:solidFill>
                  <a:srgbClr val="CBD5E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224" name="Google Shape;224;p9"/>
              <p:cNvSpPr/>
              <p:nvPr/>
            </p:nvSpPr>
            <p:spPr>
              <a:xfrm>
                <a:off x="4364831" y="1422415"/>
                <a:ext cx="521494" cy="13751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293B"/>
                  </a:buClr>
                  <a:buSzPts val="800"/>
                  <a:buFont typeface="Inter Medium"/>
                  <a:buNone/>
                </a:pPr>
                <a:r>
                  <a:rPr lang="en-US" sz="800" b="1" i="0" u="none" strike="noStrike" cap="none" dirty="0" err="1">
                    <a:solidFill>
                      <a:srgbClr val="1E293B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Dim_Date</a:t>
                </a:r>
                <a:endParaRPr sz="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5" name="Google Shape;225;p9"/>
              <p:cNvSpPr/>
              <p:nvPr/>
            </p:nvSpPr>
            <p:spPr>
              <a:xfrm>
                <a:off x="3857625" y="1631370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date_key (PK)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6" name="Google Shape;226;p9"/>
              <p:cNvSpPr/>
              <p:nvPr/>
            </p:nvSpPr>
            <p:spPr>
              <a:xfrm>
                <a:off x="3857625" y="1765315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calendar_day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7" name="Google Shape;227;p9"/>
              <p:cNvSpPr/>
              <p:nvPr/>
            </p:nvSpPr>
            <p:spPr>
              <a:xfrm>
                <a:off x="3857625" y="1899260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 dirty="0" err="1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fiscal_period</a:t>
                </a:r>
                <a:endParaRPr sz="6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ECCEADD-0665-F044-16FE-31FF926A0A62}"/>
                </a:ext>
              </a:extLst>
            </p:cNvPr>
            <p:cNvGrpSpPr/>
            <p:nvPr/>
          </p:nvGrpSpPr>
          <p:grpSpPr>
            <a:xfrm>
              <a:off x="1922116" y="2450240"/>
              <a:ext cx="1535906" cy="847899"/>
              <a:chOff x="660797" y="3274963"/>
              <a:chExt cx="1535906" cy="847899"/>
            </a:xfrm>
          </p:grpSpPr>
          <p:sp>
            <p:nvSpPr>
              <p:cNvPr id="228" name="Google Shape;228;p9"/>
              <p:cNvSpPr/>
              <p:nvPr/>
            </p:nvSpPr>
            <p:spPr>
              <a:xfrm>
                <a:off x="714375" y="3274963"/>
                <a:ext cx="1457325" cy="847899"/>
              </a:xfrm>
              <a:prstGeom prst="rect">
                <a:avLst/>
              </a:prstGeom>
              <a:solidFill>
                <a:srgbClr val="FFFFFF"/>
              </a:solidFill>
              <a:ln w="18275" cap="flat" cmpd="sng">
                <a:solidFill>
                  <a:srgbClr val="CBD5E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229;p9"/>
              <p:cNvSpPr/>
              <p:nvPr/>
            </p:nvSpPr>
            <p:spPr>
              <a:xfrm>
                <a:off x="1077813" y="3382119"/>
                <a:ext cx="701873" cy="13751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293B"/>
                  </a:buClr>
                  <a:buSzPts val="800"/>
                  <a:buFont typeface="Inter Medium"/>
                  <a:buNone/>
                </a:pPr>
                <a:r>
                  <a:rPr lang="en-US" sz="800" b="1" i="0" u="none" strike="noStrike" cap="none">
                    <a:solidFill>
                      <a:srgbClr val="1E293B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Dim_Product</a:t>
                </a:r>
                <a:endParaRPr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0" name="Google Shape;230;p9"/>
              <p:cNvSpPr/>
              <p:nvPr/>
            </p:nvSpPr>
            <p:spPr>
              <a:xfrm>
                <a:off x="660797" y="3591074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product_key (PK)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1" name="Google Shape;231;p9"/>
              <p:cNvSpPr/>
              <p:nvPr/>
            </p:nvSpPr>
            <p:spPr>
              <a:xfrm>
                <a:off x="660797" y="3725019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product_name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2" name="Google Shape;232;p9"/>
              <p:cNvSpPr/>
              <p:nvPr/>
            </p:nvSpPr>
            <p:spPr>
              <a:xfrm>
                <a:off x="660797" y="3858964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category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6FBF7F5-CCFA-154F-8A7E-62DC3AFC121B}"/>
                </a:ext>
              </a:extLst>
            </p:cNvPr>
            <p:cNvGrpSpPr/>
            <p:nvPr/>
          </p:nvGrpSpPr>
          <p:grpSpPr>
            <a:xfrm>
              <a:off x="5855669" y="2480581"/>
              <a:ext cx="1535906" cy="847899"/>
              <a:chOff x="6947297" y="3274963"/>
              <a:chExt cx="1535906" cy="847899"/>
            </a:xfrm>
          </p:grpSpPr>
          <p:sp>
            <p:nvSpPr>
              <p:cNvPr id="233" name="Google Shape;233;p9"/>
              <p:cNvSpPr/>
              <p:nvPr/>
            </p:nvSpPr>
            <p:spPr>
              <a:xfrm>
                <a:off x="6972300" y="3274963"/>
                <a:ext cx="1457325" cy="847899"/>
              </a:xfrm>
              <a:prstGeom prst="rect">
                <a:avLst/>
              </a:prstGeom>
              <a:solidFill>
                <a:srgbClr val="FFFFFF"/>
              </a:solidFill>
              <a:ln w="18275" cap="flat" cmpd="sng">
                <a:solidFill>
                  <a:srgbClr val="CBD5E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234" name="Google Shape;234;p9"/>
              <p:cNvSpPr/>
              <p:nvPr/>
            </p:nvSpPr>
            <p:spPr>
              <a:xfrm>
                <a:off x="7436644" y="3382119"/>
                <a:ext cx="557213" cy="13751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293B"/>
                  </a:buClr>
                  <a:buSzPts val="800"/>
                  <a:buFont typeface="Inter Medium"/>
                  <a:buNone/>
                </a:pPr>
                <a:r>
                  <a:rPr lang="en-US" sz="800" b="1" i="0" u="none" strike="noStrike" cap="none">
                    <a:solidFill>
                      <a:srgbClr val="1E293B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Dim_Store</a:t>
                </a:r>
                <a:endParaRPr sz="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" name="Google Shape;235;p9"/>
              <p:cNvSpPr/>
              <p:nvPr/>
            </p:nvSpPr>
            <p:spPr>
              <a:xfrm>
                <a:off x="6947297" y="3591074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 dirty="0" err="1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store_key</a:t>
                </a:r>
                <a:r>
                  <a:rPr lang="en-US" sz="600" b="0" i="0" u="none" strike="noStrike" cap="none" dirty="0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 (PK)</a:t>
                </a:r>
                <a:endParaRPr sz="6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" name="Google Shape;236;p9"/>
              <p:cNvSpPr/>
              <p:nvPr/>
            </p:nvSpPr>
            <p:spPr>
              <a:xfrm>
                <a:off x="6947297" y="3725019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store_name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" name="Google Shape;237;p9"/>
              <p:cNvSpPr/>
              <p:nvPr/>
            </p:nvSpPr>
            <p:spPr>
              <a:xfrm>
                <a:off x="6947297" y="3858964"/>
                <a:ext cx="1535906" cy="105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region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C68F138-139A-F2D0-6D45-B888070260F0}"/>
                </a:ext>
              </a:extLst>
            </p:cNvPr>
            <p:cNvGrpSpPr/>
            <p:nvPr/>
          </p:nvGrpSpPr>
          <p:grpSpPr>
            <a:xfrm>
              <a:off x="3844391" y="4159057"/>
              <a:ext cx="1535906" cy="847899"/>
              <a:chOff x="3804047" y="3864769"/>
              <a:chExt cx="1535906" cy="847899"/>
            </a:xfrm>
          </p:grpSpPr>
          <p:sp>
            <p:nvSpPr>
              <p:cNvPr id="238" name="Google Shape;238;p9"/>
              <p:cNvSpPr/>
              <p:nvPr/>
            </p:nvSpPr>
            <p:spPr>
              <a:xfrm>
                <a:off x="3857625" y="3864769"/>
                <a:ext cx="1457325" cy="847899"/>
              </a:xfrm>
              <a:prstGeom prst="rect">
                <a:avLst/>
              </a:prstGeom>
              <a:solidFill>
                <a:srgbClr val="FFFFFF"/>
              </a:solidFill>
              <a:ln w="18275" cap="flat" cmpd="sng">
                <a:solidFill>
                  <a:srgbClr val="CBD5E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239" name="Google Shape;239;p9"/>
              <p:cNvSpPr/>
              <p:nvPr/>
            </p:nvSpPr>
            <p:spPr>
              <a:xfrm>
                <a:off x="4154984" y="3999259"/>
                <a:ext cx="834033" cy="1362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293B"/>
                  </a:buClr>
                  <a:buSzPts val="800"/>
                  <a:buFont typeface="Inter Medium"/>
                  <a:buNone/>
                </a:pPr>
                <a:r>
                  <a:rPr lang="en-US" sz="800" b="1" i="0" u="none" strike="noStrike" cap="none" dirty="0" err="1">
                    <a:solidFill>
                      <a:srgbClr val="1E293B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Dim_Promotion</a:t>
                </a:r>
                <a:endParaRPr sz="8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" name="Google Shape;240;p9"/>
              <p:cNvSpPr/>
              <p:nvPr/>
            </p:nvSpPr>
            <p:spPr>
              <a:xfrm>
                <a:off x="3804047" y="4206304"/>
                <a:ext cx="1535906" cy="1044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promotion_key (PK)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>
                <a:off x="3804047" y="4339024"/>
                <a:ext cx="1535906" cy="1044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promo_name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>
                <a:off x="3804047" y="4471745"/>
                <a:ext cx="1535906" cy="1044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7500" tIns="0" rIns="0" bIns="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475569"/>
                  </a:buClr>
                  <a:buSzPts val="600"/>
                  <a:buFont typeface="Inter Medium"/>
                  <a:buNone/>
                </a:pPr>
                <a:r>
                  <a:rPr lang="en-US" sz="600" b="0" i="0" u="none" strike="noStrike" cap="none">
                    <a:solidFill>
                      <a:srgbClr val="475569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promo_type</a:t>
                </a:r>
                <a:endParaRPr sz="6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0" name="Up Arrow 9">
              <a:extLst>
                <a:ext uri="{FF2B5EF4-FFF2-40B4-BE49-F238E27FC236}">
                  <a16:creationId xmlns:a16="http://schemas.microsoft.com/office/drawing/2014/main" id="{D951E3E7-0831-F5ED-C6A8-66891BE44D82}"/>
                </a:ext>
              </a:extLst>
            </p:cNvPr>
            <p:cNvSpPr/>
            <p:nvPr/>
          </p:nvSpPr>
          <p:spPr>
            <a:xfrm rot="5400000">
              <a:off x="5681881" y="2726586"/>
              <a:ext cx="239473" cy="32057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Up Arrow 10">
              <a:extLst>
                <a:ext uri="{FF2B5EF4-FFF2-40B4-BE49-F238E27FC236}">
                  <a16:creationId xmlns:a16="http://schemas.microsoft.com/office/drawing/2014/main" id="{9689B4A1-F0A9-B22B-78CF-F2DBEA8F3FAA}"/>
                </a:ext>
              </a:extLst>
            </p:cNvPr>
            <p:cNvSpPr/>
            <p:nvPr/>
          </p:nvSpPr>
          <p:spPr>
            <a:xfrm rot="16200000">
              <a:off x="3424457" y="2732444"/>
              <a:ext cx="239473" cy="32057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Up Arrow 11">
              <a:extLst>
                <a:ext uri="{FF2B5EF4-FFF2-40B4-BE49-F238E27FC236}">
                  <a16:creationId xmlns:a16="http://schemas.microsoft.com/office/drawing/2014/main" id="{23FA4520-DFE5-3B83-38FC-6FC2D67284B3}"/>
                </a:ext>
              </a:extLst>
            </p:cNvPr>
            <p:cNvSpPr/>
            <p:nvPr/>
          </p:nvSpPr>
          <p:spPr>
            <a:xfrm>
              <a:off x="4492607" y="1634093"/>
              <a:ext cx="239473" cy="32057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Up Arrow 12">
              <a:extLst>
                <a:ext uri="{FF2B5EF4-FFF2-40B4-BE49-F238E27FC236}">
                  <a16:creationId xmlns:a16="http://schemas.microsoft.com/office/drawing/2014/main" id="{C4589751-B48E-1DA2-C644-24E600B4A1AD}"/>
                </a:ext>
              </a:extLst>
            </p:cNvPr>
            <p:cNvSpPr/>
            <p:nvPr/>
          </p:nvSpPr>
          <p:spPr>
            <a:xfrm rot="10800000" flipH="1">
              <a:off x="4492606" y="3899935"/>
              <a:ext cx="239473" cy="320575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0"/>
          <p:cNvSpPr/>
          <p:nvPr/>
        </p:nvSpPr>
        <p:spPr>
          <a:xfrm>
            <a:off x="0" y="57150"/>
            <a:ext cx="3800475" cy="50863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428625" y="913256"/>
            <a:ext cx="3086100" cy="164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1E293B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Avoid These Four Common Dimensional Modeling Mistakes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428625" y="2730559"/>
            <a:ext cx="3086100" cy="48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EF4444"/>
                </a:solidFill>
                <a:latin typeface="Inter Medium"/>
                <a:ea typeface="Inter Medium"/>
                <a:cs typeface="Inter Medium"/>
                <a:sym typeface="Inter Medium"/>
              </a:rPr>
              <a:t>Most failures stem from ignoring the four-step process or mixing grains.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10" descr="preencoded.png"/>
          <p:cNvPicPr preferRelativeResize="0"/>
          <p:nvPr/>
        </p:nvPicPr>
        <p:blipFill rotWithShape="1">
          <a:blip r:embed="rId4">
            <a:alphaModFix amt="10000"/>
          </a:blip>
          <a:srcRect/>
          <a:stretch/>
        </p:blipFill>
        <p:spPr>
          <a:xfrm>
            <a:off x="1685925" y="378208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0"/>
          <p:cNvSpPr/>
          <p:nvPr/>
        </p:nvSpPr>
        <p:spPr>
          <a:xfrm>
            <a:off x="4086225" y="728663"/>
            <a:ext cx="748308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>
                <a:solidFill>
                  <a:srgbClr val="EF4444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01</a:t>
            </a:r>
            <a:endParaRPr sz="5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4086225" y="800100"/>
            <a:ext cx="21717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Unclear Grain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4086225" y="1540545"/>
            <a:ext cx="21717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Inter Medium"/>
              <a:buNone/>
            </a:pPr>
            <a:r>
              <a:rPr lang="en-US" sz="850" b="0" i="0" u="none" strike="noStrike" cap="none" dirty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Failing to define exactly what a row represents leads to ambiguity and inconsistent query results across developers.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6543675" y="728663"/>
            <a:ext cx="855464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>
                <a:solidFill>
                  <a:srgbClr val="EF4444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02</a:t>
            </a:r>
            <a:endParaRPr sz="5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6543675" y="800100"/>
            <a:ext cx="21717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Mixed Grain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6543675" y="1540545"/>
            <a:ext cx="21717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Putting different levels of detail in one fact table (e.g., daily and transaction) causes massive double-counting errors.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4086225" y="3128963"/>
            <a:ext cx="828675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>
                <a:solidFill>
                  <a:srgbClr val="EF4444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03</a:t>
            </a:r>
            <a:endParaRPr sz="5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4086225" y="3200400"/>
            <a:ext cx="21717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Facts in Dimensions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4086225" y="3940845"/>
            <a:ext cx="21717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Placing performance metrics in descriptive tables causes dimension bloat and breaks historical tracking (SCD) logic.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6543675" y="3128963"/>
            <a:ext cx="850106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>
                <a:solidFill>
                  <a:srgbClr val="EF4444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04</a:t>
            </a:r>
            <a:endParaRPr sz="5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6543675" y="3200400"/>
            <a:ext cx="2171700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Premature Aggregation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6543675" y="3940845"/>
            <a:ext cx="21717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50"/>
              <a:buFont typeface="Inter Medium"/>
              <a:buNone/>
            </a:pPr>
            <a:r>
              <a:rPr lang="en-US" sz="8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Summarizing data too early to "save space" or "speed up" results in losing the ability to drill down into critical business details.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1"/>
          <p:cNvSpPr/>
          <p:nvPr/>
        </p:nvSpPr>
        <p:spPr>
          <a:xfrm>
            <a:off x="0" y="57150"/>
            <a:ext cx="3743325" cy="50863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1"/>
          <p:cNvSpPr/>
          <p:nvPr/>
        </p:nvSpPr>
        <p:spPr>
          <a:xfrm>
            <a:off x="428625" y="770381"/>
            <a:ext cx="3028950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F8FAFC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Master the Process to Build Scalable Data Models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428625" y="2176221"/>
            <a:ext cx="3028950" cy="414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Consistency and atomic detail are the foundations of successful BI.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428625" y="3104908"/>
            <a:ext cx="3028950" cy="822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These five rules prevent 90% of modeling failures. Adhering to Kimball's framework ensures your data warehouse remains a single source of truth.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4029075" y="200025"/>
            <a:ext cx="748308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 dirty="0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01</a:t>
            </a:r>
            <a:endParaRPr sz="5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872037" y="462559"/>
            <a:ext cx="4257675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Process First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4872037" y="698303"/>
            <a:ext cx="4257675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Always follow the four steps in order: Process → Grain → Dimensions → Facts.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4029075" y="935831"/>
            <a:ext cx="855464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 dirty="0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02</a:t>
            </a:r>
            <a:endParaRPr sz="5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4872037" y="1198365"/>
            <a:ext cx="4227314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Atomic is Best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4872037" y="1434109"/>
            <a:ext cx="4227314" cy="19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Start at the lowest level of detail to ensure maximum future flexibility.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3996929" y="1678785"/>
            <a:ext cx="828675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03</a:t>
            </a:r>
            <a:endParaRPr sz="5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4839891" y="1941319"/>
            <a:ext cx="4257675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One Grain per Table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4839891" y="2177063"/>
            <a:ext cx="4257675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Never mix levels of detail in a single fact table to avoid broken metrics.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3976525" y="2383876"/>
            <a:ext cx="850106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 dirty="0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04</a:t>
            </a:r>
            <a:endParaRPr sz="5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4819487" y="2646410"/>
            <a:ext cx="4157663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Dimensions Describe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4819487" y="2882153"/>
            <a:ext cx="4157663" cy="192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 dirty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Keep descriptive attributes in wide, denormalized dimension tables.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3972543" y="3044754"/>
            <a:ext cx="810816" cy="951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5200"/>
              <a:buFont typeface="Playfair Display ExtraBold"/>
              <a:buNone/>
            </a:pPr>
            <a:r>
              <a:rPr lang="en-US" sz="5200" b="1" i="0" u="none" strike="noStrike" cap="none" dirty="0">
                <a:solidFill>
                  <a:srgbClr val="059669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05</a:t>
            </a:r>
            <a:endParaRPr sz="5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4815505" y="3307288"/>
            <a:ext cx="4257675" cy="207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Inter Medium"/>
              <a:buNone/>
            </a:pPr>
            <a:r>
              <a:rPr lang="en-US" sz="12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Facts Measure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4815505" y="3543031"/>
            <a:ext cx="4257675" cy="38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Inter Medium"/>
              <a:buNone/>
            </a:pPr>
            <a:r>
              <a:rPr lang="en-US" sz="950" b="0" i="0" u="none" strike="noStrike" cap="none" dirty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Store numeric measurements in narrow, deep fact tables using surrogate keys.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1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244461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12"/>
          <p:cNvSpPr/>
          <p:nvPr/>
        </p:nvSpPr>
        <p:spPr>
          <a:xfrm>
            <a:off x="0" y="57150"/>
            <a:ext cx="4121944" cy="5187311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428625" y="770381"/>
            <a:ext cx="3407569" cy="1234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450"/>
              <a:buFont typeface="Playfair Display ExtraBold"/>
              <a:buNone/>
            </a:pPr>
            <a:r>
              <a:rPr lang="en-US" sz="2450" b="1" i="0" u="none" strike="noStrike" cap="none">
                <a:solidFill>
                  <a:srgbClr val="F8FAFC"/>
                </a:solidFill>
                <a:latin typeface="Playfair Display ExtraBold"/>
                <a:ea typeface="Playfair Display ExtraBold"/>
                <a:cs typeface="Playfair Display ExtraBold"/>
                <a:sym typeface="Playfair Display ExtraBold"/>
              </a:rPr>
              <a:t>Advance Your Skills with Kimball's Methodology</a:t>
            </a:r>
            <a:endParaRPr sz="2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428625" y="2347671"/>
            <a:ext cx="3407569" cy="414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Inter Medium"/>
              <a:buNone/>
            </a:pPr>
            <a:r>
              <a:rPr lang="en-US" sz="1200" b="0" i="0" u="none" strike="noStrike" cap="none">
                <a:solidFill>
                  <a:srgbClr val="059669"/>
                </a:solidFill>
                <a:latin typeface="Inter Medium"/>
                <a:ea typeface="Inter Medium"/>
                <a:cs typeface="Inter Medium"/>
                <a:sym typeface="Inter Medium"/>
              </a:rPr>
              <a:t>Real-world modeling requires continuous practice and learning.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12" descr="preencoded.png"/>
          <p:cNvPicPr preferRelativeResize="0"/>
          <p:nvPr/>
        </p:nvPicPr>
        <p:blipFill rotWithShape="1">
          <a:blip r:embed="rId4">
            <a:alphaModFix amt="30000"/>
          </a:blip>
          <a:srcRect/>
          <a:stretch/>
        </p:blipFill>
        <p:spPr>
          <a:xfrm>
            <a:off x="1418034" y="3262071"/>
            <a:ext cx="142875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2"/>
          <p:cNvSpPr/>
          <p:nvPr/>
        </p:nvSpPr>
        <p:spPr>
          <a:xfrm>
            <a:off x="428625" y="4676533"/>
            <a:ext cx="3407569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Thank you for your attention.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428625" y="4960497"/>
            <a:ext cx="3407569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Go forth and declare grain.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4550569" y="485775"/>
            <a:ext cx="4164806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1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ESSENTIAL READING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5" name="Google Shape;305;p1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0569" y="760809"/>
            <a:ext cx="112514" cy="157163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2"/>
          <p:cNvSpPr/>
          <p:nvPr/>
        </p:nvSpPr>
        <p:spPr>
          <a:xfrm>
            <a:off x="4748808" y="760809"/>
            <a:ext cx="1941314" cy="310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Inter Medium"/>
              <a:buNone/>
            </a:pPr>
            <a:r>
              <a:rPr lang="en-US" sz="900" b="1" i="0" u="none" strike="noStrike" cap="none" dirty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The Data Warehouse Toolkit</a:t>
            </a:r>
            <a:br>
              <a:rPr lang="en-US" sz="950" b="0" i="0" u="none" strike="noStrike" cap="none" dirty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en-US" sz="950" b="0" i="0" u="none" strike="noStrike" cap="none" dirty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by Ralph Kimball (Chapters 1-3)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4550569" y="1243013"/>
            <a:ext cx="4164806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1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IMMEDIATE PRACTICE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8" name="Google Shape;308;p1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50569" y="1518047"/>
            <a:ext cx="128588" cy="157163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12"/>
          <p:cNvSpPr/>
          <p:nvPr/>
        </p:nvSpPr>
        <p:spPr>
          <a:xfrm>
            <a:off x="4764881" y="1518047"/>
            <a:ext cx="3359348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 dirty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Reverse-engineer an existing report: what is the grain?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0" name="Google Shape;310;p1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50569" y="1760934"/>
            <a:ext cx="128588" cy="157163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12"/>
          <p:cNvSpPr/>
          <p:nvPr/>
        </p:nvSpPr>
        <p:spPr>
          <a:xfrm>
            <a:off x="4764881" y="1760934"/>
            <a:ext cx="3409355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Redesign a legacy schema using the four-step process.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4550569" y="2089547"/>
            <a:ext cx="4164806" cy="189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1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Inter Medium"/>
              <a:buNone/>
            </a:pPr>
            <a:r>
              <a:rPr lang="en-US" sz="1100" b="1" i="0" u="none" strike="noStrike" cap="none" dirty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NEXT TOPICS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3" name="Google Shape;313;p1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50569" y="2364581"/>
            <a:ext cx="128588" cy="157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1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50569" y="2607469"/>
            <a:ext cx="160734" cy="157163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12"/>
          <p:cNvSpPr/>
          <p:nvPr/>
        </p:nvSpPr>
        <p:spPr>
          <a:xfrm>
            <a:off x="4797028" y="2607469"/>
            <a:ext cx="2764631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Conformed Dimensions and Bus Architecture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4764881" y="2364581"/>
            <a:ext cx="2978944" cy="155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50"/>
              <a:buFont typeface="Inter Medium"/>
              <a:buNone/>
            </a:pPr>
            <a:r>
              <a:rPr lang="en-US" sz="950" b="0" i="0" u="none" strike="noStrike" cap="none" dirty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Slowly Changing Dimensions (SCD Types 1, 2, 3)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8198C49-DBB7-3962-E48B-6DBBFA198C6E}"/>
              </a:ext>
            </a:extLst>
          </p:cNvPr>
          <p:cNvGrpSpPr/>
          <p:nvPr/>
        </p:nvGrpSpPr>
        <p:grpSpPr>
          <a:xfrm>
            <a:off x="4550569" y="3900487"/>
            <a:ext cx="4164806" cy="675085"/>
            <a:chOff x="4550569" y="2936081"/>
            <a:chExt cx="4164806" cy="675085"/>
          </a:xfrm>
        </p:grpSpPr>
        <p:sp>
          <p:nvSpPr>
            <p:cNvPr id="2" name="Google Shape;312;p12">
              <a:extLst>
                <a:ext uri="{FF2B5EF4-FFF2-40B4-BE49-F238E27FC236}">
                  <a16:creationId xmlns:a16="http://schemas.microsoft.com/office/drawing/2014/main" id="{87DF61B3-3833-76FB-AD10-6D550DAD1359}"/>
                </a:ext>
              </a:extLst>
            </p:cNvPr>
            <p:cNvSpPr/>
            <p:nvPr/>
          </p:nvSpPr>
          <p:spPr>
            <a:xfrm>
              <a:off x="4550569" y="2936081"/>
              <a:ext cx="4164806" cy="1692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210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1100"/>
                <a:buFont typeface="Inter Medium"/>
                <a:buNone/>
              </a:pPr>
              <a:r>
                <a:rPr lang="en-US" sz="1100" b="1" i="0" u="none" strike="noStrike" cap="none" dirty="0">
                  <a:solidFill>
                    <a:srgbClr val="1E293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GET IN TOUCH</a:t>
              </a:r>
              <a:endParaRPr sz="11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" name="Google Shape;313;p12" descr="Employee badge with solid fill">
              <a:extLst>
                <a:ext uri="{FF2B5EF4-FFF2-40B4-BE49-F238E27FC236}">
                  <a16:creationId xmlns:a16="http://schemas.microsoft.com/office/drawing/2014/main" id="{E421835D-8501-DEAA-6F54-42B79989EDAB}"/>
                </a:ext>
              </a:extLst>
            </p:cNvPr>
            <p:cNvPicPr preferRelativeResize="0"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4565452" y="3228721"/>
              <a:ext cx="128588" cy="1285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" name="Google Shape;314;p12">
              <a:extLst>
                <a:ext uri="{FF2B5EF4-FFF2-40B4-BE49-F238E27FC236}">
                  <a16:creationId xmlns:a16="http://schemas.microsoft.com/office/drawing/2014/main" id="{DD771C10-D2D3-AC9C-C828-B5672C4B2E40}"/>
                </a:ext>
              </a:extLst>
            </p:cNvPr>
            <p:cNvSpPr/>
            <p:nvPr/>
          </p:nvSpPr>
          <p:spPr>
            <a:xfrm>
              <a:off x="4764881" y="3211115"/>
              <a:ext cx="2978944" cy="1461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buClr>
                  <a:srgbClr val="475569"/>
                </a:buClr>
                <a:buSzPts val="950"/>
              </a:pPr>
              <a:r>
                <a:rPr lang="en-US" sz="950" dirty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https://</a:t>
              </a:r>
              <a:r>
                <a:rPr lang="en-US" sz="950" dirty="0" err="1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www.linkedin.com</a:t>
              </a:r>
              <a:r>
                <a:rPr lang="en-US" sz="950" dirty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/in/</a:t>
              </a:r>
              <a:r>
                <a:rPr lang="en-US" sz="950" dirty="0" err="1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milan-gabriel</a:t>
              </a:r>
              <a:r>
                <a:rPr lang="en-US" sz="950" dirty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/</a:t>
              </a:r>
              <a:endParaRPr sz="95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" name="Google Shape;315;p12" descr="Internet with solid fill">
              <a:extLst>
                <a:ext uri="{FF2B5EF4-FFF2-40B4-BE49-F238E27FC236}">
                  <a16:creationId xmlns:a16="http://schemas.microsoft.com/office/drawing/2014/main" id="{6F03DBDB-359E-A0A0-9A28-427D89090872}"/>
                </a:ext>
              </a:extLst>
            </p:cNvPr>
            <p:cNvPicPr preferRelativeResize="0"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4552354" y="3454003"/>
              <a:ext cx="157163" cy="15716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" name="Google Shape;316;p12">
              <a:extLst>
                <a:ext uri="{FF2B5EF4-FFF2-40B4-BE49-F238E27FC236}">
                  <a16:creationId xmlns:a16="http://schemas.microsoft.com/office/drawing/2014/main" id="{332CCDC2-B0DE-821A-A1C5-70AAFC848037}"/>
                </a:ext>
              </a:extLst>
            </p:cNvPr>
            <p:cNvSpPr/>
            <p:nvPr/>
          </p:nvSpPr>
          <p:spPr>
            <a:xfrm>
              <a:off x="4797028" y="3454003"/>
              <a:ext cx="2764631" cy="1461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buClr>
                  <a:srgbClr val="475569"/>
                </a:buClr>
                <a:buSzPts val="950"/>
              </a:pPr>
              <a:r>
                <a:rPr lang="en-US" sz="950" dirty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https://</a:t>
              </a:r>
              <a:r>
                <a:rPr lang="en-US" sz="950" dirty="0" err="1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bit.ly</a:t>
              </a:r>
              <a:r>
                <a:rPr lang="en-US" sz="950" dirty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/the1onwrongway</a:t>
              </a:r>
              <a:endParaRPr sz="95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1273</Words>
  <Application>Microsoft Macintosh PowerPoint</Application>
  <PresentationFormat>On-screen Show (16:9)</PresentationFormat>
  <Paragraphs>199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Inter Medium</vt:lpstr>
      <vt:lpstr>Playfair Display ExtraBold</vt:lpstr>
      <vt:lpstr>Arial</vt:lpstr>
      <vt:lpstr>Inter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Milan Gabriel</cp:lastModifiedBy>
  <cp:revision>1</cp:revision>
  <dcterms:created xsi:type="dcterms:W3CDTF">2026-06-13T04:56:01Z</dcterms:created>
  <dcterms:modified xsi:type="dcterms:W3CDTF">2026-06-13T05:38:13Z</dcterms:modified>
</cp:coreProperties>
</file>